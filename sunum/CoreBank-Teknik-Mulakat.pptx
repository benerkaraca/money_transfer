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07656c86a9492c" /><Relationship Type="http://schemas.openxmlformats.org/officeDocument/2006/relationships/extended-properties" Target="/docProps/app.xml" Id="R9693cd9f485b4a7f" /><Relationship Type="http://schemas.openxmlformats.org/officeDocument/2006/relationships/officeDocument" Target="/ppt/presentation.xml" Id="R1ecbf93bc35d43ca" /></Relationships>
</file>

<file path=ppt/presentation.xml><?xml version="1.0" encoding="utf-8"?>
<p:presentation xmlns:p="http://schemas.openxmlformats.org/presentationml/2006/main">
  <p:sldMasterIdLst>
    <p:sldMasterId xmlns:r="http://schemas.openxmlformats.org/officeDocument/2006/relationships" id="2147483648" r:id="Racf385023cfb4b09"/>
  </p:sldMasterIdLst>
  <p:notesMasterIdLst>
    <p:notesMasterId xmlns:r="http://schemas.openxmlformats.org/officeDocument/2006/relationships" r:id="R843bc218361c46d0"/>
  </p:notesMasterIdLst>
  <p:sldIdLst>
    <p:sldId xmlns:r="http://schemas.openxmlformats.org/officeDocument/2006/relationships" id="256" r:id="Rc657016841074a38"/>
    <p:sldId xmlns:r="http://schemas.openxmlformats.org/officeDocument/2006/relationships" id="257" r:id="R2c8e5d85e39f4d2f"/>
    <p:sldId xmlns:r="http://schemas.openxmlformats.org/officeDocument/2006/relationships" id="258" r:id="Re4e0ea9cefc14098"/>
    <p:sldId xmlns:r="http://schemas.openxmlformats.org/officeDocument/2006/relationships" id="259" r:id="R07fff40fd1f9463d"/>
    <p:sldId xmlns:r="http://schemas.openxmlformats.org/officeDocument/2006/relationships" id="260" r:id="R4b3380f9589247e7"/>
    <p:sldId xmlns:r="http://schemas.openxmlformats.org/officeDocument/2006/relationships" id="261" r:id="R49a3944ed1bb460a"/>
    <p:sldId xmlns:r="http://schemas.openxmlformats.org/officeDocument/2006/relationships" id="262" r:id="Rabac5901e9994239"/>
    <p:sldId xmlns:r="http://schemas.openxmlformats.org/officeDocument/2006/relationships" id="263" r:id="R376cc1d779c7431d"/>
    <p:sldId xmlns:r="http://schemas.openxmlformats.org/officeDocument/2006/relationships" id="264" r:id="Rad6dc4fa765f473e"/>
    <p:sldId xmlns:r="http://schemas.openxmlformats.org/officeDocument/2006/relationships" id="265" r:id="R3f657e1ea6904520"/>
    <p:sldId xmlns:r="http://schemas.openxmlformats.org/officeDocument/2006/relationships" id="266" r:id="R06c4ef2bdbcd4d69"/>
    <p:sldId xmlns:r="http://schemas.openxmlformats.org/officeDocument/2006/relationships" id="267" r:id="R1bd44b45a4e9499c"/>
    <p:sldId xmlns:r="http://schemas.openxmlformats.org/officeDocument/2006/relationships" id="268" r:id="R5ac1357315094658"/>
    <p:sldId xmlns:r="http://schemas.openxmlformats.org/officeDocument/2006/relationships" id="269" r:id="R6b3de077d63a43cf"/>
    <p:sldId xmlns:r="http://schemas.openxmlformats.org/officeDocument/2006/relationships" id="270" r:id="R8b6f5e7fe2c14eb3"/>
    <p:sldId xmlns:r="http://schemas.openxmlformats.org/officeDocument/2006/relationships" id="271" r:id="R4050b01454f74113"/>
    <p:sldId xmlns:r="http://schemas.openxmlformats.org/officeDocument/2006/relationships" id="272" r:id="R5af2ed112bb64361"/>
    <p:sldId xmlns:r="http://schemas.openxmlformats.org/officeDocument/2006/relationships" id="273" r:id="R91612749623b4266"/>
    <p:sldId xmlns:r="http://schemas.openxmlformats.org/officeDocument/2006/relationships" id="274" r:id="R3283f438434d43ef"/>
    <p:sldId xmlns:r="http://schemas.openxmlformats.org/officeDocument/2006/relationships" id="275" r:id="R341ab5acd7de4e19"/>
    <p:sldId xmlns:r="http://schemas.openxmlformats.org/officeDocument/2006/relationships" id="276" r:id="Rafa80f5df62742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1dd7019db24205" /><Relationship Type="http://schemas.openxmlformats.org/officeDocument/2006/relationships/slideMaster" Target="/ppt/slideMasters/slideMaster1.xml" Id="Racf385023cfb4b09" /><Relationship Type="http://schemas.openxmlformats.org/officeDocument/2006/relationships/notesMaster" Target="/ppt/notesMasters/notesMaster1.xml" Id="R843bc218361c46d0" /><Relationship Type="http://schemas.openxmlformats.org/officeDocument/2006/relationships/presProps" Target="/ppt/presProps.xml" Id="Ra2cbbc340b0f4e2b" /><Relationship Type="http://schemas.openxmlformats.org/officeDocument/2006/relationships/tableStyles" Target="/ppt/tableStyles.xml" Id="Rfb20af3f30b94516" /><Relationship Type="http://schemas.openxmlformats.org/officeDocument/2006/relationships/slide" Target="/ppt/slides/slide1.xml" Id="Rc657016841074a38" /><Relationship Type="http://schemas.openxmlformats.org/officeDocument/2006/relationships/slide" Target="/ppt/slides/slide2.xml" Id="R2c8e5d85e39f4d2f" /><Relationship Type="http://schemas.openxmlformats.org/officeDocument/2006/relationships/slide" Target="/ppt/slides/slide3.xml" Id="Re4e0ea9cefc14098" /><Relationship Type="http://schemas.openxmlformats.org/officeDocument/2006/relationships/slide" Target="/ppt/slides/slide4.xml" Id="R07fff40fd1f9463d" /><Relationship Type="http://schemas.openxmlformats.org/officeDocument/2006/relationships/slide" Target="/ppt/slides/slide5.xml" Id="R4b3380f9589247e7" /><Relationship Type="http://schemas.openxmlformats.org/officeDocument/2006/relationships/slide" Target="/ppt/slides/slide6.xml" Id="R49a3944ed1bb460a" /><Relationship Type="http://schemas.openxmlformats.org/officeDocument/2006/relationships/slide" Target="/ppt/slides/slide7.xml" Id="Rabac5901e9994239" /><Relationship Type="http://schemas.openxmlformats.org/officeDocument/2006/relationships/slide" Target="/ppt/slides/slide8.xml" Id="R376cc1d779c7431d" /><Relationship Type="http://schemas.openxmlformats.org/officeDocument/2006/relationships/slide" Target="/ppt/slides/slide9.xml" Id="Rad6dc4fa765f473e" /><Relationship Type="http://schemas.openxmlformats.org/officeDocument/2006/relationships/slide" Target="/ppt/slides/slide10.xml" Id="R3f657e1ea6904520" /><Relationship Type="http://schemas.openxmlformats.org/officeDocument/2006/relationships/slide" Target="/ppt/slides/slide11.xml" Id="R06c4ef2bdbcd4d69" /><Relationship Type="http://schemas.openxmlformats.org/officeDocument/2006/relationships/slide" Target="/ppt/slides/slide12.xml" Id="R1bd44b45a4e9499c" /><Relationship Type="http://schemas.openxmlformats.org/officeDocument/2006/relationships/slide" Target="/ppt/slides/slide13.xml" Id="R5ac1357315094658" /><Relationship Type="http://schemas.openxmlformats.org/officeDocument/2006/relationships/slide" Target="/ppt/slides/slide14.xml" Id="R6b3de077d63a43cf" /><Relationship Type="http://schemas.openxmlformats.org/officeDocument/2006/relationships/slide" Target="/ppt/slides/slide15.xml" Id="R8b6f5e7fe2c14eb3" /><Relationship Type="http://schemas.openxmlformats.org/officeDocument/2006/relationships/slide" Target="/ppt/slides/slide16.xml" Id="R4050b01454f74113" /><Relationship Type="http://schemas.openxmlformats.org/officeDocument/2006/relationships/slide" Target="/ppt/slides/slide17.xml" Id="R5af2ed112bb64361" /><Relationship Type="http://schemas.openxmlformats.org/officeDocument/2006/relationships/slide" Target="/ppt/slides/slide18.xml" Id="R91612749623b4266" /><Relationship Type="http://schemas.openxmlformats.org/officeDocument/2006/relationships/slide" Target="/ppt/slides/slide19.xml" Id="R3283f438434d43ef" /><Relationship Type="http://schemas.openxmlformats.org/officeDocument/2006/relationships/slide" Target="/ppt/slides/slide20.xml" Id="R341ab5acd7de4e19" /><Relationship Type="http://schemas.openxmlformats.org/officeDocument/2006/relationships/slide" Target="/ppt/slides/slide21.xml" Id="Rafa80f5df62742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c2a772449041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0bf291aa1d4fd7" /><Relationship Type="http://schemas.openxmlformats.org/officeDocument/2006/relationships/notesMaster" Target="/ppt/notesMasters/notesMaster1.xml" Id="R70f9d4ee9e4f46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d6ee3055224b80" /><Relationship Type="http://schemas.openxmlformats.org/officeDocument/2006/relationships/notesMaster" Target="/ppt/notesMasters/notesMaster1.xml" Id="R0c7d382a6d114f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975b6535904fc0" /><Relationship Type="http://schemas.openxmlformats.org/officeDocument/2006/relationships/notesMaster" Target="/ppt/notesMasters/notesMaster1.xml" Id="Rc297af3904314c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c82f2f23c545d5" /><Relationship Type="http://schemas.openxmlformats.org/officeDocument/2006/relationships/notesMaster" Target="/ppt/notesMasters/notesMaster1.xml" Id="R908899147a8743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c5184313a0414e" /><Relationship Type="http://schemas.openxmlformats.org/officeDocument/2006/relationships/notesMaster" Target="/ppt/notesMasters/notesMaster1.xml" Id="Ra70a9e8332bf47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045c94a62b4591" /><Relationship Type="http://schemas.openxmlformats.org/officeDocument/2006/relationships/notesMaster" Target="/ppt/notesMasters/notesMaster1.xml" Id="R4ff0f9366d2d4d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cdb7e1a7704fd6" /><Relationship Type="http://schemas.openxmlformats.org/officeDocument/2006/relationships/notesMaster" Target="/ppt/notesMasters/notesMaster1.xml" Id="R616c4253597147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4402afea6141eb" /><Relationship Type="http://schemas.openxmlformats.org/officeDocument/2006/relationships/notesMaster" Target="/ppt/notesMasters/notesMaster1.xml" Id="Rd688e8f974414c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de22e46e464534" /><Relationship Type="http://schemas.openxmlformats.org/officeDocument/2006/relationships/notesMaster" Target="/ppt/notesMasters/notesMaster1.xml" Id="Re61cf803b9ce40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4a0fdfd55a4a8f" /><Relationship Type="http://schemas.openxmlformats.org/officeDocument/2006/relationships/notesMaster" Target="/ppt/notesMasters/notesMaster1.xml" Id="R7403029bf4774e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89d6da06d5437b" /><Relationship Type="http://schemas.openxmlformats.org/officeDocument/2006/relationships/notesMaster" Target="/ppt/notesMasters/notesMaster1.xml" Id="Rd363ea536b6f41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56aecf951847c5" /><Relationship Type="http://schemas.openxmlformats.org/officeDocument/2006/relationships/notesMaster" Target="/ppt/notesMasters/notesMaster1.xml" Id="Rc16cb2343d0d44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984763baca4630" /><Relationship Type="http://schemas.openxmlformats.org/officeDocument/2006/relationships/notesMaster" Target="/ppt/notesMasters/notesMaster1.xml" Id="R7cf1bfe3f0a64c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26e3ec2cc24f20" /><Relationship Type="http://schemas.openxmlformats.org/officeDocument/2006/relationships/notesMaster" Target="/ppt/notesMasters/notesMaster1.xml" Id="Rf225159cb31841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a6d072eff94561" /><Relationship Type="http://schemas.openxmlformats.org/officeDocument/2006/relationships/notesMaster" Target="/ppt/notesMasters/notesMaster1.xml" Id="Rde1b382d2cf447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6124c9e6c01421b" /><Relationship Type="http://schemas.openxmlformats.org/officeDocument/2006/relationships/notesMaster" Target="/ppt/notesMasters/notesMaster1.xml" Id="R0e0be8074d364f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8956e5fa8942f1" /><Relationship Type="http://schemas.openxmlformats.org/officeDocument/2006/relationships/notesMaster" Target="/ppt/notesMasters/notesMaster1.xml" Id="R81eafb12ecaf442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d8e82c3edd4d20" /><Relationship Type="http://schemas.openxmlformats.org/officeDocument/2006/relationships/notesMaster" Target="/ppt/notesMasters/notesMaster1.xml" Id="Rd2aa208cd74544c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631febe8aa949dc" /><Relationship Type="http://schemas.openxmlformats.org/officeDocument/2006/relationships/notesMaster" Target="/ppt/notesMasters/notesMaster1.xml" Id="Rd3c2b09648e040c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fd7499093084ebd" /><Relationship Type="http://schemas.openxmlformats.org/officeDocument/2006/relationships/notesMaster" Target="/ppt/notesMasters/notesMaster1.xml" Id="R9729ed8148cc45c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5033f34bce4257" /><Relationship Type="http://schemas.openxmlformats.org/officeDocument/2006/relationships/notesMaster" Target="/ppt/notesMasters/notesMaster1.xml" Id="R65f791ba66454c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Açılış: CoreBank eğitim amaçlı bir bankacılık platformu. Banka içi transferin tutarlılığı ve harici ödeme sırasında oluşan belirsizliği nasıl yönettiğimi göstereceğim. Kod Java 21 hedefiyle derleniyor; çekirdek Spring Boot, arayüz React. Kaynak: README.md, pom.xml.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Bunu gerçek bankacılık ürünü gibi konumlandırma. CoreBank, para hareketlerinin tutarlılığı ve dağıtık sistem hata senaryoları için hazırlanmış eğitim uygulamasıdır. Müşteri ve TRY hesabı açma, hesap/ledger okuma, banka içi transfer ve harici fatura ödeme akışları var. Transferde iki hesap tek veritabanında; harici ödeme sağlayıcısı ayrı veritabanında. Üç senaryo APPROVE, REJECT, TIMEOUT_ONCE. Soru: Bu projeyi neden yaptın? Yanıt: Bankacılık mülakatlarında temel Java bilgisini gerçek tutarlılık sorunlarına bağlayabilmek için. Kaynak: README.md, BankController.java, BillPaymentController.java.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profili gönderen hesabı 1.000 TRY, alıcı hesabı 0 TRY ile başlatır. Bu başlangıç bakiyesi muhasebeleştirilmiş mevduat akışı değildir. UI iki hesabı görüntüler, transfer veya fatura ödeme başlatır. Transfer sonrası hesapları tekrar çeker. Ödeme PENDING veya UNKNOWN iken her iki saniyede bir GET /api/bill-payments/{id} ile durum okur. Arayüzdeki idempotency key, başarılı istekten sonra yenilenir; HTTP hatasında aynı kalır. Böylece kullanıcı tekrar basınca yeni transfer oluşturma riski düşer. Kaynak: DemoDataInitializer.java, frontend/src/main.tsx, frontend/src/store.ts.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Sistem hibrit bir yapıda. CoreBank içinde müşteri, hesap, transfer, ledger, fatura rezervasyonu ve Outbox modülleri aynı veritabanını paylaşır. Payment provider ayrı Spring Boot uygulaması ve ayrı PostgreSQL kullanır. Notification servisi Kafka tüketir ve kendi PostgreSQL inbox/notification tablolarına yazar. Spring Cloud Gateway /api/** yolunu CoreBanke iletir. Frontend Nginx ile sunulur; /api çağrıları gatewaye proxy edilir. Redis yalnızca transfer sayısı raporunu 30 saniye tutar. Her servisi mikroservis diye adlandırma: CoreBank çekirdeği modüler monolittir, ödeme ve bildirim sınırları ayrı servistir. Kaynak: compose.yaml, services/gateway/src/main/resources/application.yaml, frontend/nginx.conf, application-redis.yaml.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her şeyi mikroservise bölmedin? Banka içi transferde gönderen, alıcı ve ledger aynı veritabanında olmalı ki tek ACID transaction kolay ve güvenilir olsun. Yapay servis bölünmesi bu akışı gereksiz dağıtık transaction problemine çevirirdi. Harici ödeme sağlayıcısı sınırı gerçek ağ ve ayrı veritabanı davranışını öğretir. Bildirim finansal sonucu etkilememeli, bu nedenle olay tüketicisi olarak ayrıdır. Ölçekleme iddiası sınırlı: mevcut Compose tek replica çalıştırır; yatay ölçek için Outbox claim/SKIP LOCKED, partition ve operasyonel mekanizmalar gerekir. Kaynak: docs/04-distributed-and-quality.md, compose.yaml, TransferService.java.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Flyway migrationları şemayı sürümler. accounts.balance güncel bakiye izdüşümüdür, ledger_entries transfer başına DEBIT ve CREDIT kayıtlarını taşır. bill_payments ayrı rezervasyon durumunu tutar. Kullanılabilir bakiye balance minus reserved. Hem balance hem reserved için DB check kısıtları vardır. Account içinde @Version da var; transfer eşzamanlılığının esas çözümü PESSIMISTIC_WRITE row lock. Customer, Account, Transfer, LedgerEntry ve BillPayment JPA entityleridir. Normalizasyon: müşteri, hesap, transfer ve ledger ayrıdır; FK ve unique/check kısıtları bütünlüğü destekler. Mevcut ledger tüm bankacılık olaylarını değil sadece uygulamanın yarattığı transferleri kapsar; demo açılış bakiyesi ledgerda yok. Kaynak: V1__core_bank.sql, V2__outbox.sql, V3__bill_payment.sql, Account.java.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 /api/transfers çağrısı headerda Idempotency-Key, bodyde kaynak/hedef UUID ve BigDecimal amount alır. TransferService.transfer @Transactional. Önce anahtar, farklı hesap, pozitif tutar, iki ondalık ve precision kontrolü yapar. Aynı anahtarla daha önce tamamlanan transfer varsa payload eşleşirse onu döndürür. Sonra iki hesap satırını UUID sırasıyla findByIdForUpdate ile kilitler; beklemiş istek için anahtarı yeniden kontrol eder. Döviz eşitliği ve kullanılabilir bakiye kontrolünden sonra source.debit, destination.credit. Transfer, DEBIT/CREDIT ledger ve Outbox aynı transaction içinde kaydedilir. Hata olduğunda rollback; test yetersiz bakiyede transfer, ledger ve Outboxın sıfır kaldığını doğrular. Kaynak: TransferService.java, AccountRepository.java, TransferIntegrationTest.java.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Nasıl çift para çıkışını önledin? Hesaplara PESSIMISTIC_WRITE lock koydum. İki 800 TRY isteği 1.000 TRY bakiyeden başlayınca ilk işlem kilit altında 800 çıkarır. İkinci işlem güncel 200ü görür ve DomainException ile rollback olur. Sabit UUID sırası ters yönlü transferlerde kilit sırası kaynaklı deadlock riskini azaltır, bütün deadlockları sıfırladığı iddiası değildir. Idempotency key tekrar denemeye karşıdır, lock eşzamanlı yarışa karşıdır; farklı sorunları çözer. Uygulamada ilk ve kilit sonrası ikinci anahtar kontrolü var. Transfers.idempotency_key unique de yarışta ikinci yazımı engeller. Test H2 üzerinde iki thread ile çalışır; PostgreSQL kilit davranışı ayrıca Testcontainers/gerçek PG ile sınanmalıdır. Kaynak: TransferService.java, V1__core_bank.sql, TransferIntegrationTest.java.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iki ledger satırı var? Para çıkışı ve girişi ayrı kaydedilir; transfer başına bir debit ve bir credit. Test her iki tutarın 200 ve hesap bakiyelerinin 800/200 olduğunu doğrular. Toplam para transfer sırasında korunur. Ancak bu tam bankacılık çift kayıt defteri değildir: ledger yalnızca uygulamanın oluşturduğu transferleri tutar, demo başlangıç bakiyesi ve fonlama için karşı kayıt yok. Bu sınırı özellikle söyle. Veritabanı CHECK balance&gt;=0, amount&gt;0, unique transfer/account gibi kuralları da destekler. Uygulama kontrolü iş kuralını açıklar, DB kısıtı son savunmadır. Kaynak: LedgerEntry.java, V1__core_bank.sql, TransferIntegrationTest.java,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Harici ödeme sağlayıcısı CoreBank transactionına katılmaz. Önce BillPaymentService.start @Transactional ile hesabı kilitleyip amount kadar reserved artırır, bill_payments PENDING yazar ve 202 döner. Scheduler veya manuel reconcile çağrısı sağlayıcıya aynı paymentId ile gider. Sağlayıcı paymentId PK kullanarak idempotent cevap verir. ACCEPTED ise CoreBank yerel transactionında transferReserved üzerinden rezervasyonu çözer, clearing hesabına transfer/iki ledger/Outbox oluşturur ve ödeme SUCCEEDED yapar. REJECTED ise rezervasyonu bırakıp FAILED olur; telafi adımı budur. SAGA global ACID sağlamaz; yerel transactionlar ve idempotent adımlar kullanır. Kaynak: BillPaymentService.java, PaymentSagaOrchestrator.java, ProviderPaymentService.java, BillPaymentSagaTest.java.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mülakattaki en kritik dağıtık sistem sorusu. TIMEOUT_ONCE senaryosunda provider service kendi DB transactionını commit eder, sonra controller 4 saniye bekler. CoreBank HTTP read timeout 2 saniye olduğu için Circuit Breaker fallback UNKNOWN döndürür. Bu anda sağlayıcının kabul edip etmediğinden CoreBank emin olamaz. Rezervasyon tutulur, balance henüz düşmez, available balance rezervasyon nedeniyle azalır. Sonraki scheduler/manual reconcile aynı paymentId ile tekrar POST yapar; sağlayıcı kayıtlı ACCEPTED cevabını tekrar verir. Ardından CoreBank clearing transferini ve SUCCEEDED durumunu yazar. Bu uygulamada ayrı status GET endpoint var fakat orchestrator mutabakatta GET yerine idempotent POST tekrarını kullanır. Bu ayrıntıyı doğru söyle. Kaynak: ProviderPaymentController.java, HttpPaymentGateway.java, PaymentSagaOrchestrator.java, BillPaymentSagaTest.java.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Kafka publishini transfer transactionında doğrudan yapmadın? DB commit başarılı, Kafka publish başarısız olabilir veya tersi. Outbox satırını transferle aynı DB transactionında yazarak finansal olayın kaybolmasını önlüyoruz. Ayrı scheduler published_at null olayları Kafka’ya gönderir, Kafka ack alır ve published_at yazar. Ack ile DB commit arasındaki çökmede aynı olay tekrar gönderilebilir. NotificationService inbox_events.event_id unique ile olayı tanır; inbox ve notification kaydı aynı yerel transactiondadır. Bu exactly-once end-to-end iddiası değil. Mevcut yayıncı birden fazla replica halinde aynı Outbox satırını paralel işleyebilir; Inbox bunu absorbe eder ama verimsizlik olabilir. Üretim ölçeği için claim/SKIP LOCKED ve izleme gerekir. Kaynak: TransferService.java, OutboxDeliveryService.java, NotificationService.java, V2__outbox.sql.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Hibernate nasıl veri çeker? Entity ilişkisi LAZY ise Account seçildiğinde Customer henüz yüklenmez; getCustomerName erişimi ayrı SELECT tetikleyebilir. Bir liste için bu N+1 olur. HibernateFetchingTest üç müşteri ve hesap yaratır, EntityManagerı clear eder, findAll ile lazy müşteri okumalarının statement sayısını ölçer. Sonra EntityGraph ile findAllWithCustomer çalıştırır; test ikinci durumda bir statement olduğunu ve ilkinden az olduğunu doğrular. APIde listAccounts için sayfalı @EntityGraph var. EAGER yaparak genel çözüm aramıyorum; ekranın ihtiyacına göre fetch planı seçiyorum. Open-in-view false olduğundan DTO eşlemesi read-only service transactionında. Kaynak: Account.java, AccountRepository.java, AccountService.java, HibernateFetchingTest.java, application.yaml.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Controller @PathVariable ile URIdeki accountId ve paymentIdyi, @RequestParam ile page/size query parametrelerini alır. @Valid ve Jakarta validation DTO girişini kontrol eder; servis de kendi invariantlarını doğrular. RequestIdInterceptor HTTP isteğine X-Request-Id üretir/iletir. ServiceTimingAspect @Aspect ile servis çağrı sürelerini DEBUG seviyesinde loglar. ApiExceptionHandler merkezi hata JSONu ve status eşlemesini yapar. Interceptor web katmanında, AOP servis çağrısında, ControllerAdvice exception çevirisinde çalışır. Testlerde bunların tamamına özel kapsam yok; sunumda implementasyon var deme, izleme olgunluğu iddiasını büyütme. Kaynak: BankController.java, RequestIdInterceptor.java, ServiceTimingAspect.java, ApiExceptionHandler.java.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bakiyeyi Redis cachelemedin? Bakiye finansal karar için kritik ve yanlış/stale veri çift harcama riski yaratır. PostgreSQL ana kaynaktır. Redis sadece AccountReportService.transferCount sonucunu 30 saniye tutar; bu rapor bir süre eski olabilir. Spring profile redis aktifken RedisCacheConfiguration TTL uygular. Frontendde Redux Toolkit slice accounts, lastTransfer, payment, busy, error tutar; createAsyncThunk API çağrılarını yönetir. useState form miktarı/senaryo ve idempotency key için, useEffect ilk yükleme ve PENDING/UNKNOWN polling için kullanılır. JavaScript number finansal işlem için otorite değildir; backend BigDecimal doğrular. Kaynak: AccountReportService.java, RedisCacheConfiguration.java, frontend/src/store.ts, frontend/src/main.tsx.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Sürüm beyanını pom.xml ve frontend/package.jsondan doğrula. Kod --release 21 hedefiyle derlenir; geliştirme ortamında JDK25 ile build yapıldı. JPA/Hibernate entity-repository eşlemesini sağlar, Flyway migration yönetir, PostgreSQL üretim profili veritabanıdır. Kafka asenkron bildirim için, Redis rapor cachei için. Spring Cloud Gateway /api rotası sağlar, Circuit Breaker ödeme sağlayıcı çağrısında. React/Redux kullanıcı akışını görünür kılar. SonarQube yapılandırması var fakat gerçek analiz raporu üretilmedi; sonuç var diye iddia etme. Kaynak: pom.xml, services/gateway/pom.xml, frontend/package.json, sonar-project.properties, 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Kök projede 11 test: TransferIntegrationTest 4, BillPaymentSagaTest 3, HibernateFetchingTest 1, JavaConceptLabTest 3. Ayrı provider, notification, gateway uygulamalarında birer test: toplam 14. Dört Java uygulaması mvn package ile, frontend npm run build ile doğrulandı; docker compose config -q geçti. Bu testler H2 üzerinde çalışıyor; PostgreSQLe özgü row locking, gerçek Kafka/Redis/HTTP uçtan uca davranış, Docker Desktop çalışmadığı için denenemedi. Gateway testinin route id kontrolü var; notification duplicate işleme testi var. Soru: Test stratejisini nasıl geliştirirsin? Testcontainers PostgreSQL/Kafka/Redis ile network, crash ve retry senaryoları; API contract testleri; güvenlik testleri. Kaynak: target/surefire-reports, services/*/target/surefire-reports, frontend/dist,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Müdürler teknoloji listesinden çok karar/bedel dengesini sorar. Tek veritabanındaki hesaplar için SAGA kullanmak gereksiz; @Transactional doğrudur. Harici sağlayıcıya global DB transaction genişletemeyiz; bu yüzden rezervasyon, idempotent provider çağrısı ve telafi. Kafka yayımlamak finansal commitin içinde güvenli şekilde atomik olmaz; Outbox kullanıyoruz. Redis bakiyeyi değil raporu cacheler çünkü finansal kesinlik gerekir. Karmaşıklıkların hepsi gerekçeli ama üretim olgunluğu için ek çalışma gerekir. Kaynak: TransferService.java, BillPaymentService.java, OutboxDeliveryService.java, docs/04-distributed-and-quality.md.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Uygulama gerçek müşteri/parayla kullanılmaz. AuthN/AuthZ ve müşteri bazlı sahiplik kontrolü yok; lokal portlar localhosta bağlanır ama bu güvenlik modeli değildir. Testler H2; PG row lock, Kafka, Redis ve gerçek servis ağı için Testcontainers ve uçtan uca test gerekir. Ledger sadece transferleri saklar; demo açılış bakiyesi snapshot, fonlama karşı kaydı yok. Compose tek replica. Outbox publisher çoklu replica altında aynı olayı yarışla gönderebilir; Inbox tekrarları önler ama claim/SKIP LOCKED ve izleme eklenmeli. API ledger listesi sayfalanmıyor. Bu eksikleri saklama. Müdür sorusu: İlk üç üretim adımı? Yetkilendirme, PostgreSQL/Kafka/Redis entegrasyon testleri, operasyonel idempotency/Outbox izleme ve ölçek mekanizması. Kaynak: README.md, docs/04-distributed-and-quality.md.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güvenilirliği için önceden docker compose up --build, servis health kontrolleri ve demo hesaplarını kontrol et. Docker ortamı bu çalışma sırasında çalışmadığından canlı akış doğrulanmadı; mülakatta ilk kez kurma. GET /api/accounts/{id}, POST /api/transfers (Idempotency-Key), GET /api/accounts/{id}/ledger, POST /api/bill-payments, GET /api/bill-payments/{id} veya POST reconcile. Aynı anahtarla transfer tekrarında aynı transfer id döner. Fatura ödeme 202 PENDING döner; scheduler durumunu değiştirir. TIMEOUT_ONCE sonrası ilk sonucu görmek zamanlamaya bağlı; manuel reconcile endpointi açıklamada kullanılabilir. Kaynak: README.md, BankController.java, BillPaymentController.java, frontend/src/main.tsx.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Kapanışta 30 saniyede mimariyi özetle: aynı veri sınırında tek transaction ve kilit; ayrı sağlayıcıda rezervasyon, SAGA ve UNKNOWN mutabakatı; asenkron yan etkide Outbox/Inbox. Ardından bir soru seçmelerini öner: transferin eşzamanlılığı, timeout sonrası mutabakat veya Kafka tekrarları. Kod dosyalarını gösterebileceğini belirt. Uygulamanın eğitim amaçlı olduğunu ve güvenlik/PG uçtan uca testlerinin sonraki adımlar olduğunu net tut. Kaynak: TransferService.java, BillPaymentService.java, OutboxDeliveryService.java,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b87c2a37e740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2cef1495fd4c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50c370ef8d49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19f0c220c34e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8443e9f73e647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21874c9d2c48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4830A4-16F6-47BF-8CF5-FD66BDDE92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853BF4-DC2A-4BBB-9A66-1D62CE9813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1265FF-8621-459C-89BF-A808F6DCD4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4F2DE9-A57C-4717-8927-FE40D18A62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69130A-B211-4A5C-ACDE-4763A22ACD7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BDC8A4-F4FF-4AFE-A4CD-FDEF9C2F2D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73A213-E711-4468-9249-D0EB7F3A3E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553DCF-C10D-4BD0-BCED-AD1F243148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5C61F4-61D9-4C4D-BF71-81C7B92801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22F81F-D54A-44C2-9627-6C5722EA1A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556952ca2247bd" /><Relationship Type="http://schemas.openxmlformats.org/officeDocument/2006/relationships/slideLayout" Target="/ppt/slideLayouts/slideLayout1.xml" Id="R2c266382695c4e22" /><Relationship Type="http://schemas.openxmlformats.org/officeDocument/2006/relationships/slideLayout" Target="/ppt/slideLayouts/slideLayout2.xml" Id="Rb6fcc0105a714069" /><Relationship Type="http://schemas.openxmlformats.org/officeDocument/2006/relationships/slideLayout" Target="/ppt/slideLayouts/slideLayout3.xml" Id="Rc6fe3ebf5d4a4af2" /><Relationship Type="http://schemas.openxmlformats.org/officeDocument/2006/relationships/slideLayout" Target="/ppt/slideLayouts/slideLayout4.xml" Id="R56afb278e5374761" /><Relationship Type="http://schemas.openxmlformats.org/officeDocument/2006/relationships/slideLayout" Target="/ppt/slideLayouts/slideLayout5.xml" Id="R0f99a65acfbe4986" /><Relationship Type="http://schemas.openxmlformats.org/officeDocument/2006/relationships/slideLayout" Target="/ppt/slideLayouts/slideLayout6.xml" Id="Rf012ffdc78904d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266382695c4e22"/>
    <p:sldLayoutId xmlns:r="http://schemas.openxmlformats.org/officeDocument/2006/relationships" id="2147483650" r:id="Rb6fcc0105a714069"/>
    <p:sldLayoutId xmlns:r="http://schemas.openxmlformats.org/officeDocument/2006/relationships" id="2147483651" r:id="Rc6fe3ebf5d4a4af2"/>
    <p:sldLayoutId xmlns:r="http://schemas.openxmlformats.org/officeDocument/2006/relationships" id="2147483652" r:id="R56afb278e5374761"/>
    <p:sldLayoutId xmlns:r="http://schemas.openxmlformats.org/officeDocument/2006/relationships" id="2147483653" r:id="R0f99a65acfbe4986"/>
    <p:sldLayoutId xmlns:r="http://schemas.openxmlformats.org/officeDocument/2006/relationships" id="2147483654" r:id="Rf012ffdc78904d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30c654a502419a" /><Relationship Type="http://schemas.openxmlformats.org/officeDocument/2006/relationships/notesSlide" Target="/ppt/notesSlides/notesSlide1.xml" Id="R94accea41aae48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8520049e5bb4785" /><Relationship Type="http://schemas.openxmlformats.org/officeDocument/2006/relationships/notesSlide" Target="/ppt/notesSlides/notesSlide2.xml" Id="R298ec8330f5f4b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da0192d7094ab6" /><Relationship Type="http://schemas.openxmlformats.org/officeDocument/2006/relationships/notesSlide" Target="/ppt/notesSlides/notesSlide3.xml" Id="R50d5b078c09742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7ba89c279434a43" /><Relationship Type="http://schemas.openxmlformats.org/officeDocument/2006/relationships/notesSlide" Target="/ppt/notesSlides/notesSlide4.xml" Id="R39992817081348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71632a3356a4523" /><Relationship Type="http://schemas.openxmlformats.org/officeDocument/2006/relationships/notesSlide" Target="/ppt/notesSlides/notesSlide5.xml" Id="Rbea2197e982b4a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f9317779c344d91" /><Relationship Type="http://schemas.openxmlformats.org/officeDocument/2006/relationships/notesSlide" Target="/ppt/notesSlides/notesSlide6.xml" Id="R2193add5c37349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2dd3c527dde4f0f" /><Relationship Type="http://schemas.openxmlformats.org/officeDocument/2006/relationships/notesSlide" Target="/ppt/notesSlides/notesSlide7.xml" Id="R7f761a06d1e24e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b5d96d7ca741c2" /><Relationship Type="http://schemas.openxmlformats.org/officeDocument/2006/relationships/notesSlide" Target="/ppt/notesSlides/notesSlide8.xml" Id="Rf06f65847f7a47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ed6444bb64b4c9c" /><Relationship Type="http://schemas.openxmlformats.org/officeDocument/2006/relationships/notesSlide" Target="/ppt/notesSlides/notesSlide9.xml" Id="R35b036f32fc14f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f59bfaaa8d847d4" /><Relationship Type="http://schemas.openxmlformats.org/officeDocument/2006/relationships/notesSlide" Target="/ppt/notesSlides/notesSlide10.xml" Id="R73795352c3d846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0271c9804c7462e" /><Relationship Type="http://schemas.openxmlformats.org/officeDocument/2006/relationships/notesSlide" Target="/ppt/notesSlides/notesSlide11.xml" Id="Rd6315048b4a646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490f05762714d5a" /><Relationship Type="http://schemas.openxmlformats.org/officeDocument/2006/relationships/notesSlide" Target="/ppt/notesSlides/notesSlide12.xml" Id="Rbfc20d8928054f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3279eeb5496471a" /><Relationship Type="http://schemas.openxmlformats.org/officeDocument/2006/relationships/notesSlide" Target="/ppt/notesSlides/notesSlide13.xml" Id="R06c73078833a4b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10fe00192e640ed" /><Relationship Type="http://schemas.openxmlformats.org/officeDocument/2006/relationships/notesSlide" Target="/ppt/notesSlides/notesSlide14.xml" Id="R80ea00cb48ec49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f16d4d61078491f" /><Relationship Type="http://schemas.openxmlformats.org/officeDocument/2006/relationships/notesSlide" Target="/ppt/notesSlides/notesSlide15.xml" Id="R697cd33c4ffb43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bba2cf3e4a24bd2" /><Relationship Type="http://schemas.openxmlformats.org/officeDocument/2006/relationships/notesSlide" Target="/ppt/notesSlides/notesSlide16.xml" Id="R803a00811e3d40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2b78af32a1f4767" /><Relationship Type="http://schemas.openxmlformats.org/officeDocument/2006/relationships/notesSlide" Target="/ppt/notesSlides/notesSlide17.xml" Id="R94728c0a83b8415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35b91d937f54f89" /><Relationship Type="http://schemas.openxmlformats.org/officeDocument/2006/relationships/notesSlide" Target="/ppt/notesSlides/notesSlide18.xml" Id="R31cf0c18d7594fc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bd5e7dbf6d84b3d" /><Relationship Type="http://schemas.openxmlformats.org/officeDocument/2006/relationships/notesSlide" Target="/ppt/notesSlides/notesSlide19.xml" Id="Rdbefcc90aece4a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3a979b7121d41d0" /><Relationship Type="http://schemas.openxmlformats.org/officeDocument/2006/relationships/notesSlide" Target="/ppt/notesSlides/notesSlide20.xml" Id="R414e22276f1f468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a34811ad4c24e81" /><Relationship Type="http://schemas.openxmlformats.org/officeDocument/2006/relationships/notesSlide" Target="/ppt/notesSlides/notesSlide21.xml" Id="R07cabb9d7511410b" /></Relationships>
</file>

<file path=ppt/slides/slide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98787A6-6F99-4DF8-8382-E8D4C0F37AA9}"/>
              </a:ext>
            </a:extLst>
          </p:cNvPr>
          <p:cNvSpPr>
            <a:spLocks xmlns:a="http://schemas.openxmlformats.org/drawingml/2006/main" noGrp="1"/>
          </p:cNvSpPr>
          <p:nvPr/>
        </p:nvSpPr>
        <p:spPr>
          <a:xfrm xmlns:a="http://schemas.openxmlformats.org/drawingml/2006/main">
            <a:off x="838200" y="1476375"/>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F4F7FB"/>
                </a:solidFill>
              </a:defRPr>
            </a:defPPr>
            <a:lvl1pPr>
              <a:defRPr sz="5700" b="1">
                <a:solidFill>
                  <a:srgbClr val="F4F7FB"/>
                </a:solidFill>
              </a:defRPr>
            </a:lvl1pPr>
            <a:lvl2pPr>
              <a:defRPr sz="5700" b="1">
                <a:solidFill>
                  <a:srgbClr val="F4F7FB"/>
                </a:solidFill>
              </a:defRPr>
            </a:lvl2pPr>
            <a:lvl3pPr>
              <a:defRPr sz="5700" b="1">
                <a:solidFill>
                  <a:srgbClr val="F4F7FB"/>
                </a:solidFill>
              </a:defRPr>
            </a:lvl3pPr>
            <a:lvl4pPr>
              <a:defRPr sz="5700" b="1">
                <a:solidFill>
                  <a:srgbClr val="F4F7FB"/>
                </a:solidFill>
              </a:defRPr>
            </a:lvl4pPr>
            <a:lvl5pPr>
              <a:defRPr sz="5700" b="1">
                <a:solidFill>
                  <a:srgbClr val="F4F7FB"/>
                </a:solidFill>
              </a:defRPr>
            </a:lvl5pPr>
            <a:lvl6pPr>
              <a:defRPr sz="5700" b="1">
                <a:solidFill>
                  <a:srgbClr val="F4F7FB"/>
                </a:solidFill>
              </a:defRPr>
            </a:lvl6pPr>
            <a:lvl7pPr>
              <a:defRPr sz="5700" b="1">
                <a:solidFill>
                  <a:srgbClr val="F4F7FB"/>
                </a:solidFill>
              </a:defRPr>
            </a:lvl7pPr>
            <a:lvl8pPr>
              <a:defRPr sz="5700" b="1">
                <a:solidFill>
                  <a:srgbClr val="F4F7FB"/>
                </a:solidFill>
              </a:defRPr>
            </a:lvl8pPr>
            <a:lvl9pPr>
              <a:defRPr sz="5700" b="1">
                <a:solidFill>
                  <a:srgbClr val="F4F7FB"/>
                </a:solidFill>
              </a:defRPr>
            </a:lvl9pPr>
          </a:lstStyle>
          <a:p xmlns:a="http://schemas.openxmlformats.org/drawingml/2006/main">
            <a:pPr>
              <a:defRPr sz="5700" b="1">
                <a:solidFill>
                  <a:srgbClr val="F4F7FB"/>
                </a:solidFill>
              </a:defRPr>
            </a:pPr>
            <a:r>
              <a:rPr sz="5700" b="1">
                <a:solidFill>
                  <a:srgbClr val="F4F7FB"/>
                </a:solidFill>
              </a:rPr>
              <a:t>CoreBank</a:t>
            </a:r>
          </a:p>
        </p:txBody>
      </p:sp>
      <p:sp>
        <p:nvSpPr>
          <p:cNvPr id="3" name="">
            <a:extLst xmlns:a="http://schemas.openxmlformats.org/drawingml/2006/main">
              <a:ext uri="{FF2B5EF4-FFF2-40B4-BE49-F238E27FC236}">
                <a16:creationId xmlns:a16="http://schemas.microsoft.com/office/drawing/2014/main" id="{8E0E5ABB-890C-4E7C-843D-2C6AD7D3A55D}"/>
              </a:ext>
            </a:extLst>
          </p:cNvPr>
          <p:cNvSpPr>
            <a:spLocks xmlns:a="http://schemas.openxmlformats.org/drawingml/2006/main" noGrp="1"/>
          </p:cNvSpPr>
          <p:nvPr/>
        </p:nvSpPr>
        <p:spPr>
          <a:xfrm xmlns:a="http://schemas.openxmlformats.org/drawingml/2006/main">
            <a:off x="876300" y="2857500"/>
            <a:ext cx="10096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a:solidFill>
                  <a:srgbClr val="71D6C6"/>
                </a:solidFill>
              </a:defRPr>
            </a:defPPr>
            <a:lvl1pPr>
              <a:defRPr sz="2400">
                <a:solidFill>
                  <a:srgbClr val="71D6C6"/>
                </a:solidFill>
              </a:defRPr>
            </a:lvl1pPr>
            <a:lvl2pPr>
              <a:defRPr sz="2400">
                <a:solidFill>
                  <a:srgbClr val="71D6C6"/>
                </a:solidFill>
              </a:defRPr>
            </a:lvl2pPr>
            <a:lvl3pPr>
              <a:defRPr sz="2400">
                <a:solidFill>
                  <a:srgbClr val="71D6C6"/>
                </a:solidFill>
              </a:defRPr>
            </a:lvl3pPr>
            <a:lvl4pPr>
              <a:defRPr sz="2400">
                <a:solidFill>
                  <a:srgbClr val="71D6C6"/>
                </a:solidFill>
              </a:defRPr>
            </a:lvl4pPr>
            <a:lvl5pPr>
              <a:defRPr sz="2400">
                <a:solidFill>
                  <a:srgbClr val="71D6C6"/>
                </a:solidFill>
              </a:defRPr>
            </a:lvl5pPr>
            <a:lvl6pPr>
              <a:defRPr sz="2400">
                <a:solidFill>
                  <a:srgbClr val="71D6C6"/>
                </a:solidFill>
              </a:defRPr>
            </a:lvl6pPr>
            <a:lvl7pPr>
              <a:defRPr sz="2400">
                <a:solidFill>
                  <a:srgbClr val="71D6C6"/>
                </a:solidFill>
              </a:defRPr>
            </a:lvl7pPr>
            <a:lvl8pPr>
              <a:defRPr sz="2400">
                <a:solidFill>
                  <a:srgbClr val="71D6C6"/>
                </a:solidFill>
              </a:defRPr>
            </a:lvl8pPr>
            <a:lvl9pPr>
              <a:defRPr sz="2400">
                <a:solidFill>
                  <a:srgbClr val="71D6C6"/>
                </a:solidFill>
              </a:defRPr>
            </a:lvl9pPr>
          </a:lstStyle>
          <a:p xmlns:a="http://schemas.openxmlformats.org/drawingml/2006/main">
            <a:pPr>
              <a:defRPr sz="2400">
                <a:solidFill>
                  <a:srgbClr val="71D6C6"/>
                </a:solidFill>
              </a:defRPr>
            </a:pPr>
            <a:r>
              <a:rPr sz="2400">
                <a:solidFill>
                  <a:srgbClr val="71D6C6"/>
                </a:solidFill>
              </a:rPr>
              <a:t>Bankacılık akışları üzerinden Java ve dağıtık sistemler</a:t>
            </a:r>
          </a:p>
        </p:txBody>
      </p:sp>
      <p:sp>
        <p:nvSpPr>
          <p:cNvPr id="4" name="">
            <a:extLst xmlns:a="http://schemas.openxmlformats.org/drawingml/2006/main">
              <a:ext uri="{FF2B5EF4-FFF2-40B4-BE49-F238E27FC236}">
                <a16:creationId xmlns:a16="http://schemas.microsoft.com/office/drawing/2014/main" id="{BDDFB152-BEE5-487B-8468-5B8CBBF1E1D7}"/>
              </a:ext>
            </a:extLst>
          </p:cNvPr>
          <p:cNvSpPr>
            <a:spLocks xmlns:a="http://schemas.openxmlformats.org/drawingml/2006/main" noGrp="1"/>
          </p:cNvSpPr>
          <p:nvPr/>
        </p:nvSpPr>
        <p:spPr>
          <a:xfrm xmlns:a="http://schemas.openxmlformats.org/drawingml/2006/main">
            <a:off x="876300" y="528637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BCC8D8"/>
                </a:solidFill>
              </a:defRPr>
            </a:defPPr>
            <a:lvl1pPr>
              <a:defRPr sz="1650">
                <a:solidFill>
                  <a:srgbClr val="BCC8D8"/>
                </a:solidFill>
              </a:defRPr>
            </a:lvl1pPr>
            <a:lvl2pPr>
              <a:defRPr sz="1650">
                <a:solidFill>
                  <a:srgbClr val="BCC8D8"/>
                </a:solidFill>
              </a:defRPr>
            </a:lvl2pPr>
            <a:lvl3pPr>
              <a:defRPr sz="1650">
                <a:solidFill>
                  <a:srgbClr val="BCC8D8"/>
                </a:solidFill>
              </a:defRPr>
            </a:lvl3pPr>
            <a:lvl4pPr>
              <a:defRPr sz="1650">
                <a:solidFill>
                  <a:srgbClr val="BCC8D8"/>
                </a:solidFill>
              </a:defRPr>
            </a:lvl4pPr>
            <a:lvl5pPr>
              <a:defRPr sz="1650">
                <a:solidFill>
                  <a:srgbClr val="BCC8D8"/>
                </a:solidFill>
              </a:defRPr>
            </a:lvl5pPr>
            <a:lvl6pPr>
              <a:defRPr sz="1650">
                <a:solidFill>
                  <a:srgbClr val="BCC8D8"/>
                </a:solidFill>
              </a:defRPr>
            </a:lvl6pPr>
            <a:lvl7pPr>
              <a:defRPr sz="1650">
                <a:solidFill>
                  <a:srgbClr val="BCC8D8"/>
                </a:solidFill>
              </a:defRPr>
            </a:lvl7pPr>
            <a:lvl8pPr>
              <a:defRPr sz="1650">
                <a:solidFill>
                  <a:srgbClr val="BCC8D8"/>
                </a:solidFill>
              </a:defRPr>
            </a:lvl8pPr>
            <a:lvl9pPr>
              <a:defRPr sz="1650">
                <a:solidFill>
                  <a:srgbClr val="BCC8D8"/>
                </a:solidFill>
              </a:defRPr>
            </a:lvl9pPr>
          </a:lstStyle>
          <a:p xmlns:a="http://schemas.openxmlformats.org/drawingml/2006/main">
            <a:pPr>
              <a:defRPr sz="1650">
                <a:solidFill>
                  <a:srgbClr val="BCC8D8"/>
                </a:solidFill>
              </a:defRPr>
            </a:pPr>
            <a:r>
              <a:rPr sz="1650">
                <a:solidFill>
                  <a:srgbClr val="BCC8D8"/>
                </a:solidFill>
              </a:rPr>
              <a:t>Teknik mülakat sunumu  ·  Bener</a:t>
            </a:r>
          </a:p>
        </p:txBody>
      </p:sp>
    </p:spTree>
    <p:extLst>
      <p:ext uri="{BB962C8B-B14F-4D97-AF65-F5344CB8AC3E}">
        <p14:creationId xmlns:p14="http://schemas.microsoft.com/office/powerpoint/2010/main" val="2007850064"/>
      </p:ext>
    </p:extLst>
  </p:cSld>
</p:sld>
</file>

<file path=ppt/slides/slide2.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DF1CB9-03BE-49E4-A12B-143FACA33F3B}"/>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Ne işe yarıyor?</a:t>
            </a:r>
          </a:p>
        </p:txBody>
      </p:sp>
      <p:sp>
        <p:nvSpPr>
          <p:cNvPr id="3" name="">
            <a:extLst xmlns:a="http://schemas.openxmlformats.org/drawingml/2006/main">
              <a:ext uri="{FF2B5EF4-FFF2-40B4-BE49-F238E27FC236}">
                <a16:creationId xmlns:a16="http://schemas.microsoft.com/office/drawing/2014/main" id="{3435A421-B017-4386-83B5-EF139B312B8E}"/>
              </a:ext>
            </a:extLst>
          </p:cNvPr>
          <p:cNvSpPr>
            <a:spLocks xmlns:a="http://schemas.openxmlformats.org/drawingml/2006/main" noGrp="1"/>
          </p:cNvSpPr>
          <p:nvPr/>
        </p:nvSpPr>
        <p:spPr>
          <a:xfrm xmlns:a="http://schemas.openxmlformats.org/drawingml/2006/main">
            <a:off x="857250" y="1524000"/>
            <a:ext cx="10287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700" b="0">
                <a:solidFill>
                  <a:srgbClr val="EAF0F7"/>
                </a:solidFill>
              </a:defRPr>
            </a:defPPr>
            <a:lvl1pPr>
              <a:defRPr sz="2700" b="0">
                <a:solidFill>
                  <a:srgbClr val="EAF0F7"/>
                </a:solidFill>
              </a:defRPr>
            </a:lvl1pPr>
            <a:lvl2pPr>
              <a:defRPr sz="2700" b="0">
                <a:solidFill>
                  <a:srgbClr val="EAF0F7"/>
                </a:solidFill>
              </a:defRPr>
            </a:lvl2pPr>
            <a:lvl3pPr>
              <a:defRPr sz="2700" b="0">
                <a:solidFill>
                  <a:srgbClr val="EAF0F7"/>
                </a:solidFill>
              </a:defRPr>
            </a:lvl3pPr>
            <a:lvl4pPr>
              <a:defRPr sz="2700" b="0">
                <a:solidFill>
                  <a:srgbClr val="EAF0F7"/>
                </a:solidFill>
              </a:defRPr>
            </a:lvl4pPr>
            <a:lvl5pPr>
              <a:defRPr sz="2700" b="0">
                <a:solidFill>
                  <a:srgbClr val="EAF0F7"/>
                </a:solidFill>
              </a:defRPr>
            </a:lvl5pPr>
            <a:lvl6pPr>
              <a:defRPr sz="2700" b="0">
                <a:solidFill>
                  <a:srgbClr val="EAF0F7"/>
                </a:solidFill>
              </a:defRPr>
            </a:lvl6pPr>
            <a:lvl7pPr>
              <a:defRPr sz="2700" b="0">
                <a:solidFill>
                  <a:srgbClr val="EAF0F7"/>
                </a:solidFill>
              </a:defRPr>
            </a:lvl7pPr>
            <a:lvl8pPr>
              <a:defRPr sz="2700" b="0">
                <a:solidFill>
                  <a:srgbClr val="EAF0F7"/>
                </a:solidFill>
              </a:defRPr>
            </a:lvl8pPr>
            <a:lvl9pPr>
              <a:defRPr sz="2700" b="0">
                <a:solidFill>
                  <a:srgbClr val="EAF0F7"/>
                </a:solidFill>
              </a:defRPr>
            </a:lvl9pPr>
          </a:lstStyle>
          <a:p xmlns:a="http://schemas.openxmlformats.org/drawingml/2006/main">
            <a:pPr>
              <a:defRPr sz="2700" b="0">
                <a:solidFill>
                  <a:srgbClr val="EAF0F7"/>
                </a:solidFill>
              </a:defRPr>
            </a:pPr>
            <a:r>
              <a:rPr sz="2700" b="0">
                <a:solidFill>
                  <a:srgbClr val="EAF0F7"/>
                </a:solidFill>
              </a:rPr>
              <a:t>Para hareketinin doğruluğunu ve dağıtık ödeme belirsizliğini gösteren eğitim uygulaması</a:t>
            </a:r>
          </a:p>
        </p:txBody>
      </p:sp>
      <p:sp>
        <p:nvSpPr>
          <p:cNvPr id="4" name="">
            <a:extLst xmlns:a="http://schemas.openxmlformats.org/drawingml/2006/main">
              <a:ext uri="{FF2B5EF4-FFF2-40B4-BE49-F238E27FC236}">
                <a16:creationId xmlns:a16="http://schemas.microsoft.com/office/drawing/2014/main" id="{9282C7F7-AD49-4695-A637-C1788045E7C7}"/>
              </a:ext>
            </a:extLst>
          </p:cNvPr>
          <p:cNvSpPr>
            <a:spLocks xmlns:a="http://schemas.openxmlformats.org/drawingml/2006/main" noGrp="1"/>
          </p:cNvSpPr>
          <p:nvPr/>
        </p:nvSpPr>
        <p:spPr>
          <a:xfrm xmlns:a="http://schemas.openxmlformats.org/drawingml/2006/main">
            <a:off x="857250" y="3333750"/>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Banka içi transfer</a:t>
            </a:r>
          </a:p>
        </p:txBody>
      </p:sp>
      <p:sp>
        <p:nvSpPr>
          <p:cNvPr id="5" name="">
            <a:extLst xmlns:a="http://schemas.openxmlformats.org/drawingml/2006/main">
              <a:ext uri="{FF2B5EF4-FFF2-40B4-BE49-F238E27FC236}">
                <a16:creationId xmlns:a16="http://schemas.microsoft.com/office/drawing/2014/main" id="{711C333E-B56A-47F1-B4D6-0ED03B6A951E}"/>
              </a:ext>
            </a:extLst>
          </p:cNvPr>
          <p:cNvSpPr>
            <a:spLocks xmlns:a="http://schemas.openxmlformats.org/drawingml/2006/main" noGrp="1"/>
          </p:cNvSpPr>
          <p:nvPr/>
        </p:nvSpPr>
        <p:spPr>
          <a:xfrm xmlns:a="http://schemas.openxmlformats.org/drawingml/2006/main">
            <a:off x="857250" y="39052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İki TRY hesabı arasında aktarım</a:t>
            </a:r>
          </a:p>
          <a:p xmlns:a="http://schemas.openxmlformats.org/drawingml/2006/main">
            <a:pPr>
              <a:defRPr sz="1725" b="0">
                <a:solidFill>
                  <a:srgbClr val="EAF0F7"/>
                </a:solidFill>
              </a:defRPr>
            </a:pPr>
            <a:r>
              <a:rPr sz="1725" b="0">
                <a:solidFill>
                  <a:srgbClr val="EAF0F7"/>
                </a:solidFill>
              </a:rPr>
              <a:t>Bakiye ve çift yönlü ledger</a:t>
            </a:r>
          </a:p>
        </p:txBody>
      </p:sp>
      <p:sp>
        <p:nvSpPr>
          <p:cNvPr id="6" name="">
            <a:extLst xmlns:a="http://schemas.openxmlformats.org/drawingml/2006/main">
              <a:ext uri="{FF2B5EF4-FFF2-40B4-BE49-F238E27FC236}">
                <a16:creationId xmlns:a16="http://schemas.microsoft.com/office/drawing/2014/main" id="{B52A5C58-4BF6-4C78-ABC0-945BD0BE7187}"/>
              </a:ext>
            </a:extLst>
          </p:cNvPr>
          <p:cNvSpPr>
            <a:spLocks xmlns:a="http://schemas.openxmlformats.org/drawingml/2006/main" noGrp="1"/>
          </p:cNvSpPr>
          <p:nvPr/>
        </p:nvSpPr>
        <p:spPr>
          <a:xfrm xmlns:a="http://schemas.openxmlformats.org/drawingml/2006/main">
            <a:off x="4476750" y="3333750"/>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Harici ödeme</a:t>
            </a:r>
          </a:p>
        </p:txBody>
      </p:sp>
      <p:sp>
        <p:nvSpPr>
          <p:cNvPr id="7" name="">
            <a:extLst xmlns:a="http://schemas.openxmlformats.org/drawingml/2006/main">
              <a:ext uri="{FF2B5EF4-FFF2-40B4-BE49-F238E27FC236}">
                <a16:creationId xmlns:a16="http://schemas.microsoft.com/office/drawing/2014/main" id="{CFC754C5-F9BB-4795-8662-6E91A500C4EA}"/>
              </a:ext>
            </a:extLst>
          </p:cNvPr>
          <p:cNvSpPr>
            <a:spLocks xmlns:a="http://schemas.openxmlformats.org/drawingml/2006/main" noGrp="1"/>
          </p:cNvSpPr>
          <p:nvPr/>
        </p:nvSpPr>
        <p:spPr>
          <a:xfrm xmlns:a="http://schemas.openxmlformats.org/drawingml/2006/main">
            <a:off x="4476750" y="39052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Rezervasyon, sağlayıcı sonucu</a:t>
            </a:r>
          </a:p>
          <a:p xmlns:a="http://schemas.openxmlformats.org/drawingml/2006/main">
            <a:pPr>
              <a:defRPr sz="1725" b="0">
                <a:solidFill>
                  <a:srgbClr val="EAF0F7"/>
                </a:solidFill>
              </a:defRPr>
            </a:pPr>
            <a:r>
              <a:rPr sz="1725" b="0">
                <a:solidFill>
                  <a:srgbClr val="EAF0F7"/>
                </a:solidFill>
              </a:rPr>
              <a:t>Telafi ve mutabakat</a:t>
            </a:r>
          </a:p>
        </p:txBody>
      </p:sp>
      <p:sp>
        <p:nvSpPr>
          <p:cNvPr id="8" name="">
            <a:extLst xmlns:a="http://schemas.openxmlformats.org/drawingml/2006/main">
              <a:ext uri="{FF2B5EF4-FFF2-40B4-BE49-F238E27FC236}">
                <a16:creationId xmlns:a16="http://schemas.microsoft.com/office/drawing/2014/main" id="{9F481F56-4240-435F-8A18-C4FE476A9A4E}"/>
              </a:ext>
            </a:extLst>
          </p:cNvPr>
          <p:cNvSpPr>
            <a:spLocks xmlns:a="http://schemas.openxmlformats.org/drawingml/2006/main" noGrp="1"/>
          </p:cNvSpPr>
          <p:nvPr/>
        </p:nvSpPr>
        <p:spPr>
          <a:xfrm xmlns:a="http://schemas.openxmlformats.org/drawingml/2006/main">
            <a:off x="8096250" y="3333750"/>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Öğrenme ortamı</a:t>
            </a:r>
          </a:p>
        </p:txBody>
      </p:sp>
      <p:sp>
        <p:nvSpPr>
          <p:cNvPr id="9" name="">
            <a:extLst xmlns:a="http://schemas.openxmlformats.org/drawingml/2006/main">
              <a:ext uri="{FF2B5EF4-FFF2-40B4-BE49-F238E27FC236}">
                <a16:creationId xmlns:a16="http://schemas.microsoft.com/office/drawing/2014/main" id="{CF8E13D3-776D-47CB-BBF7-74139D9E7C13}"/>
              </a:ext>
            </a:extLst>
          </p:cNvPr>
          <p:cNvSpPr>
            <a:spLocks xmlns:a="http://schemas.openxmlformats.org/drawingml/2006/main" noGrp="1"/>
          </p:cNvSpPr>
          <p:nvPr/>
        </p:nvSpPr>
        <p:spPr>
          <a:xfrm xmlns:a="http://schemas.openxmlformats.org/drawingml/2006/main">
            <a:off x="8096250" y="39052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Başarı, ret, timeout senaryoları</a:t>
            </a:r>
          </a:p>
          <a:p xmlns:a="http://schemas.openxmlformats.org/drawingml/2006/main">
            <a:pPr>
              <a:defRPr sz="1725" b="0">
                <a:solidFill>
                  <a:srgbClr val="EAF0F7"/>
                </a:solidFill>
              </a:defRPr>
            </a:pPr>
            <a:r>
              <a:rPr sz="1725" b="0">
                <a:solidFill>
                  <a:srgbClr val="EAF0F7"/>
                </a:solidFill>
              </a:rPr>
              <a:t>Java, Spring, dağıtık sistemler</a:t>
            </a:r>
          </a:p>
        </p:txBody>
      </p:sp>
      <p:sp>
        <p:nvSpPr>
          <p:cNvPr id="10" name="">
            <a:extLst xmlns:a="http://schemas.openxmlformats.org/drawingml/2006/main">
              <a:ext uri="{FF2B5EF4-FFF2-40B4-BE49-F238E27FC236}">
                <a16:creationId xmlns:a16="http://schemas.microsoft.com/office/drawing/2014/main" id="{902524F7-8C9F-4D34-BDCF-928DCBA324B3}"/>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02</a:t>
            </a:r>
          </a:p>
        </p:txBody>
      </p:sp>
    </p:spTree>
    <p:extLst>
      <p:ext uri="{BB962C8B-B14F-4D97-AF65-F5344CB8AC3E}">
        <p14:creationId xmlns:p14="http://schemas.microsoft.com/office/powerpoint/2010/main" val="780411896"/>
      </p:ext>
    </p:extLst>
  </p:cSld>
</p:sld>
</file>

<file path=ppt/slides/slide3.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07F0A93-55F7-44CD-BD35-A2B1C8430EB6}"/>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Kullanıcının gördüğü akış</a:t>
            </a:r>
          </a:p>
        </p:txBody>
      </p:sp>
      <p:sp>
        <p:nvSpPr>
          <p:cNvPr id="3" name="">
            <a:extLst xmlns:a="http://schemas.openxmlformats.org/drawingml/2006/main">
              <a:ext uri="{FF2B5EF4-FFF2-40B4-BE49-F238E27FC236}">
                <a16:creationId xmlns:a16="http://schemas.microsoft.com/office/drawing/2014/main" id="{F80EF26E-0E36-4978-96FA-81A7A3F8BE4B}"/>
              </a:ext>
            </a:extLst>
          </p:cNvPr>
          <p:cNvSpPr>
            <a:spLocks xmlns:a="http://schemas.openxmlformats.org/drawingml/2006/main" noGrp="1"/>
          </p:cNvSpPr>
          <p:nvPr/>
        </p:nvSpPr>
        <p:spPr>
          <a:xfrm xmlns:a="http://schemas.openxmlformats.org/drawingml/2006/main">
            <a:off x="838200" y="16668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1">
                <a:solidFill>
                  <a:srgbClr val="79D9CB"/>
                </a:solidFill>
              </a:defRPr>
            </a:defPPr>
            <a:lvl1pPr>
              <a:defRPr sz="2025" b="1">
                <a:solidFill>
                  <a:srgbClr val="79D9CB"/>
                </a:solidFill>
              </a:defRPr>
            </a:lvl1pPr>
            <a:lvl2pPr>
              <a:defRPr sz="2025" b="1">
                <a:solidFill>
                  <a:srgbClr val="79D9CB"/>
                </a:solidFill>
              </a:defRPr>
            </a:lvl2pPr>
            <a:lvl3pPr>
              <a:defRPr sz="2025" b="1">
                <a:solidFill>
                  <a:srgbClr val="79D9CB"/>
                </a:solidFill>
              </a:defRPr>
            </a:lvl3pPr>
            <a:lvl4pPr>
              <a:defRPr sz="2025" b="1">
                <a:solidFill>
                  <a:srgbClr val="79D9CB"/>
                </a:solidFill>
              </a:defRPr>
            </a:lvl4pPr>
            <a:lvl5pPr>
              <a:defRPr sz="2025" b="1">
                <a:solidFill>
                  <a:srgbClr val="79D9CB"/>
                </a:solidFill>
              </a:defRPr>
            </a:lvl5pPr>
            <a:lvl6pPr>
              <a:defRPr sz="2025" b="1">
                <a:solidFill>
                  <a:srgbClr val="79D9CB"/>
                </a:solidFill>
              </a:defRPr>
            </a:lvl6pPr>
            <a:lvl7pPr>
              <a:defRPr sz="2025" b="1">
                <a:solidFill>
                  <a:srgbClr val="79D9CB"/>
                </a:solidFill>
              </a:defRPr>
            </a:lvl7pPr>
            <a:lvl8pPr>
              <a:defRPr sz="2025" b="1">
                <a:solidFill>
                  <a:srgbClr val="79D9CB"/>
                </a:solidFill>
              </a:defRPr>
            </a:lvl8pPr>
            <a:lvl9pPr>
              <a:defRPr sz="2025" b="1">
                <a:solidFill>
                  <a:srgbClr val="79D9CB"/>
                </a:solidFill>
              </a:defRPr>
            </a:lvl9pPr>
          </a:lstStyle>
          <a:p xmlns:a="http://schemas.openxmlformats.org/drawingml/2006/main">
            <a:pPr>
              <a:defRPr sz="2025" b="1">
                <a:solidFill>
                  <a:srgbClr val="79D9CB"/>
                </a:solidFill>
              </a:defRPr>
            </a:pPr>
            <a:r>
              <a:rPr sz="2025" b="1">
                <a:solidFill>
                  <a:srgbClr val="79D9CB"/>
                </a:solidFill>
              </a:rPr>
              <a:t>Demo hesapları</a:t>
            </a:r>
          </a:p>
        </p:txBody>
      </p:sp>
      <p:sp>
        <p:nvSpPr>
          <p:cNvPr id="4" name="">
            <a:extLst xmlns:a="http://schemas.openxmlformats.org/drawingml/2006/main">
              <a:ext uri="{FF2B5EF4-FFF2-40B4-BE49-F238E27FC236}">
                <a16:creationId xmlns:a16="http://schemas.microsoft.com/office/drawing/2014/main" id="{A933D5F5-AA21-45EA-AE4A-F877E23F502F}"/>
              </a:ext>
            </a:extLst>
          </p:cNvPr>
          <p:cNvSpPr>
            <a:spLocks xmlns:a="http://schemas.openxmlformats.org/drawingml/2006/main" noGrp="1"/>
          </p:cNvSpPr>
          <p:nvPr/>
        </p:nvSpPr>
        <p:spPr>
          <a:xfrm xmlns:a="http://schemas.openxmlformats.org/drawingml/2006/main">
            <a:off x="838200" y="2143125"/>
            <a:ext cx="29051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defRPr sz="2025" b="0">
                <a:solidFill>
                  <a:srgbClr val="EAF0F7"/>
                </a:solidFill>
              </a:defRPr>
            </a:lvl1pPr>
            <a:lvl2pPr>
              <a:defRPr sz="2025" b="0">
                <a:solidFill>
                  <a:srgbClr val="EAF0F7"/>
                </a:solidFill>
              </a:defRPr>
            </a:lvl2pPr>
            <a:lvl3pPr>
              <a:defRPr sz="2025" b="0">
                <a:solidFill>
                  <a:srgbClr val="EAF0F7"/>
                </a:solidFill>
              </a:defRPr>
            </a:lvl3pPr>
            <a:lvl4pPr>
              <a:defRPr sz="2025" b="0">
                <a:solidFill>
                  <a:srgbClr val="EAF0F7"/>
                </a:solidFill>
              </a:defRPr>
            </a:lvl4pPr>
            <a:lvl5pPr>
              <a:defRPr sz="2025" b="0">
                <a:solidFill>
                  <a:srgbClr val="EAF0F7"/>
                </a:solidFill>
              </a:defRPr>
            </a:lvl5pPr>
            <a:lvl6pPr>
              <a:defRPr sz="2025" b="0">
                <a:solidFill>
                  <a:srgbClr val="EAF0F7"/>
                </a:solidFill>
              </a:defRPr>
            </a:lvl6pPr>
            <a:lvl7pPr>
              <a:defRPr sz="2025" b="0">
                <a:solidFill>
                  <a:srgbClr val="EAF0F7"/>
                </a:solidFill>
              </a:defRPr>
            </a:lvl7pPr>
            <a:lvl8pPr>
              <a:defRPr sz="2025" b="0">
                <a:solidFill>
                  <a:srgbClr val="EAF0F7"/>
                </a:solidFill>
              </a:defRPr>
            </a:lvl8pPr>
            <a:lvl9pPr>
              <a:defRPr sz="2025" b="0">
                <a:solidFill>
                  <a:srgbClr val="EAF0F7"/>
                </a:solidFill>
              </a:defRPr>
            </a:lvl9pPr>
          </a:lstStyle>
          <a:p xmlns:a="http://schemas.openxmlformats.org/drawingml/2006/main">
            <a:pPr>
              <a:defRPr sz="2025" b="0">
                <a:solidFill>
                  <a:srgbClr val="EAF0F7"/>
                </a:solidFill>
              </a:defRPr>
            </a:pPr>
            <a:r>
              <a:rPr sz="2025" b="0">
                <a:solidFill>
                  <a:srgbClr val="EAF0F7"/>
                </a:solidFill>
              </a:rPr>
              <a:t>1.000 TRY gönderen</a:t>
            </a:r>
          </a:p>
          <a:p xmlns:a="http://schemas.openxmlformats.org/drawingml/2006/main">
            <a:pPr>
              <a:defRPr sz="2025" b="0">
                <a:solidFill>
                  <a:srgbClr val="EAF0F7"/>
                </a:solidFill>
              </a:defRPr>
            </a:pPr>
            <a:r>
              <a:rPr sz="2025" b="0">
                <a:solidFill>
                  <a:srgbClr val="EAF0F7"/>
                </a:solidFill>
              </a:rPr>
              <a:t>0 TRY alıcı</a:t>
            </a:r>
          </a:p>
        </p:txBody>
      </p:sp>
      <p:sp>
        <p:nvSpPr>
          <p:cNvPr id="5" name="">
            <a:extLst xmlns:a="http://schemas.openxmlformats.org/drawingml/2006/main">
              <a:ext uri="{FF2B5EF4-FFF2-40B4-BE49-F238E27FC236}">
                <a16:creationId xmlns:a16="http://schemas.microsoft.com/office/drawing/2014/main" id="{141D8FCB-9B9F-40A4-9C13-E16524C1014C}"/>
              </a:ext>
            </a:extLst>
          </p:cNvPr>
          <p:cNvSpPr>
            <a:spLocks xmlns:a="http://schemas.openxmlformats.org/drawingml/2006/main" noGrp="1"/>
          </p:cNvSpPr>
          <p:nvPr/>
        </p:nvSpPr>
        <p:spPr>
          <a:xfrm xmlns:a="http://schemas.openxmlformats.org/drawingml/2006/main">
            <a:off x="4476750" y="16668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1">
                <a:solidFill>
                  <a:srgbClr val="79D9CB"/>
                </a:solidFill>
              </a:defRPr>
            </a:defPPr>
            <a:lvl1pPr>
              <a:defRPr sz="2025" b="1">
                <a:solidFill>
                  <a:srgbClr val="79D9CB"/>
                </a:solidFill>
              </a:defRPr>
            </a:lvl1pPr>
            <a:lvl2pPr>
              <a:defRPr sz="2025" b="1">
                <a:solidFill>
                  <a:srgbClr val="79D9CB"/>
                </a:solidFill>
              </a:defRPr>
            </a:lvl2pPr>
            <a:lvl3pPr>
              <a:defRPr sz="2025" b="1">
                <a:solidFill>
                  <a:srgbClr val="79D9CB"/>
                </a:solidFill>
              </a:defRPr>
            </a:lvl3pPr>
            <a:lvl4pPr>
              <a:defRPr sz="2025" b="1">
                <a:solidFill>
                  <a:srgbClr val="79D9CB"/>
                </a:solidFill>
              </a:defRPr>
            </a:lvl4pPr>
            <a:lvl5pPr>
              <a:defRPr sz="2025" b="1">
                <a:solidFill>
                  <a:srgbClr val="79D9CB"/>
                </a:solidFill>
              </a:defRPr>
            </a:lvl5pPr>
            <a:lvl6pPr>
              <a:defRPr sz="2025" b="1">
                <a:solidFill>
                  <a:srgbClr val="79D9CB"/>
                </a:solidFill>
              </a:defRPr>
            </a:lvl6pPr>
            <a:lvl7pPr>
              <a:defRPr sz="2025" b="1">
                <a:solidFill>
                  <a:srgbClr val="79D9CB"/>
                </a:solidFill>
              </a:defRPr>
            </a:lvl7pPr>
            <a:lvl8pPr>
              <a:defRPr sz="2025" b="1">
                <a:solidFill>
                  <a:srgbClr val="79D9CB"/>
                </a:solidFill>
              </a:defRPr>
            </a:lvl8pPr>
            <a:lvl9pPr>
              <a:defRPr sz="2025" b="1">
                <a:solidFill>
                  <a:srgbClr val="79D9CB"/>
                </a:solidFill>
              </a:defRPr>
            </a:lvl9pPr>
          </a:lstStyle>
          <a:p xmlns:a="http://schemas.openxmlformats.org/drawingml/2006/main">
            <a:pPr>
              <a:defRPr sz="2025" b="1">
                <a:solidFill>
                  <a:srgbClr val="79D9CB"/>
                </a:solidFill>
              </a:defRPr>
            </a:pPr>
            <a:r>
              <a:rPr sz="2025" b="1">
                <a:solidFill>
                  <a:srgbClr val="79D9CB"/>
                </a:solidFill>
              </a:rPr>
              <a:t>Transfer</a:t>
            </a:r>
          </a:p>
        </p:txBody>
      </p:sp>
      <p:sp>
        <p:nvSpPr>
          <p:cNvPr id="6" name="">
            <a:extLst xmlns:a="http://schemas.openxmlformats.org/drawingml/2006/main">
              <a:ext uri="{FF2B5EF4-FFF2-40B4-BE49-F238E27FC236}">
                <a16:creationId xmlns:a16="http://schemas.microsoft.com/office/drawing/2014/main" id="{62CABF2C-8EDE-4ABC-9971-BD7300F24F05}"/>
              </a:ext>
            </a:extLst>
          </p:cNvPr>
          <p:cNvSpPr>
            <a:spLocks xmlns:a="http://schemas.openxmlformats.org/drawingml/2006/main" noGrp="1"/>
          </p:cNvSpPr>
          <p:nvPr/>
        </p:nvSpPr>
        <p:spPr>
          <a:xfrm xmlns:a="http://schemas.openxmlformats.org/drawingml/2006/main">
            <a:off x="4476750" y="2143125"/>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defRPr sz="2025" b="0">
                <a:solidFill>
                  <a:srgbClr val="EAF0F7"/>
                </a:solidFill>
              </a:defRPr>
            </a:lvl1pPr>
            <a:lvl2pPr>
              <a:defRPr sz="2025" b="0">
                <a:solidFill>
                  <a:srgbClr val="EAF0F7"/>
                </a:solidFill>
              </a:defRPr>
            </a:lvl2pPr>
            <a:lvl3pPr>
              <a:defRPr sz="2025" b="0">
                <a:solidFill>
                  <a:srgbClr val="EAF0F7"/>
                </a:solidFill>
              </a:defRPr>
            </a:lvl3pPr>
            <a:lvl4pPr>
              <a:defRPr sz="2025" b="0">
                <a:solidFill>
                  <a:srgbClr val="EAF0F7"/>
                </a:solidFill>
              </a:defRPr>
            </a:lvl4pPr>
            <a:lvl5pPr>
              <a:defRPr sz="2025" b="0">
                <a:solidFill>
                  <a:srgbClr val="EAF0F7"/>
                </a:solidFill>
              </a:defRPr>
            </a:lvl5pPr>
            <a:lvl6pPr>
              <a:defRPr sz="2025" b="0">
                <a:solidFill>
                  <a:srgbClr val="EAF0F7"/>
                </a:solidFill>
              </a:defRPr>
            </a:lvl6pPr>
            <a:lvl7pPr>
              <a:defRPr sz="2025" b="0">
                <a:solidFill>
                  <a:srgbClr val="EAF0F7"/>
                </a:solidFill>
              </a:defRPr>
            </a:lvl7pPr>
            <a:lvl8pPr>
              <a:defRPr sz="2025" b="0">
                <a:solidFill>
                  <a:srgbClr val="EAF0F7"/>
                </a:solidFill>
              </a:defRPr>
            </a:lvl8pPr>
            <a:lvl9pPr>
              <a:defRPr sz="2025" b="0">
                <a:solidFill>
                  <a:srgbClr val="EAF0F7"/>
                </a:solidFill>
              </a:defRPr>
            </a:lvl9pPr>
          </a:lstStyle>
          <a:p xmlns:a="http://schemas.openxmlformats.org/drawingml/2006/main">
            <a:pPr>
              <a:defRPr sz="2025" b="0">
                <a:solidFill>
                  <a:srgbClr val="EAF0F7"/>
                </a:solidFill>
              </a:defRPr>
            </a:pPr>
            <a:r>
              <a:rPr sz="2025" b="0">
                <a:solidFill>
                  <a:srgbClr val="EAF0F7"/>
                </a:solidFill>
              </a:rPr>
              <a:t>200 TRY gönder</a:t>
            </a:r>
          </a:p>
          <a:p xmlns:a="http://schemas.openxmlformats.org/drawingml/2006/main">
            <a:pPr>
              <a:defRPr sz="2025" b="0">
                <a:solidFill>
                  <a:srgbClr val="EAF0F7"/>
                </a:solidFill>
              </a:defRPr>
            </a:pPr>
            <a:r>
              <a:rPr sz="2025" b="0">
                <a:solidFill>
                  <a:srgbClr val="EAF0F7"/>
                </a:solidFill>
              </a:rPr>
              <a:t>800 / 200 TRY</a:t>
            </a:r>
          </a:p>
          <a:p xmlns:a="http://schemas.openxmlformats.org/drawingml/2006/main">
            <a:pPr>
              <a:defRPr sz="2025" b="0">
                <a:solidFill>
                  <a:srgbClr val="EAF0F7"/>
                </a:solidFill>
              </a:defRPr>
            </a:pPr>
            <a:r>
              <a:rPr sz="2025" b="0">
                <a:solidFill>
                  <a:srgbClr val="EAF0F7"/>
                </a:solidFill>
              </a:rPr>
              <a:t>ledger: debit + credit</a:t>
            </a:r>
          </a:p>
        </p:txBody>
      </p:sp>
      <p:sp>
        <p:nvSpPr>
          <p:cNvPr id="7" name="">
            <a:extLst xmlns:a="http://schemas.openxmlformats.org/drawingml/2006/main">
              <a:ext uri="{FF2B5EF4-FFF2-40B4-BE49-F238E27FC236}">
                <a16:creationId xmlns:a16="http://schemas.microsoft.com/office/drawing/2014/main" id="{730E3681-16E6-4738-8B8B-CAED73A3B51F}"/>
              </a:ext>
            </a:extLst>
          </p:cNvPr>
          <p:cNvSpPr>
            <a:spLocks xmlns:a="http://schemas.openxmlformats.org/drawingml/2006/main" noGrp="1"/>
          </p:cNvSpPr>
          <p:nvPr/>
        </p:nvSpPr>
        <p:spPr>
          <a:xfrm xmlns:a="http://schemas.openxmlformats.org/drawingml/2006/main">
            <a:off x="8191500" y="1666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1">
                <a:solidFill>
                  <a:srgbClr val="79D9CB"/>
                </a:solidFill>
              </a:defRPr>
            </a:defPPr>
            <a:lvl1pPr>
              <a:defRPr sz="2025" b="1">
                <a:solidFill>
                  <a:srgbClr val="79D9CB"/>
                </a:solidFill>
              </a:defRPr>
            </a:lvl1pPr>
            <a:lvl2pPr>
              <a:defRPr sz="2025" b="1">
                <a:solidFill>
                  <a:srgbClr val="79D9CB"/>
                </a:solidFill>
              </a:defRPr>
            </a:lvl2pPr>
            <a:lvl3pPr>
              <a:defRPr sz="2025" b="1">
                <a:solidFill>
                  <a:srgbClr val="79D9CB"/>
                </a:solidFill>
              </a:defRPr>
            </a:lvl3pPr>
            <a:lvl4pPr>
              <a:defRPr sz="2025" b="1">
                <a:solidFill>
                  <a:srgbClr val="79D9CB"/>
                </a:solidFill>
              </a:defRPr>
            </a:lvl4pPr>
            <a:lvl5pPr>
              <a:defRPr sz="2025" b="1">
                <a:solidFill>
                  <a:srgbClr val="79D9CB"/>
                </a:solidFill>
              </a:defRPr>
            </a:lvl5pPr>
            <a:lvl6pPr>
              <a:defRPr sz="2025" b="1">
                <a:solidFill>
                  <a:srgbClr val="79D9CB"/>
                </a:solidFill>
              </a:defRPr>
            </a:lvl6pPr>
            <a:lvl7pPr>
              <a:defRPr sz="2025" b="1">
                <a:solidFill>
                  <a:srgbClr val="79D9CB"/>
                </a:solidFill>
              </a:defRPr>
            </a:lvl7pPr>
            <a:lvl8pPr>
              <a:defRPr sz="2025" b="1">
                <a:solidFill>
                  <a:srgbClr val="79D9CB"/>
                </a:solidFill>
              </a:defRPr>
            </a:lvl8pPr>
            <a:lvl9pPr>
              <a:defRPr sz="2025" b="1">
                <a:solidFill>
                  <a:srgbClr val="79D9CB"/>
                </a:solidFill>
              </a:defRPr>
            </a:lvl9pPr>
          </a:lstStyle>
          <a:p xmlns:a="http://schemas.openxmlformats.org/drawingml/2006/main">
            <a:pPr>
              <a:defRPr sz="2025" b="1">
                <a:solidFill>
                  <a:srgbClr val="79D9CB"/>
                </a:solidFill>
              </a:defRPr>
            </a:pPr>
            <a:r>
              <a:rPr sz="2025" b="1">
                <a:solidFill>
                  <a:srgbClr val="79D9CB"/>
                </a:solidFill>
              </a:rPr>
              <a:t>Fatura ödemesi</a:t>
            </a:r>
          </a:p>
        </p:txBody>
      </p:sp>
      <p:sp>
        <p:nvSpPr>
          <p:cNvPr id="8" name="">
            <a:extLst xmlns:a="http://schemas.openxmlformats.org/drawingml/2006/main">
              <a:ext uri="{FF2B5EF4-FFF2-40B4-BE49-F238E27FC236}">
                <a16:creationId xmlns:a16="http://schemas.microsoft.com/office/drawing/2014/main" id="{F7D10968-CADF-4C8B-8F10-7D3731D1AB50}"/>
              </a:ext>
            </a:extLst>
          </p:cNvPr>
          <p:cNvSpPr>
            <a:spLocks xmlns:a="http://schemas.openxmlformats.org/drawingml/2006/main" noGrp="1"/>
          </p:cNvSpPr>
          <p:nvPr/>
        </p:nvSpPr>
        <p:spPr>
          <a:xfrm xmlns:a="http://schemas.openxmlformats.org/drawingml/2006/main">
            <a:off x="8191500" y="2143125"/>
            <a:ext cx="3238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defRPr sz="2025" b="0">
                <a:solidFill>
                  <a:srgbClr val="EAF0F7"/>
                </a:solidFill>
              </a:defRPr>
            </a:lvl1pPr>
            <a:lvl2pPr>
              <a:defRPr sz="2025" b="0">
                <a:solidFill>
                  <a:srgbClr val="EAF0F7"/>
                </a:solidFill>
              </a:defRPr>
            </a:lvl2pPr>
            <a:lvl3pPr>
              <a:defRPr sz="2025" b="0">
                <a:solidFill>
                  <a:srgbClr val="EAF0F7"/>
                </a:solidFill>
              </a:defRPr>
            </a:lvl3pPr>
            <a:lvl4pPr>
              <a:defRPr sz="2025" b="0">
                <a:solidFill>
                  <a:srgbClr val="EAF0F7"/>
                </a:solidFill>
              </a:defRPr>
            </a:lvl4pPr>
            <a:lvl5pPr>
              <a:defRPr sz="2025" b="0">
                <a:solidFill>
                  <a:srgbClr val="EAF0F7"/>
                </a:solidFill>
              </a:defRPr>
            </a:lvl5pPr>
            <a:lvl6pPr>
              <a:defRPr sz="2025" b="0">
                <a:solidFill>
                  <a:srgbClr val="EAF0F7"/>
                </a:solidFill>
              </a:defRPr>
            </a:lvl6pPr>
            <a:lvl7pPr>
              <a:defRPr sz="2025" b="0">
                <a:solidFill>
                  <a:srgbClr val="EAF0F7"/>
                </a:solidFill>
              </a:defRPr>
            </a:lvl7pPr>
            <a:lvl8pPr>
              <a:defRPr sz="2025" b="0">
                <a:solidFill>
                  <a:srgbClr val="EAF0F7"/>
                </a:solidFill>
              </a:defRPr>
            </a:lvl8pPr>
            <a:lvl9pPr>
              <a:defRPr sz="2025" b="0">
                <a:solidFill>
                  <a:srgbClr val="EAF0F7"/>
                </a:solidFill>
              </a:defRPr>
            </a:lvl9pPr>
          </a:lstStyle>
          <a:p xmlns:a="http://schemas.openxmlformats.org/drawingml/2006/main">
            <a:pPr>
              <a:defRPr sz="2025" b="0">
                <a:solidFill>
                  <a:srgbClr val="EAF0F7"/>
                </a:solidFill>
              </a:defRPr>
            </a:pPr>
            <a:r>
              <a:rPr sz="2025" b="0">
                <a:solidFill>
                  <a:srgbClr val="EAF0F7"/>
                </a:solidFill>
              </a:rPr>
              <a:t>100 TRY rezerve et</a:t>
            </a:r>
          </a:p>
          <a:p xmlns:a="http://schemas.openxmlformats.org/drawingml/2006/main">
            <a:pPr>
              <a:defRPr sz="2025" b="0">
                <a:solidFill>
                  <a:srgbClr val="EAF0F7"/>
                </a:solidFill>
              </a:defRPr>
            </a:pPr>
            <a:r>
              <a:rPr sz="2025" b="0">
                <a:solidFill>
                  <a:srgbClr val="EAF0F7"/>
                </a:solidFill>
              </a:rPr>
              <a:t>PENDING → sonuç</a:t>
            </a:r>
          </a:p>
          <a:p xmlns:a="http://schemas.openxmlformats.org/drawingml/2006/main">
            <a:pPr>
              <a:defRPr sz="2025" b="0">
                <a:solidFill>
                  <a:srgbClr val="EAF0F7"/>
                </a:solidFill>
              </a:defRPr>
            </a:pPr>
            <a:r>
              <a:rPr sz="2025" b="0">
                <a:solidFill>
                  <a:srgbClr val="EAF0F7"/>
                </a:solidFill>
              </a:rPr>
              <a:t>SUCCEEDED / FAILED / UNKNOWN</a:t>
            </a:r>
          </a:p>
        </p:txBody>
      </p:sp>
      <p:sp>
        <p:nvSpPr>
          <p:cNvPr id="9" name="">
            <a:extLst xmlns:a="http://schemas.openxmlformats.org/drawingml/2006/main">
              <a:ext uri="{FF2B5EF4-FFF2-40B4-BE49-F238E27FC236}">
                <a16:creationId xmlns:a16="http://schemas.microsoft.com/office/drawing/2014/main" id="{E300E004-EEF9-4D2D-ABF8-71790EDE2057}"/>
              </a:ext>
            </a:extLst>
          </p:cNvPr>
          <p:cNvSpPr>
            <a:spLocks xmlns:a="http://schemas.openxmlformats.org/drawingml/2006/main" noGrp="1"/>
          </p:cNvSpPr>
          <p:nvPr/>
        </p:nvSpPr>
        <p:spPr>
          <a:xfrm xmlns:a="http://schemas.openxmlformats.org/drawingml/2006/main">
            <a:off x="838200" y="5010150"/>
            <a:ext cx="10191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defRPr sz="1800" b="0">
                <a:solidFill>
                  <a:srgbClr val="BFCBDD"/>
                </a:solidFill>
              </a:defRPr>
            </a:lvl1pPr>
            <a:lvl2pPr>
              <a:defRPr sz="1800" b="0">
                <a:solidFill>
                  <a:srgbClr val="BFCBDD"/>
                </a:solidFill>
              </a:defRPr>
            </a:lvl2pPr>
            <a:lvl3pPr>
              <a:defRPr sz="1800" b="0">
                <a:solidFill>
                  <a:srgbClr val="BFCBDD"/>
                </a:solidFill>
              </a:defRPr>
            </a:lvl3pPr>
            <a:lvl4pPr>
              <a:defRPr sz="1800" b="0">
                <a:solidFill>
                  <a:srgbClr val="BFCBDD"/>
                </a:solidFill>
              </a:defRPr>
            </a:lvl4pPr>
            <a:lvl5pPr>
              <a:defRPr sz="1800" b="0">
                <a:solidFill>
                  <a:srgbClr val="BFCBDD"/>
                </a:solidFill>
              </a:defRPr>
            </a:lvl5pPr>
            <a:lvl6pPr>
              <a:defRPr sz="1800" b="0">
                <a:solidFill>
                  <a:srgbClr val="BFCBDD"/>
                </a:solidFill>
              </a:defRPr>
            </a:lvl6pPr>
            <a:lvl7pPr>
              <a:defRPr sz="1800" b="0">
                <a:solidFill>
                  <a:srgbClr val="BFCBDD"/>
                </a:solidFill>
              </a:defRPr>
            </a:lvl7pPr>
            <a:lvl8pPr>
              <a:defRPr sz="1800" b="0">
                <a:solidFill>
                  <a:srgbClr val="BFCBDD"/>
                </a:solidFill>
              </a:defRPr>
            </a:lvl8pPr>
            <a:lvl9pPr>
              <a:defRPr sz="1800" b="0">
                <a:solidFill>
                  <a:srgbClr val="BFCBDD"/>
                </a:solidFill>
              </a:defRPr>
            </a:lvl9pPr>
          </a:lstStyle>
          <a:p xmlns:a="http://schemas.openxmlformats.org/drawingml/2006/main">
            <a:pPr>
              <a:defRPr sz="1800" b="0">
                <a:solidFill>
                  <a:srgbClr val="BFCBDD"/>
                </a:solidFill>
              </a:defRPr>
            </a:pPr>
            <a:r>
              <a:rPr sz="1800" b="0">
                <a:solidFill>
                  <a:srgbClr val="BFCBDD"/>
                </a:solidFill>
              </a:rPr>
              <a:t>Ödeme beklerken durum iki saniyede bir okunur; başarısız isteğin anahtarı tekrar denemede korunur.</a:t>
            </a:r>
          </a:p>
        </p:txBody>
      </p:sp>
      <p:sp>
        <p:nvSpPr>
          <p:cNvPr id="10" name="">
            <a:extLst xmlns:a="http://schemas.openxmlformats.org/drawingml/2006/main">
              <a:ext uri="{FF2B5EF4-FFF2-40B4-BE49-F238E27FC236}">
                <a16:creationId xmlns:a16="http://schemas.microsoft.com/office/drawing/2014/main" id="{58FB83F5-7525-42B8-92D0-CDFAD9AD05C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03</a:t>
            </a:r>
          </a:p>
        </p:txBody>
      </p:sp>
    </p:spTree>
    <p:extLst>
      <p:ext uri="{BB962C8B-B14F-4D97-AF65-F5344CB8AC3E}">
        <p14:creationId xmlns:p14="http://schemas.microsoft.com/office/powerpoint/2010/main" val="1828641642"/>
      </p:ext>
    </p:extLst>
  </p:cSld>
</p:sld>
</file>

<file path=ppt/slides/slide4.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13DFB1-FF61-401F-BA17-E836295B8EA8}"/>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Sistem mimarisi</a:t>
            </a:r>
          </a:p>
        </p:txBody>
      </p:sp>
      <p:sp>
        <p:nvSpPr>
          <p:cNvPr id="3" name="">
            <a:extLst xmlns:a="http://schemas.openxmlformats.org/drawingml/2006/main">
              <a:ext uri="{FF2B5EF4-FFF2-40B4-BE49-F238E27FC236}">
                <a16:creationId xmlns:a16="http://schemas.microsoft.com/office/drawing/2014/main" id="{3F2EB1E2-7A3D-4C4B-8E4F-A08A6CB77D51}"/>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04</a:t>
            </a:r>
          </a:p>
        </p:txBody>
      </p:sp>
      <p:sp>
        <p:nvSpPr>
          <p:cNvPr id="4" name="">
            <a:extLst xmlns:a="http://schemas.openxmlformats.org/drawingml/2006/main">
              <a:ext uri="{FF2B5EF4-FFF2-40B4-BE49-F238E27FC236}">
                <a16:creationId xmlns:a16="http://schemas.microsoft.com/office/drawing/2014/main" id="{CC58E793-491D-4952-8707-A4E554768E1C}"/>
              </a:ext>
            </a:extLst>
          </p:cNvPr>
          <p:cNvSpPr>
            <a:spLocks xmlns:a="http://schemas.openxmlformats.org/drawingml/2006/main" noGrp="1"/>
          </p:cNvSpPr>
          <p:nvPr/>
        </p:nvSpPr>
        <p:spPr>
          <a:xfrm xmlns:a="http://schemas.openxmlformats.org/drawingml/2006/main">
            <a:off x="838200" y="16383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defRPr sz="2250" b="1">
                <a:solidFill>
                  <a:srgbClr val="79D9CB"/>
                </a:solidFill>
              </a:defRPr>
            </a:lvl1pPr>
            <a:lvl2pPr>
              <a:defRPr sz="2250" b="1">
                <a:solidFill>
                  <a:srgbClr val="79D9CB"/>
                </a:solidFill>
              </a:defRPr>
            </a:lvl2pPr>
            <a:lvl3pPr>
              <a:defRPr sz="2250" b="1">
                <a:solidFill>
                  <a:srgbClr val="79D9CB"/>
                </a:solidFill>
              </a:defRPr>
            </a:lvl3pPr>
            <a:lvl4pPr>
              <a:defRPr sz="2250" b="1">
                <a:solidFill>
                  <a:srgbClr val="79D9CB"/>
                </a:solidFill>
              </a:defRPr>
            </a:lvl4pPr>
            <a:lvl5pPr>
              <a:defRPr sz="2250" b="1">
                <a:solidFill>
                  <a:srgbClr val="79D9CB"/>
                </a:solidFill>
              </a:defRPr>
            </a:lvl5pPr>
            <a:lvl6pPr>
              <a:defRPr sz="2250" b="1">
                <a:solidFill>
                  <a:srgbClr val="79D9CB"/>
                </a:solidFill>
              </a:defRPr>
            </a:lvl6pPr>
            <a:lvl7pPr>
              <a:defRPr sz="2250" b="1">
                <a:solidFill>
                  <a:srgbClr val="79D9CB"/>
                </a:solidFill>
              </a:defRPr>
            </a:lvl7pPr>
            <a:lvl8pPr>
              <a:defRPr sz="2250" b="1">
                <a:solidFill>
                  <a:srgbClr val="79D9CB"/>
                </a:solidFill>
              </a:defRPr>
            </a:lvl8pPr>
            <a:lvl9pPr>
              <a:defRPr sz="2250" b="1">
                <a:solidFill>
                  <a:srgbClr val="79D9CB"/>
                </a:solidFill>
              </a:defRPr>
            </a:lvl9pPr>
          </a:lstStyle>
          <a:p xmlns:a="http://schemas.openxmlformats.org/drawingml/2006/main">
            <a:pPr>
              <a:defRPr sz="2250" b="1">
                <a:solidFill>
                  <a:srgbClr val="79D9CB"/>
                </a:solidFill>
              </a:defRPr>
            </a:pPr>
            <a:r>
              <a:rPr sz="2250" b="1">
                <a:solidFill>
                  <a:srgbClr val="79D9CB"/>
                </a:solidFill>
              </a:rPr>
              <a:t>Tarayıcı</a:t>
            </a:r>
          </a:p>
        </p:txBody>
      </p:sp>
      <p:sp>
        <p:nvSpPr>
          <p:cNvPr id="5" name="">
            <a:extLst xmlns:a="http://schemas.openxmlformats.org/drawingml/2006/main">
              <a:ext uri="{FF2B5EF4-FFF2-40B4-BE49-F238E27FC236}">
                <a16:creationId xmlns:a16="http://schemas.microsoft.com/office/drawing/2014/main" id="{4094388B-2FB3-47CB-98DD-B9978245A7C5}"/>
              </a:ext>
            </a:extLst>
          </p:cNvPr>
          <p:cNvSpPr>
            <a:spLocks xmlns:a="http://schemas.openxmlformats.org/drawingml/2006/main" noGrp="1"/>
          </p:cNvSpPr>
          <p:nvPr/>
        </p:nvSpPr>
        <p:spPr>
          <a:xfrm xmlns:a="http://schemas.openxmlformats.org/drawingml/2006/main">
            <a:off x="838200" y="211455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defRPr sz="1875" b="0">
                <a:solidFill>
                  <a:srgbClr val="EAF0F7"/>
                </a:solidFill>
              </a:defRPr>
            </a:lvl1pPr>
            <a:lvl2pPr>
              <a:defRPr sz="1875" b="0">
                <a:solidFill>
                  <a:srgbClr val="EAF0F7"/>
                </a:solidFill>
              </a:defRPr>
            </a:lvl2pPr>
            <a:lvl3pPr>
              <a:defRPr sz="1875" b="0">
                <a:solidFill>
                  <a:srgbClr val="EAF0F7"/>
                </a:solidFill>
              </a:defRPr>
            </a:lvl3pPr>
            <a:lvl4pPr>
              <a:defRPr sz="1875" b="0">
                <a:solidFill>
                  <a:srgbClr val="EAF0F7"/>
                </a:solidFill>
              </a:defRPr>
            </a:lvl4pPr>
            <a:lvl5pPr>
              <a:defRPr sz="1875" b="0">
                <a:solidFill>
                  <a:srgbClr val="EAF0F7"/>
                </a:solidFill>
              </a:defRPr>
            </a:lvl5pPr>
            <a:lvl6pPr>
              <a:defRPr sz="1875" b="0">
                <a:solidFill>
                  <a:srgbClr val="EAF0F7"/>
                </a:solidFill>
              </a:defRPr>
            </a:lvl6pPr>
            <a:lvl7pPr>
              <a:defRPr sz="1875" b="0">
                <a:solidFill>
                  <a:srgbClr val="EAF0F7"/>
                </a:solidFill>
              </a:defRPr>
            </a:lvl7pPr>
            <a:lvl8pPr>
              <a:defRPr sz="1875" b="0">
                <a:solidFill>
                  <a:srgbClr val="EAF0F7"/>
                </a:solidFill>
              </a:defRPr>
            </a:lvl8pPr>
            <a:lvl9pPr>
              <a:defRPr sz="1875" b="0">
                <a:solidFill>
                  <a:srgbClr val="EAF0F7"/>
                </a:solidFill>
              </a:defRPr>
            </a:lvl9pPr>
          </a:lstStyle>
          <a:p xmlns:a="http://schemas.openxmlformats.org/drawingml/2006/main">
            <a:pPr>
              <a:defRPr sz="1875" b="0">
                <a:solidFill>
                  <a:srgbClr val="EAF0F7"/>
                </a:solidFill>
              </a:defRPr>
            </a:pPr>
            <a:r>
              <a:rPr sz="1875" b="0">
                <a:solidFill>
                  <a:srgbClr val="EAF0F7"/>
                </a:solidFill>
              </a:rPr>
              <a:t>React + Redux</a:t>
            </a:r>
          </a:p>
        </p:txBody>
      </p:sp>
      <p:sp>
        <p:nvSpPr>
          <p:cNvPr id="6" name="">
            <a:extLst xmlns:a="http://schemas.openxmlformats.org/drawingml/2006/main">
              <a:ext uri="{FF2B5EF4-FFF2-40B4-BE49-F238E27FC236}">
                <a16:creationId xmlns:a16="http://schemas.microsoft.com/office/drawing/2014/main" id="{8CFD41DA-C136-4B62-91FA-A16963BE2FDA}"/>
              </a:ext>
            </a:extLst>
          </p:cNvPr>
          <p:cNvSpPr>
            <a:spLocks xmlns:a="http://schemas.openxmlformats.org/drawingml/2006/main" noGrp="1"/>
          </p:cNvSpPr>
          <p:nvPr/>
        </p:nvSpPr>
        <p:spPr>
          <a:xfrm xmlns:a="http://schemas.openxmlformats.org/drawingml/2006/main">
            <a:off x="3676650" y="16383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defRPr sz="2250" b="1">
                <a:solidFill>
                  <a:srgbClr val="79D9CB"/>
                </a:solidFill>
              </a:defRPr>
            </a:lvl1pPr>
            <a:lvl2pPr>
              <a:defRPr sz="2250" b="1">
                <a:solidFill>
                  <a:srgbClr val="79D9CB"/>
                </a:solidFill>
              </a:defRPr>
            </a:lvl2pPr>
            <a:lvl3pPr>
              <a:defRPr sz="2250" b="1">
                <a:solidFill>
                  <a:srgbClr val="79D9CB"/>
                </a:solidFill>
              </a:defRPr>
            </a:lvl3pPr>
            <a:lvl4pPr>
              <a:defRPr sz="2250" b="1">
                <a:solidFill>
                  <a:srgbClr val="79D9CB"/>
                </a:solidFill>
              </a:defRPr>
            </a:lvl4pPr>
            <a:lvl5pPr>
              <a:defRPr sz="2250" b="1">
                <a:solidFill>
                  <a:srgbClr val="79D9CB"/>
                </a:solidFill>
              </a:defRPr>
            </a:lvl5pPr>
            <a:lvl6pPr>
              <a:defRPr sz="2250" b="1">
                <a:solidFill>
                  <a:srgbClr val="79D9CB"/>
                </a:solidFill>
              </a:defRPr>
            </a:lvl6pPr>
            <a:lvl7pPr>
              <a:defRPr sz="2250" b="1">
                <a:solidFill>
                  <a:srgbClr val="79D9CB"/>
                </a:solidFill>
              </a:defRPr>
            </a:lvl7pPr>
            <a:lvl8pPr>
              <a:defRPr sz="2250" b="1">
                <a:solidFill>
                  <a:srgbClr val="79D9CB"/>
                </a:solidFill>
              </a:defRPr>
            </a:lvl8pPr>
            <a:lvl9pPr>
              <a:defRPr sz="2250" b="1">
                <a:solidFill>
                  <a:srgbClr val="79D9CB"/>
                </a:solidFill>
              </a:defRPr>
            </a:lvl9pPr>
          </a:lstStyle>
          <a:p xmlns:a="http://schemas.openxmlformats.org/drawingml/2006/main">
            <a:pPr>
              <a:defRPr sz="2250" b="1">
                <a:solidFill>
                  <a:srgbClr val="79D9CB"/>
                </a:solidFill>
              </a:defRPr>
            </a:pPr>
            <a:r>
              <a:rPr sz="2250" b="1">
                <a:solidFill>
                  <a:srgbClr val="79D9CB"/>
                </a:solidFill>
              </a:rPr>
              <a:t>API Gateway</a:t>
            </a:r>
          </a:p>
        </p:txBody>
      </p:sp>
      <p:sp>
        <p:nvSpPr>
          <p:cNvPr id="7" name="">
            <a:extLst xmlns:a="http://schemas.openxmlformats.org/drawingml/2006/main">
              <a:ext uri="{FF2B5EF4-FFF2-40B4-BE49-F238E27FC236}">
                <a16:creationId xmlns:a16="http://schemas.microsoft.com/office/drawing/2014/main" id="{DDB707F0-30D2-40C1-8E00-0EA7B10A2EBA}"/>
              </a:ext>
            </a:extLst>
          </p:cNvPr>
          <p:cNvSpPr>
            <a:spLocks xmlns:a="http://schemas.openxmlformats.org/drawingml/2006/main" noGrp="1"/>
          </p:cNvSpPr>
          <p:nvPr/>
        </p:nvSpPr>
        <p:spPr>
          <a:xfrm xmlns:a="http://schemas.openxmlformats.org/drawingml/2006/main">
            <a:off x="3676650" y="21145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defRPr sz="1875" b="0">
                <a:solidFill>
                  <a:srgbClr val="EAF0F7"/>
                </a:solidFill>
              </a:defRPr>
            </a:lvl1pPr>
            <a:lvl2pPr>
              <a:defRPr sz="1875" b="0">
                <a:solidFill>
                  <a:srgbClr val="EAF0F7"/>
                </a:solidFill>
              </a:defRPr>
            </a:lvl2pPr>
            <a:lvl3pPr>
              <a:defRPr sz="1875" b="0">
                <a:solidFill>
                  <a:srgbClr val="EAF0F7"/>
                </a:solidFill>
              </a:defRPr>
            </a:lvl3pPr>
            <a:lvl4pPr>
              <a:defRPr sz="1875" b="0">
                <a:solidFill>
                  <a:srgbClr val="EAF0F7"/>
                </a:solidFill>
              </a:defRPr>
            </a:lvl4pPr>
            <a:lvl5pPr>
              <a:defRPr sz="1875" b="0">
                <a:solidFill>
                  <a:srgbClr val="EAF0F7"/>
                </a:solidFill>
              </a:defRPr>
            </a:lvl5pPr>
            <a:lvl6pPr>
              <a:defRPr sz="1875" b="0">
                <a:solidFill>
                  <a:srgbClr val="EAF0F7"/>
                </a:solidFill>
              </a:defRPr>
            </a:lvl6pPr>
            <a:lvl7pPr>
              <a:defRPr sz="1875" b="0">
                <a:solidFill>
                  <a:srgbClr val="EAF0F7"/>
                </a:solidFill>
              </a:defRPr>
            </a:lvl7pPr>
            <a:lvl8pPr>
              <a:defRPr sz="1875" b="0">
                <a:solidFill>
                  <a:srgbClr val="EAF0F7"/>
                </a:solidFill>
              </a:defRPr>
            </a:lvl8pPr>
            <a:lvl9pPr>
              <a:defRPr sz="1875" b="0">
                <a:solidFill>
                  <a:srgbClr val="EAF0F7"/>
                </a:solidFill>
              </a:defRPr>
            </a:lvl9pPr>
          </a:lstStyle>
          <a:p xmlns:a="http://schemas.openxmlformats.org/drawingml/2006/main">
            <a:pPr>
              <a:defRPr sz="1875" b="0">
                <a:solidFill>
                  <a:srgbClr val="EAF0F7"/>
                </a:solidFill>
              </a:defRPr>
            </a:pPr>
            <a:r>
              <a:rPr sz="1875" b="0">
                <a:solidFill>
                  <a:srgbClr val="EAF0F7"/>
                </a:solidFill>
              </a:rPr>
              <a:t>/api/** yönlendirme</a:t>
            </a:r>
          </a:p>
        </p:txBody>
      </p:sp>
      <p:sp>
        <p:nvSpPr>
          <p:cNvPr id="8" name="">
            <a:extLst xmlns:a="http://schemas.openxmlformats.org/drawingml/2006/main">
              <a:ext uri="{FF2B5EF4-FFF2-40B4-BE49-F238E27FC236}">
                <a16:creationId xmlns:a16="http://schemas.microsoft.com/office/drawing/2014/main" id="{602A14EB-2365-42EF-97B1-5C1AFFC6AFB1}"/>
              </a:ext>
            </a:extLst>
          </p:cNvPr>
          <p:cNvSpPr>
            <a:spLocks xmlns:a="http://schemas.openxmlformats.org/drawingml/2006/main" noGrp="1"/>
          </p:cNvSpPr>
          <p:nvPr/>
        </p:nvSpPr>
        <p:spPr>
          <a:xfrm xmlns:a="http://schemas.openxmlformats.org/drawingml/2006/main">
            <a:off x="7048500" y="16383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defRPr sz="2250" b="1">
                <a:solidFill>
                  <a:srgbClr val="79D9CB"/>
                </a:solidFill>
              </a:defRPr>
            </a:lvl1pPr>
            <a:lvl2pPr>
              <a:defRPr sz="2250" b="1">
                <a:solidFill>
                  <a:srgbClr val="79D9CB"/>
                </a:solidFill>
              </a:defRPr>
            </a:lvl2pPr>
            <a:lvl3pPr>
              <a:defRPr sz="2250" b="1">
                <a:solidFill>
                  <a:srgbClr val="79D9CB"/>
                </a:solidFill>
              </a:defRPr>
            </a:lvl3pPr>
            <a:lvl4pPr>
              <a:defRPr sz="2250" b="1">
                <a:solidFill>
                  <a:srgbClr val="79D9CB"/>
                </a:solidFill>
              </a:defRPr>
            </a:lvl4pPr>
            <a:lvl5pPr>
              <a:defRPr sz="2250" b="1">
                <a:solidFill>
                  <a:srgbClr val="79D9CB"/>
                </a:solidFill>
              </a:defRPr>
            </a:lvl5pPr>
            <a:lvl6pPr>
              <a:defRPr sz="2250" b="1">
                <a:solidFill>
                  <a:srgbClr val="79D9CB"/>
                </a:solidFill>
              </a:defRPr>
            </a:lvl6pPr>
            <a:lvl7pPr>
              <a:defRPr sz="2250" b="1">
                <a:solidFill>
                  <a:srgbClr val="79D9CB"/>
                </a:solidFill>
              </a:defRPr>
            </a:lvl7pPr>
            <a:lvl8pPr>
              <a:defRPr sz="2250" b="1">
                <a:solidFill>
                  <a:srgbClr val="79D9CB"/>
                </a:solidFill>
              </a:defRPr>
            </a:lvl8pPr>
            <a:lvl9pPr>
              <a:defRPr sz="2250" b="1">
                <a:solidFill>
                  <a:srgbClr val="79D9CB"/>
                </a:solidFill>
              </a:defRPr>
            </a:lvl9pPr>
          </a:lstStyle>
          <a:p xmlns:a="http://schemas.openxmlformats.org/drawingml/2006/main">
            <a:pPr>
              <a:defRPr sz="2250" b="1">
                <a:solidFill>
                  <a:srgbClr val="79D9CB"/>
                </a:solidFill>
              </a:defRPr>
            </a:pPr>
            <a:r>
              <a:rPr sz="2250" b="1">
                <a:solidFill>
                  <a:srgbClr val="79D9CB"/>
                </a:solidFill>
              </a:rPr>
              <a:t>CoreBank</a:t>
            </a:r>
          </a:p>
        </p:txBody>
      </p:sp>
      <p:sp>
        <p:nvSpPr>
          <p:cNvPr id="9" name="">
            <a:extLst xmlns:a="http://schemas.openxmlformats.org/drawingml/2006/main">
              <a:ext uri="{FF2B5EF4-FFF2-40B4-BE49-F238E27FC236}">
                <a16:creationId xmlns:a16="http://schemas.microsoft.com/office/drawing/2014/main" id="{27FA9ACD-2F3C-4B52-9743-AEDBDDF94DD8}"/>
              </a:ext>
            </a:extLst>
          </p:cNvPr>
          <p:cNvSpPr>
            <a:spLocks xmlns:a="http://schemas.openxmlformats.org/drawingml/2006/main" noGrp="1"/>
          </p:cNvSpPr>
          <p:nvPr/>
        </p:nvSpPr>
        <p:spPr>
          <a:xfrm xmlns:a="http://schemas.openxmlformats.org/drawingml/2006/main">
            <a:off x="7048500" y="2114550"/>
            <a:ext cx="342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defRPr sz="1875" b="0">
                <a:solidFill>
                  <a:srgbClr val="EAF0F7"/>
                </a:solidFill>
              </a:defRPr>
            </a:lvl1pPr>
            <a:lvl2pPr>
              <a:defRPr sz="1875" b="0">
                <a:solidFill>
                  <a:srgbClr val="EAF0F7"/>
                </a:solidFill>
              </a:defRPr>
            </a:lvl2pPr>
            <a:lvl3pPr>
              <a:defRPr sz="1875" b="0">
                <a:solidFill>
                  <a:srgbClr val="EAF0F7"/>
                </a:solidFill>
              </a:defRPr>
            </a:lvl3pPr>
            <a:lvl4pPr>
              <a:defRPr sz="1875" b="0">
                <a:solidFill>
                  <a:srgbClr val="EAF0F7"/>
                </a:solidFill>
              </a:defRPr>
            </a:lvl4pPr>
            <a:lvl5pPr>
              <a:defRPr sz="1875" b="0">
                <a:solidFill>
                  <a:srgbClr val="EAF0F7"/>
                </a:solidFill>
              </a:defRPr>
            </a:lvl5pPr>
            <a:lvl6pPr>
              <a:defRPr sz="1875" b="0">
                <a:solidFill>
                  <a:srgbClr val="EAF0F7"/>
                </a:solidFill>
              </a:defRPr>
            </a:lvl6pPr>
            <a:lvl7pPr>
              <a:defRPr sz="1875" b="0">
                <a:solidFill>
                  <a:srgbClr val="EAF0F7"/>
                </a:solidFill>
              </a:defRPr>
            </a:lvl7pPr>
            <a:lvl8pPr>
              <a:defRPr sz="1875" b="0">
                <a:solidFill>
                  <a:srgbClr val="EAF0F7"/>
                </a:solidFill>
              </a:defRPr>
            </a:lvl8pPr>
            <a:lvl9pPr>
              <a:defRPr sz="1875" b="0">
                <a:solidFill>
                  <a:srgbClr val="EAF0F7"/>
                </a:solidFill>
              </a:defRPr>
            </a:lvl9pPr>
          </a:lstStyle>
          <a:p xmlns:a="http://schemas.openxmlformats.org/drawingml/2006/main">
            <a:pPr>
              <a:defRPr sz="1875" b="0">
                <a:solidFill>
                  <a:srgbClr val="EAF0F7"/>
                </a:solidFill>
              </a:defRPr>
            </a:pPr>
            <a:r>
              <a:rPr sz="1875" b="0">
                <a:solidFill>
                  <a:srgbClr val="EAF0F7"/>
                </a:solidFill>
              </a:rPr>
              <a:t>Hesap · transfer · SAGA</a:t>
            </a:r>
          </a:p>
          <a:p xmlns:a="http://schemas.openxmlformats.org/drawingml/2006/main">
            <a:pPr>
              <a:defRPr sz="1875" b="0">
                <a:solidFill>
                  <a:srgbClr val="EAF0F7"/>
                </a:solidFill>
              </a:defRPr>
            </a:pPr>
            <a:r>
              <a:rPr sz="1875" b="0">
                <a:solidFill>
                  <a:srgbClr val="EAF0F7"/>
                </a:solidFill>
              </a:rPr>
              <a:t>PostgreSQL</a:t>
            </a:r>
          </a:p>
        </p:txBody>
      </p:sp>
      <p:sp>
        <p:nvSpPr>
          <p:cNvPr id="10" name="">
            <a:extLst xmlns:a="http://schemas.openxmlformats.org/drawingml/2006/main">
              <a:ext uri="{FF2B5EF4-FFF2-40B4-BE49-F238E27FC236}">
                <a16:creationId xmlns:a16="http://schemas.microsoft.com/office/drawing/2014/main" id="{4902166F-9229-46F0-8F69-5CE835EB0A48}"/>
              </a:ext>
            </a:extLst>
          </p:cNvPr>
          <p:cNvSpPr>
            <a:spLocks xmlns:a="http://schemas.openxmlformats.org/drawingml/2006/main" noGrp="1"/>
          </p:cNvSpPr>
          <p:nvPr/>
        </p:nvSpPr>
        <p:spPr>
          <a:xfrm xmlns:a="http://schemas.openxmlformats.org/drawingml/2006/main">
            <a:off x="838200" y="3524250"/>
            <a:ext cx="1009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defRPr sz="2100" b="0">
                <a:solidFill>
                  <a:srgbClr val="EAF0F7"/>
                </a:solidFill>
              </a:defRPr>
            </a:lvl1pPr>
            <a:lvl2pPr>
              <a:defRPr sz="2100" b="0">
                <a:solidFill>
                  <a:srgbClr val="EAF0F7"/>
                </a:solidFill>
              </a:defRPr>
            </a:lvl2pPr>
            <a:lvl3pPr>
              <a:defRPr sz="2100" b="0">
                <a:solidFill>
                  <a:srgbClr val="EAF0F7"/>
                </a:solidFill>
              </a:defRPr>
            </a:lvl3pPr>
            <a:lvl4pPr>
              <a:defRPr sz="2100" b="0">
                <a:solidFill>
                  <a:srgbClr val="EAF0F7"/>
                </a:solidFill>
              </a:defRPr>
            </a:lvl4pPr>
            <a:lvl5pPr>
              <a:defRPr sz="2100" b="0">
                <a:solidFill>
                  <a:srgbClr val="EAF0F7"/>
                </a:solidFill>
              </a:defRPr>
            </a:lvl5pPr>
            <a:lvl6pPr>
              <a:defRPr sz="2100" b="0">
                <a:solidFill>
                  <a:srgbClr val="EAF0F7"/>
                </a:solidFill>
              </a:defRPr>
            </a:lvl6pPr>
            <a:lvl7pPr>
              <a:defRPr sz="2100" b="0">
                <a:solidFill>
                  <a:srgbClr val="EAF0F7"/>
                </a:solidFill>
              </a:defRPr>
            </a:lvl7pPr>
            <a:lvl8pPr>
              <a:defRPr sz="2100" b="0">
                <a:solidFill>
                  <a:srgbClr val="EAF0F7"/>
                </a:solidFill>
              </a:defRPr>
            </a:lvl8pPr>
            <a:lvl9pPr>
              <a:defRPr sz="2100" b="0">
                <a:solidFill>
                  <a:srgbClr val="EAF0F7"/>
                </a:solidFill>
              </a:defRPr>
            </a:lvl9pPr>
          </a:lstStyle>
          <a:p xmlns:a="http://schemas.openxmlformats.org/drawingml/2006/main">
            <a:pPr>
              <a:defRPr sz="2100" b="0">
                <a:solidFill>
                  <a:srgbClr val="EAF0F7"/>
                </a:solidFill>
              </a:defRPr>
            </a:pPr>
            <a:r>
              <a:rPr sz="2100" b="0">
                <a:solidFill>
                  <a:srgbClr val="EAF0F7"/>
                </a:solidFill>
              </a:rPr>
              <a:t>CoreBank, sağlayıcıya HTTP ile gider; transfer olayını Kafka üzerinden bildirime taşır.</a:t>
            </a:r>
          </a:p>
        </p:txBody>
      </p:sp>
      <p:sp>
        <p:nvSpPr>
          <p:cNvPr id="11" name="">
            <a:extLst xmlns:a="http://schemas.openxmlformats.org/drawingml/2006/main">
              <a:ext uri="{FF2B5EF4-FFF2-40B4-BE49-F238E27FC236}">
                <a16:creationId xmlns:a16="http://schemas.microsoft.com/office/drawing/2014/main" id="{FA5A4A61-938A-4B08-8C65-3B25FE053586}"/>
              </a:ext>
            </a:extLst>
          </p:cNvPr>
          <p:cNvSpPr>
            <a:spLocks xmlns:a="http://schemas.openxmlformats.org/drawingml/2006/main" noGrp="1"/>
          </p:cNvSpPr>
          <p:nvPr/>
        </p:nvSpPr>
        <p:spPr>
          <a:xfrm xmlns:a="http://schemas.openxmlformats.org/drawingml/2006/main">
            <a:off x="838200" y="50006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F3BA6C"/>
                </a:solidFill>
              </a:defRPr>
            </a:defPPr>
            <a:lvl1pPr>
              <a:defRPr sz="1950" b="1">
                <a:solidFill>
                  <a:srgbClr val="F3BA6C"/>
                </a:solidFill>
              </a:defRPr>
            </a:lvl1pPr>
            <a:lvl2pPr>
              <a:defRPr sz="1950" b="1">
                <a:solidFill>
                  <a:srgbClr val="F3BA6C"/>
                </a:solidFill>
              </a:defRPr>
            </a:lvl2pPr>
            <a:lvl3pPr>
              <a:defRPr sz="1950" b="1">
                <a:solidFill>
                  <a:srgbClr val="F3BA6C"/>
                </a:solidFill>
              </a:defRPr>
            </a:lvl3pPr>
            <a:lvl4pPr>
              <a:defRPr sz="1950" b="1">
                <a:solidFill>
                  <a:srgbClr val="F3BA6C"/>
                </a:solidFill>
              </a:defRPr>
            </a:lvl4pPr>
            <a:lvl5pPr>
              <a:defRPr sz="1950" b="1">
                <a:solidFill>
                  <a:srgbClr val="F3BA6C"/>
                </a:solidFill>
              </a:defRPr>
            </a:lvl5pPr>
            <a:lvl6pPr>
              <a:defRPr sz="1950" b="1">
                <a:solidFill>
                  <a:srgbClr val="F3BA6C"/>
                </a:solidFill>
              </a:defRPr>
            </a:lvl6pPr>
            <a:lvl7pPr>
              <a:defRPr sz="1950" b="1">
                <a:solidFill>
                  <a:srgbClr val="F3BA6C"/>
                </a:solidFill>
              </a:defRPr>
            </a:lvl7pPr>
            <a:lvl8pPr>
              <a:defRPr sz="1950" b="1">
                <a:solidFill>
                  <a:srgbClr val="F3BA6C"/>
                </a:solidFill>
              </a:defRPr>
            </a:lvl8pPr>
            <a:lvl9pPr>
              <a:defRPr sz="1950" b="1">
                <a:solidFill>
                  <a:srgbClr val="F3BA6C"/>
                </a:solidFill>
              </a:defRPr>
            </a:lvl9pPr>
          </a:lstStyle>
          <a:p xmlns:a="http://schemas.openxmlformats.org/drawingml/2006/main">
            <a:pPr>
              <a:defRPr sz="1950" b="1">
                <a:solidFill>
                  <a:srgbClr val="F3BA6C"/>
                </a:solidFill>
              </a:defRPr>
            </a:pPr>
            <a:r>
              <a:rPr sz="1950" b="1">
                <a:solidFill>
                  <a:srgbClr val="F3BA6C"/>
                </a:solidFill>
              </a:rPr>
              <a:t>Ödeme sağlayıcısı</a:t>
            </a:r>
          </a:p>
        </p:txBody>
      </p:sp>
      <p:sp>
        <p:nvSpPr>
          <p:cNvPr id="12" name="">
            <a:extLst xmlns:a="http://schemas.openxmlformats.org/drawingml/2006/main">
              <a:ext uri="{FF2B5EF4-FFF2-40B4-BE49-F238E27FC236}">
                <a16:creationId xmlns:a16="http://schemas.microsoft.com/office/drawing/2014/main" id="{CEFDE079-9ABF-499E-96B5-24016108D047}"/>
              </a:ext>
            </a:extLst>
          </p:cNvPr>
          <p:cNvSpPr>
            <a:spLocks xmlns:a="http://schemas.openxmlformats.org/drawingml/2006/main" noGrp="1"/>
          </p:cNvSpPr>
          <p:nvPr/>
        </p:nvSpPr>
        <p:spPr>
          <a:xfrm xmlns:a="http://schemas.openxmlformats.org/drawingml/2006/main">
            <a:off x="838200" y="54102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Ayrı PostgreSQL</a:t>
            </a:r>
          </a:p>
        </p:txBody>
      </p:sp>
      <p:sp>
        <p:nvSpPr>
          <p:cNvPr id="13" name="">
            <a:extLst xmlns:a="http://schemas.openxmlformats.org/drawingml/2006/main">
              <a:ext uri="{FF2B5EF4-FFF2-40B4-BE49-F238E27FC236}">
                <a16:creationId xmlns:a16="http://schemas.microsoft.com/office/drawing/2014/main" id="{3F4A18DC-492B-4101-80E0-3A7EBD5E2043}"/>
              </a:ext>
            </a:extLst>
          </p:cNvPr>
          <p:cNvSpPr>
            <a:spLocks xmlns:a="http://schemas.openxmlformats.org/drawingml/2006/main" noGrp="1"/>
          </p:cNvSpPr>
          <p:nvPr/>
        </p:nvSpPr>
        <p:spPr>
          <a:xfrm xmlns:a="http://schemas.openxmlformats.org/drawingml/2006/main">
            <a:off x="4857750" y="500062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F3BA6C"/>
                </a:solidFill>
              </a:defRPr>
            </a:defPPr>
            <a:lvl1pPr>
              <a:defRPr sz="1950" b="1">
                <a:solidFill>
                  <a:srgbClr val="F3BA6C"/>
                </a:solidFill>
              </a:defRPr>
            </a:lvl1pPr>
            <a:lvl2pPr>
              <a:defRPr sz="1950" b="1">
                <a:solidFill>
                  <a:srgbClr val="F3BA6C"/>
                </a:solidFill>
              </a:defRPr>
            </a:lvl2pPr>
            <a:lvl3pPr>
              <a:defRPr sz="1950" b="1">
                <a:solidFill>
                  <a:srgbClr val="F3BA6C"/>
                </a:solidFill>
              </a:defRPr>
            </a:lvl3pPr>
            <a:lvl4pPr>
              <a:defRPr sz="1950" b="1">
                <a:solidFill>
                  <a:srgbClr val="F3BA6C"/>
                </a:solidFill>
              </a:defRPr>
            </a:lvl4pPr>
            <a:lvl5pPr>
              <a:defRPr sz="1950" b="1">
                <a:solidFill>
                  <a:srgbClr val="F3BA6C"/>
                </a:solidFill>
              </a:defRPr>
            </a:lvl5pPr>
            <a:lvl6pPr>
              <a:defRPr sz="1950" b="1">
                <a:solidFill>
                  <a:srgbClr val="F3BA6C"/>
                </a:solidFill>
              </a:defRPr>
            </a:lvl6pPr>
            <a:lvl7pPr>
              <a:defRPr sz="1950" b="1">
                <a:solidFill>
                  <a:srgbClr val="F3BA6C"/>
                </a:solidFill>
              </a:defRPr>
            </a:lvl7pPr>
            <a:lvl8pPr>
              <a:defRPr sz="1950" b="1">
                <a:solidFill>
                  <a:srgbClr val="F3BA6C"/>
                </a:solidFill>
              </a:defRPr>
            </a:lvl8pPr>
            <a:lvl9pPr>
              <a:defRPr sz="1950" b="1">
                <a:solidFill>
                  <a:srgbClr val="F3BA6C"/>
                </a:solidFill>
              </a:defRPr>
            </a:lvl9pPr>
          </a:lstStyle>
          <a:p xmlns:a="http://schemas.openxmlformats.org/drawingml/2006/main">
            <a:pPr>
              <a:defRPr sz="1950" b="1">
                <a:solidFill>
                  <a:srgbClr val="F3BA6C"/>
                </a:solidFill>
              </a:defRPr>
            </a:pPr>
            <a:r>
              <a:rPr sz="1950" b="1">
                <a:solidFill>
                  <a:srgbClr val="F3BA6C"/>
                </a:solidFill>
              </a:rPr>
              <a:t>Kafka + bildirim</a:t>
            </a:r>
          </a:p>
        </p:txBody>
      </p:sp>
      <p:sp>
        <p:nvSpPr>
          <p:cNvPr id="14" name="">
            <a:extLst xmlns:a="http://schemas.openxmlformats.org/drawingml/2006/main">
              <a:ext uri="{FF2B5EF4-FFF2-40B4-BE49-F238E27FC236}">
                <a16:creationId xmlns:a16="http://schemas.microsoft.com/office/drawing/2014/main" id="{59939AAA-8651-445C-AEDF-87C628DFE394}"/>
              </a:ext>
            </a:extLst>
          </p:cNvPr>
          <p:cNvSpPr>
            <a:spLocks xmlns:a="http://schemas.openxmlformats.org/drawingml/2006/main" noGrp="1"/>
          </p:cNvSpPr>
          <p:nvPr/>
        </p:nvSpPr>
        <p:spPr>
          <a:xfrm xmlns:a="http://schemas.openxmlformats.org/drawingml/2006/main">
            <a:off x="4857750" y="5410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Ayrı inbox veritabanı</a:t>
            </a:r>
          </a:p>
        </p:txBody>
      </p:sp>
      <p:sp>
        <p:nvSpPr>
          <p:cNvPr id="15" name="">
            <a:extLst xmlns:a="http://schemas.openxmlformats.org/drawingml/2006/main">
              <a:ext uri="{FF2B5EF4-FFF2-40B4-BE49-F238E27FC236}">
                <a16:creationId xmlns:a16="http://schemas.microsoft.com/office/drawing/2014/main" id="{FECDEB94-4CE5-41E8-BFD8-910AABFFC16E}"/>
              </a:ext>
            </a:extLst>
          </p:cNvPr>
          <p:cNvSpPr>
            <a:spLocks xmlns:a="http://schemas.openxmlformats.org/drawingml/2006/main" noGrp="1"/>
          </p:cNvSpPr>
          <p:nvPr/>
        </p:nvSpPr>
        <p:spPr>
          <a:xfrm xmlns:a="http://schemas.openxmlformats.org/drawingml/2006/main">
            <a:off x="8953500" y="50006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F3BA6C"/>
                </a:solidFill>
              </a:defRPr>
            </a:defPPr>
            <a:lvl1pPr>
              <a:defRPr sz="1950" b="1">
                <a:solidFill>
                  <a:srgbClr val="F3BA6C"/>
                </a:solidFill>
              </a:defRPr>
            </a:lvl1pPr>
            <a:lvl2pPr>
              <a:defRPr sz="1950" b="1">
                <a:solidFill>
                  <a:srgbClr val="F3BA6C"/>
                </a:solidFill>
              </a:defRPr>
            </a:lvl2pPr>
            <a:lvl3pPr>
              <a:defRPr sz="1950" b="1">
                <a:solidFill>
                  <a:srgbClr val="F3BA6C"/>
                </a:solidFill>
              </a:defRPr>
            </a:lvl3pPr>
            <a:lvl4pPr>
              <a:defRPr sz="1950" b="1">
                <a:solidFill>
                  <a:srgbClr val="F3BA6C"/>
                </a:solidFill>
              </a:defRPr>
            </a:lvl4pPr>
            <a:lvl5pPr>
              <a:defRPr sz="1950" b="1">
                <a:solidFill>
                  <a:srgbClr val="F3BA6C"/>
                </a:solidFill>
              </a:defRPr>
            </a:lvl5pPr>
            <a:lvl6pPr>
              <a:defRPr sz="1950" b="1">
                <a:solidFill>
                  <a:srgbClr val="F3BA6C"/>
                </a:solidFill>
              </a:defRPr>
            </a:lvl6pPr>
            <a:lvl7pPr>
              <a:defRPr sz="1950" b="1">
                <a:solidFill>
                  <a:srgbClr val="F3BA6C"/>
                </a:solidFill>
              </a:defRPr>
            </a:lvl7pPr>
            <a:lvl8pPr>
              <a:defRPr sz="1950" b="1">
                <a:solidFill>
                  <a:srgbClr val="F3BA6C"/>
                </a:solidFill>
              </a:defRPr>
            </a:lvl8pPr>
            <a:lvl9pPr>
              <a:defRPr sz="1950" b="1">
                <a:solidFill>
                  <a:srgbClr val="F3BA6C"/>
                </a:solidFill>
              </a:defRPr>
            </a:lvl9pPr>
          </a:lstStyle>
          <a:p xmlns:a="http://schemas.openxmlformats.org/drawingml/2006/main">
            <a:pPr>
              <a:defRPr sz="1950" b="1">
                <a:solidFill>
                  <a:srgbClr val="F3BA6C"/>
                </a:solidFill>
              </a:defRPr>
            </a:pPr>
            <a:r>
              <a:rPr sz="1950" b="1">
                <a:solidFill>
                  <a:srgbClr val="F3BA6C"/>
                </a:solidFill>
              </a:rPr>
              <a:t>Redis</a:t>
            </a:r>
          </a:p>
        </p:txBody>
      </p:sp>
      <p:sp>
        <p:nvSpPr>
          <p:cNvPr id="16" name="">
            <a:extLst xmlns:a="http://schemas.openxmlformats.org/drawingml/2006/main">
              <a:ext uri="{FF2B5EF4-FFF2-40B4-BE49-F238E27FC236}">
                <a16:creationId xmlns:a16="http://schemas.microsoft.com/office/drawing/2014/main" id="{9FEDC17D-4003-44D1-A350-44398FDDB386}"/>
              </a:ext>
            </a:extLst>
          </p:cNvPr>
          <p:cNvSpPr>
            <a:spLocks xmlns:a="http://schemas.openxmlformats.org/drawingml/2006/main" noGrp="1"/>
          </p:cNvSpPr>
          <p:nvPr/>
        </p:nvSpPr>
        <p:spPr>
          <a:xfrm xmlns:a="http://schemas.openxmlformats.org/drawingml/2006/main">
            <a:off x="8953500" y="54102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Rapor cache’i</a:t>
            </a:r>
          </a:p>
        </p:txBody>
      </p:sp>
    </p:spTree>
    <p:extLst>
      <p:ext uri="{BB962C8B-B14F-4D97-AF65-F5344CB8AC3E}">
        <p14:creationId xmlns:p14="http://schemas.microsoft.com/office/powerpoint/2010/main" val="145505429"/>
      </p:ext>
    </p:extLst>
  </p:cSld>
</p:sld>
</file>

<file path=ppt/slides/slide5.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C1EEA5F-1EA1-4097-B521-1D0994A8C865}"/>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Servis sınırlarını neden böyle çizdim?</a:t>
            </a:r>
          </a:p>
        </p:txBody>
      </p:sp>
      <p:sp>
        <p:nvSpPr>
          <p:cNvPr id="3" name="">
            <a:extLst xmlns:a="http://schemas.openxmlformats.org/drawingml/2006/main">
              <a:ext uri="{FF2B5EF4-FFF2-40B4-BE49-F238E27FC236}">
                <a16:creationId xmlns:a16="http://schemas.microsoft.com/office/drawing/2014/main" id="{0E592463-1557-41F1-8169-E2CEF263D0B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05</a:t>
            </a:r>
          </a:p>
        </p:txBody>
      </p:sp>
      <p:sp>
        <p:nvSpPr>
          <p:cNvPr id="4" name="">
            <a:extLst xmlns:a="http://schemas.openxmlformats.org/drawingml/2006/main">
              <a:ext uri="{FF2B5EF4-FFF2-40B4-BE49-F238E27FC236}">
                <a16:creationId xmlns:a16="http://schemas.microsoft.com/office/drawing/2014/main" id="{3D199E72-9404-4640-AB13-73870E7D09D1}"/>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CoreBank çekirdeği</a:t>
            </a:r>
          </a:p>
        </p:txBody>
      </p:sp>
      <p:sp>
        <p:nvSpPr>
          <p:cNvPr id="5" name="">
            <a:extLst xmlns:a="http://schemas.openxmlformats.org/drawingml/2006/main">
              <a:ext uri="{FF2B5EF4-FFF2-40B4-BE49-F238E27FC236}">
                <a16:creationId xmlns:a16="http://schemas.microsoft.com/office/drawing/2014/main" id="{625C62F2-223B-4BE0-8933-08112032723D}"/>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Hesap, transfer ve ledger aynı tutarlılık sınırında</a:t>
            </a:r>
          </a:p>
          <a:p xmlns:a="http://schemas.openxmlformats.org/drawingml/2006/main">
            <a:r>
              <a:t/>
            </a:r>
          </a:p>
          <a:p xmlns:a="http://schemas.openxmlformats.org/drawingml/2006/main">
            <a:pPr>
              <a:defRPr sz="1725" b="0">
                <a:solidFill>
                  <a:srgbClr val="EAF0F7"/>
                </a:solidFill>
              </a:defRPr>
            </a:pPr>
            <a:r>
              <a:rPr sz="1725" b="0">
                <a:solidFill>
                  <a:srgbClr val="EAF0F7"/>
                </a:solidFill>
              </a:rPr>
              <a:t>Tek ACID transaction</a:t>
            </a:r>
          </a:p>
        </p:txBody>
      </p:sp>
      <p:sp>
        <p:nvSpPr>
          <p:cNvPr id="6" name="">
            <a:extLst xmlns:a="http://schemas.openxmlformats.org/drawingml/2006/main">
              <a:ext uri="{FF2B5EF4-FFF2-40B4-BE49-F238E27FC236}">
                <a16:creationId xmlns:a16="http://schemas.microsoft.com/office/drawing/2014/main" id="{7F7C5A64-A266-471D-9C17-31148D878FA7}"/>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Ödeme sağlayıcısı</a:t>
            </a:r>
          </a:p>
        </p:txBody>
      </p:sp>
      <p:sp>
        <p:nvSpPr>
          <p:cNvPr id="7" name="">
            <a:extLst xmlns:a="http://schemas.openxmlformats.org/drawingml/2006/main">
              <a:ext uri="{FF2B5EF4-FFF2-40B4-BE49-F238E27FC236}">
                <a16:creationId xmlns:a16="http://schemas.microsoft.com/office/drawing/2014/main" id="{888ADECF-404F-41C5-84AE-EF6093D71AD0}"/>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Ayrı veri sahipliği ve ağ hatası</a:t>
            </a:r>
          </a:p>
          <a:p xmlns:a="http://schemas.openxmlformats.org/drawingml/2006/main">
            <a:r>
              <a:t/>
            </a:r>
          </a:p>
          <a:p xmlns:a="http://schemas.openxmlformats.org/drawingml/2006/main">
            <a:pPr>
              <a:defRPr sz="1725" b="0">
                <a:solidFill>
                  <a:srgbClr val="EAF0F7"/>
                </a:solidFill>
              </a:defRPr>
            </a:pPr>
            <a:r>
              <a:rPr sz="1725" b="0">
                <a:solidFill>
                  <a:srgbClr val="EAF0F7"/>
                </a:solidFill>
              </a:rPr>
              <a:t>SAGA ile sonuç ve telafi</a:t>
            </a:r>
          </a:p>
        </p:txBody>
      </p:sp>
      <p:sp>
        <p:nvSpPr>
          <p:cNvPr id="8" name="">
            <a:extLst xmlns:a="http://schemas.openxmlformats.org/drawingml/2006/main">
              <a:ext uri="{FF2B5EF4-FFF2-40B4-BE49-F238E27FC236}">
                <a16:creationId xmlns:a16="http://schemas.microsoft.com/office/drawing/2014/main" id="{DF32322C-88E1-4503-AD2B-15DA4C6A1666}"/>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Bildirim</a:t>
            </a:r>
          </a:p>
        </p:txBody>
      </p:sp>
      <p:sp>
        <p:nvSpPr>
          <p:cNvPr id="9" name="">
            <a:extLst xmlns:a="http://schemas.openxmlformats.org/drawingml/2006/main">
              <a:ext uri="{FF2B5EF4-FFF2-40B4-BE49-F238E27FC236}">
                <a16:creationId xmlns:a16="http://schemas.microsoft.com/office/drawing/2014/main" id="{A8F22914-0231-4E65-A9B9-5025040E141D}"/>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Finansal transaction’dan bağımsız yan etki</a:t>
            </a:r>
          </a:p>
          <a:p xmlns:a="http://schemas.openxmlformats.org/drawingml/2006/main">
            <a:r>
              <a:t/>
            </a:r>
          </a:p>
          <a:p xmlns:a="http://schemas.openxmlformats.org/drawingml/2006/main">
            <a:pPr>
              <a:defRPr sz="1725" b="0">
                <a:solidFill>
                  <a:srgbClr val="EAF0F7"/>
                </a:solidFill>
              </a:defRPr>
            </a:pPr>
            <a:r>
              <a:rPr sz="1725" b="0">
                <a:solidFill>
                  <a:srgbClr val="EAF0F7"/>
                </a:solidFill>
              </a:rPr>
              <a:t>Kafka + Inbox ile tekrar güvenliği</a:t>
            </a:r>
          </a:p>
        </p:txBody>
      </p:sp>
      <p:sp>
        <p:nvSpPr>
          <p:cNvPr id="10" name="">
            <a:extLst xmlns:a="http://schemas.openxmlformats.org/drawingml/2006/main">
              <a:ext uri="{FF2B5EF4-FFF2-40B4-BE49-F238E27FC236}">
                <a16:creationId xmlns:a16="http://schemas.microsoft.com/office/drawing/2014/main" id="{58D77589-593A-4462-A037-ECCB98B8ADAC}"/>
              </a:ext>
            </a:extLst>
          </p:cNvPr>
          <p:cNvSpPr>
            <a:spLocks xmlns:a="http://schemas.openxmlformats.org/drawingml/2006/main" noGrp="1"/>
          </p:cNvSpPr>
          <p:nvPr/>
        </p:nvSpPr>
        <p:spPr>
          <a:xfrm xmlns:a="http://schemas.openxmlformats.org/drawingml/2006/main">
            <a:off x="857250" y="5476875"/>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defRPr sz="1800" b="0">
                <a:solidFill>
                  <a:srgbClr val="BFCBDD"/>
                </a:solidFill>
              </a:defRPr>
            </a:lvl1pPr>
            <a:lvl2pPr>
              <a:defRPr sz="1800" b="0">
                <a:solidFill>
                  <a:srgbClr val="BFCBDD"/>
                </a:solidFill>
              </a:defRPr>
            </a:lvl2pPr>
            <a:lvl3pPr>
              <a:defRPr sz="1800" b="0">
                <a:solidFill>
                  <a:srgbClr val="BFCBDD"/>
                </a:solidFill>
              </a:defRPr>
            </a:lvl3pPr>
            <a:lvl4pPr>
              <a:defRPr sz="1800" b="0">
                <a:solidFill>
                  <a:srgbClr val="BFCBDD"/>
                </a:solidFill>
              </a:defRPr>
            </a:lvl4pPr>
            <a:lvl5pPr>
              <a:defRPr sz="1800" b="0">
                <a:solidFill>
                  <a:srgbClr val="BFCBDD"/>
                </a:solidFill>
              </a:defRPr>
            </a:lvl5pPr>
            <a:lvl6pPr>
              <a:defRPr sz="1800" b="0">
                <a:solidFill>
                  <a:srgbClr val="BFCBDD"/>
                </a:solidFill>
              </a:defRPr>
            </a:lvl6pPr>
            <a:lvl7pPr>
              <a:defRPr sz="1800" b="0">
                <a:solidFill>
                  <a:srgbClr val="BFCBDD"/>
                </a:solidFill>
              </a:defRPr>
            </a:lvl7pPr>
            <a:lvl8pPr>
              <a:defRPr sz="1800" b="0">
                <a:solidFill>
                  <a:srgbClr val="BFCBDD"/>
                </a:solidFill>
              </a:defRPr>
            </a:lvl8pPr>
            <a:lvl9pPr>
              <a:defRPr sz="1800" b="0">
                <a:solidFill>
                  <a:srgbClr val="BFCBDD"/>
                </a:solidFill>
              </a:defRPr>
            </a:lvl9pPr>
          </a:lstStyle>
          <a:p xmlns:a="http://schemas.openxmlformats.org/drawingml/2006/main">
            <a:pPr>
              <a:defRPr sz="1800" b="0">
                <a:solidFill>
                  <a:srgbClr val="BFCBDD"/>
                </a:solidFill>
              </a:defRPr>
            </a:pPr>
            <a:r>
              <a:rPr sz="1800" b="0">
                <a:solidFill>
                  <a:srgbClr val="BFCBDD"/>
                </a:solidFill>
              </a:rPr>
              <a:t>Ayrı servis, bağımsız ölçekleme sağlar; ağ, dağıtım ve gözlemlenebilirlik yükünü artırır.</a:t>
            </a:r>
          </a:p>
        </p:txBody>
      </p:sp>
    </p:spTree>
    <p:extLst>
      <p:ext uri="{BB962C8B-B14F-4D97-AF65-F5344CB8AC3E}">
        <p14:creationId xmlns:p14="http://schemas.microsoft.com/office/powerpoint/2010/main" val="1366198889"/>
      </p:ext>
    </p:extLst>
  </p:cSld>
</p:sld>
</file>

<file path=ppt/slides/slide6.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9730F76-4F18-433D-952E-25CD902EDC2A}"/>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Veri modeli ve para kaynağı</a:t>
            </a:r>
          </a:p>
        </p:txBody>
      </p:sp>
      <p:sp>
        <p:nvSpPr>
          <p:cNvPr id="3" name="">
            <a:extLst xmlns:a="http://schemas.openxmlformats.org/drawingml/2006/main">
              <a:ext uri="{FF2B5EF4-FFF2-40B4-BE49-F238E27FC236}">
                <a16:creationId xmlns:a16="http://schemas.microsoft.com/office/drawing/2014/main" id="{24E0EB03-2230-4048-9826-874B63CACE12}"/>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06</a:t>
            </a:r>
          </a:p>
        </p:txBody>
      </p:sp>
      <p:sp>
        <p:nvSpPr>
          <p:cNvPr id="4" name="">
            <a:extLst xmlns:a="http://schemas.openxmlformats.org/drawingml/2006/main">
              <a:ext uri="{FF2B5EF4-FFF2-40B4-BE49-F238E27FC236}">
                <a16:creationId xmlns:a16="http://schemas.microsoft.com/office/drawing/2014/main" id="{A7255AE7-528A-4940-AC08-595CAC31EAC1}"/>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Müşteri ve hesap</a:t>
            </a:r>
          </a:p>
        </p:txBody>
      </p:sp>
      <p:sp>
        <p:nvSpPr>
          <p:cNvPr id="5" name="">
            <a:extLst xmlns:a="http://schemas.openxmlformats.org/drawingml/2006/main">
              <a:ext uri="{FF2B5EF4-FFF2-40B4-BE49-F238E27FC236}">
                <a16:creationId xmlns:a16="http://schemas.microsoft.com/office/drawing/2014/main" id="{BA64C044-6DF2-41F3-8FB8-FB864FA594A0}"/>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customers 1:N accounts</a:t>
            </a:r>
          </a:p>
          <a:p xmlns:a="http://schemas.openxmlformats.org/drawingml/2006/main">
            <a:r>
              <a:t/>
            </a:r>
          </a:p>
          <a:p xmlns:a="http://schemas.openxmlformats.org/drawingml/2006/main">
            <a:pPr>
              <a:defRPr sz="1725" b="0">
                <a:solidFill>
                  <a:srgbClr val="EAF0F7"/>
                </a:solidFill>
              </a:defRPr>
            </a:pPr>
            <a:r>
              <a:rPr sz="1725" b="0">
                <a:solidFill>
                  <a:srgbClr val="EAF0F7"/>
                </a:solidFill>
              </a:rPr>
              <a:t>accounts.balance</a:t>
            </a:r>
          </a:p>
          <a:p xmlns:a="http://schemas.openxmlformats.org/drawingml/2006/main">
            <a:pPr>
              <a:defRPr sz="1725" b="0">
                <a:solidFill>
                  <a:srgbClr val="EAF0F7"/>
                </a:solidFill>
              </a:defRPr>
            </a:pPr>
            <a:r>
              <a:rPr sz="1725" b="0">
                <a:solidFill>
                  <a:srgbClr val="EAF0F7"/>
                </a:solidFill>
              </a:rPr>
              <a:t>accounts.reserved</a:t>
            </a:r>
          </a:p>
        </p:txBody>
      </p:sp>
      <p:sp>
        <p:nvSpPr>
          <p:cNvPr id="6" name="">
            <a:extLst xmlns:a="http://schemas.openxmlformats.org/drawingml/2006/main">
              <a:ext uri="{FF2B5EF4-FFF2-40B4-BE49-F238E27FC236}">
                <a16:creationId xmlns:a16="http://schemas.microsoft.com/office/drawing/2014/main" id="{AE8520C0-8002-4379-93B9-5B5745CAB63E}"/>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Transfer kayıtları</a:t>
            </a:r>
          </a:p>
        </p:txBody>
      </p:sp>
      <p:sp>
        <p:nvSpPr>
          <p:cNvPr id="7" name="">
            <a:extLst xmlns:a="http://schemas.openxmlformats.org/drawingml/2006/main">
              <a:ext uri="{FF2B5EF4-FFF2-40B4-BE49-F238E27FC236}">
                <a16:creationId xmlns:a16="http://schemas.microsoft.com/office/drawing/2014/main" id="{81D74D2E-6630-465E-8B22-698FBB1C974F}"/>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transfers</a:t>
            </a:r>
          </a:p>
          <a:p xmlns:a="http://schemas.openxmlformats.org/drawingml/2006/main">
            <a:r>
              <a:t/>
            </a:r>
          </a:p>
          <a:p xmlns:a="http://schemas.openxmlformats.org/drawingml/2006/main">
            <a:pPr>
              <a:defRPr sz="1725" b="0">
                <a:solidFill>
                  <a:srgbClr val="EAF0F7"/>
                </a:solidFill>
              </a:defRPr>
            </a:pPr>
            <a:r>
              <a:rPr sz="1725" b="0">
                <a:solidFill>
                  <a:srgbClr val="EAF0F7"/>
                </a:solidFill>
              </a:rPr>
              <a:t>ledger_entries: DEBIT + CREDIT</a:t>
            </a:r>
          </a:p>
          <a:p xmlns:a="http://schemas.openxmlformats.org/drawingml/2006/main">
            <a:r>
              <a:t/>
            </a:r>
          </a:p>
          <a:p xmlns:a="http://schemas.openxmlformats.org/drawingml/2006/main">
            <a:pPr>
              <a:defRPr sz="1725" b="0">
                <a:solidFill>
                  <a:srgbClr val="EAF0F7"/>
                </a:solidFill>
              </a:defRPr>
            </a:pPr>
            <a:r>
              <a:rPr sz="1725" b="0">
                <a:solidFill>
                  <a:srgbClr val="EAF0F7"/>
                </a:solidFill>
              </a:rPr>
              <a:t>outbox_events</a:t>
            </a:r>
          </a:p>
        </p:txBody>
      </p:sp>
      <p:sp>
        <p:nvSpPr>
          <p:cNvPr id="8" name="">
            <a:extLst xmlns:a="http://schemas.openxmlformats.org/drawingml/2006/main">
              <a:ext uri="{FF2B5EF4-FFF2-40B4-BE49-F238E27FC236}">
                <a16:creationId xmlns:a16="http://schemas.microsoft.com/office/drawing/2014/main" id="{BAB166C4-2A25-475D-9127-1FDF50659C04}"/>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Harici ödeme</a:t>
            </a:r>
          </a:p>
        </p:txBody>
      </p:sp>
      <p:sp>
        <p:nvSpPr>
          <p:cNvPr id="9" name="">
            <a:extLst xmlns:a="http://schemas.openxmlformats.org/drawingml/2006/main">
              <a:ext uri="{FF2B5EF4-FFF2-40B4-BE49-F238E27FC236}">
                <a16:creationId xmlns:a16="http://schemas.microsoft.com/office/drawing/2014/main" id="{A21745B7-FA84-40DB-A9A9-E5B75BD6EE78}"/>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bill_payments</a:t>
            </a:r>
          </a:p>
          <a:p xmlns:a="http://schemas.openxmlformats.org/drawingml/2006/main">
            <a:r>
              <a:t/>
            </a:r>
          </a:p>
          <a:p xmlns:a="http://schemas.openxmlformats.org/drawingml/2006/main">
            <a:pPr>
              <a:defRPr sz="1725" b="0">
                <a:solidFill>
                  <a:srgbClr val="EAF0F7"/>
                </a:solidFill>
              </a:defRPr>
            </a:pPr>
            <a:r>
              <a:rPr sz="1725" b="0">
                <a:solidFill>
                  <a:srgbClr val="EAF0F7"/>
                </a:solidFill>
              </a:rPr>
              <a:t>clearing hesabı</a:t>
            </a:r>
          </a:p>
          <a:p xmlns:a="http://schemas.openxmlformats.org/drawingml/2006/main">
            <a:r>
              <a:t/>
            </a:r>
          </a:p>
          <a:p xmlns:a="http://schemas.openxmlformats.org/drawingml/2006/main">
            <a:pPr>
              <a:defRPr sz="1725" b="0">
                <a:solidFill>
                  <a:srgbClr val="EAF0F7"/>
                </a:solidFill>
              </a:defRPr>
            </a:pPr>
            <a:r>
              <a:rPr sz="1725" b="0">
                <a:solidFill>
                  <a:srgbClr val="EAF0F7"/>
                </a:solidFill>
              </a:rPr>
              <a:t>sağlayıcının kendi payment tablosu</a:t>
            </a:r>
          </a:p>
        </p:txBody>
      </p:sp>
      <p:sp>
        <p:nvSpPr>
          <p:cNvPr id="10" name="">
            <a:extLst xmlns:a="http://schemas.openxmlformats.org/drawingml/2006/main">
              <a:ext uri="{FF2B5EF4-FFF2-40B4-BE49-F238E27FC236}">
                <a16:creationId xmlns:a16="http://schemas.microsoft.com/office/drawing/2014/main" id="{4E793613-A737-419F-BE65-9A23FB45DB18}"/>
              </a:ext>
            </a:extLst>
          </p:cNvPr>
          <p:cNvSpPr>
            <a:spLocks xmlns:a="http://schemas.openxmlformats.org/drawingml/2006/main" noGrp="1"/>
          </p:cNvSpPr>
          <p:nvPr/>
        </p:nvSpPr>
        <p:spPr>
          <a:xfrm xmlns:a="http://schemas.openxmlformats.org/drawingml/2006/main">
            <a:off x="857250" y="53816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325" b="1">
                <a:solidFill>
                  <a:srgbClr val="F3BA6C"/>
                </a:solidFill>
              </a:defRPr>
            </a:defPPr>
            <a:lvl1pPr>
              <a:defRPr sz="2325" b="1">
                <a:solidFill>
                  <a:srgbClr val="F3BA6C"/>
                </a:solidFill>
              </a:defRPr>
            </a:lvl1pPr>
            <a:lvl2pPr>
              <a:defRPr sz="2325" b="1">
                <a:solidFill>
                  <a:srgbClr val="F3BA6C"/>
                </a:solidFill>
              </a:defRPr>
            </a:lvl2pPr>
            <a:lvl3pPr>
              <a:defRPr sz="2325" b="1">
                <a:solidFill>
                  <a:srgbClr val="F3BA6C"/>
                </a:solidFill>
              </a:defRPr>
            </a:lvl3pPr>
            <a:lvl4pPr>
              <a:defRPr sz="2325" b="1">
                <a:solidFill>
                  <a:srgbClr val="F3BA6C"/>
                </a:solidFill>
              </a:defRPr>
            </a:lvl4pPr>
            <a:lvl5pPr>
              <a:defRPr sz="2325" b="1">
                <a:solidFill>
                  <a:srgbClr val="F3BA6C"/>
                </a:solidFill>
              </a:defRPr>
            </a:lvl5pPr>
            <a:lvl6pPr>
              <a:defRPr sz="2325" b="1">
                <a:solidFill>
                  <a:srgbClr val="F3BA6C"/>
                </a:solidFill>
              </a:defRPr>
            </a:lvl6pPr>
            <a:lvl7pPr>
              <a:defRPr sz="2325" b="1">
                <a:solidFill>
                  <a:srgbClr val="F3BA6C"/>
                </a:solidFill>
              </a:defRPr>
            </a:lvl7pPr>
            <a:lvl8pPr>
              <a:defRPr sz="2325" b="1">
                <a:solidFill>
                  <a:srgbClr val="F3BA6C"/>
                </a:solidFill>
              </a:defRPr>
            </a:lvl8pPr>
            <a:lvl9pPr>
              <a:defRPr sz="2325" b="1">
                <a:solidFill>
                  <a:srgbClr val="F3BA6C"/>
                </a:solidFill>
              </a:defRPr>
            </a:lvl9pPr>
          </a:lstStyle>
          <a:p xmlns:a="http://schemas.openxmlformats.org/drawingml/2006/main">
            <a:pPr>
              <a:defRPr sz="2325" b="1">
                <a:solidFill>
                  <a:srgbClr val="F3BA6C"/>
                </a:solidFill>
              </a:defRPr>
            </a:pPr>
            <a:r>
              <a:rPr sz="2325" b="1">
                <a:solidFill>
                  <a:srgbClr val="F3BA6C"/>
                </a:solidFill>
              </a:rPr>
              <a:t>Kullanılabilir bakiye = balance − reserved</a:t>
            </a:r>
          </a:p>
        </p:txBody>
      </p:sp>
    </p:spTree>
    <p:extLst>
      <p:ext uri="{BB962C8B-B14F-4D97-AF65-F5344CB8AC3E}">
        <p14:creationId xmlns:p14="http://schemas.microsoft.com/office/powerpoint/2010/main" val="1835111272"/>
      </p:ext>
    </p:extLst>
  </p:cSld>
</p:sld>
</file>

<file path=ppt/slides/slide7.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D92B957-529D-445F-8DA8-1891A9D4DCB4}"/>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Transferin atomik akışı</a:t>
            </a:r>
          </a:p>
        </p:txBody>
      </p:sp>
      <p:sp>
        <p:nvSpPr>
          <p:cNvPr id="3" name="">
            <a:extLst xmlns:a="http://schemas.openxmlformats.org/drawingml/2006/main">
              <a:ext uri="{FF2B5EF4-FFF2-40B4-BE49-F238E27FC236}">
                <a16:creationId xmlns:a16="http://schemas.microsoft.com/office/drawing/2014/main" id="{A0037B17-045A-4EDD-9D05-A3FFB2B0976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07</a:t>
            </a:r>
          </a:p>
        </p:txBody>
      </p:sp>
      <p:sp>
        <p:nvSpPr>
          <p:cNvPr id="4" name="">
            <a:extLst xmlns:a="http://schemas.openxmlformats.org/drawingml/2006/main">
              <a:ext uri="{FF2B5EF4-FFF2-40B4-BE49-F238E27FC236}">
                <a16:creationId xmlns:a16="http://schemas.microsoft.com/office/drawing/2014/main" id="{2BB11860-9CAB-40F3-A0A5-989C9810EB67}"/>
              </a:ext>
            </a:extLst>
          </p:cNvPr>
          <p:cNvSpPr>
            <a:spLocks xmlns:a="http://schemas.openxmlformats.org/drawingml/2006/main" noGrp="1"/>
          </p:cNvSpPr>
          <p:nvPr/>
        </p:nvSpPr>
        <p:spPr>
          <a:xfrm xmlns:a="http://schemas.openxmlformats.org/drawingml/2006/main">
            <a:off x="857250" y="161925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defRPr sz="2175" b="1">
                <a:solidFill>
                  <a:srgbClr val="79D9CB"/>
                </a:solidFill>
              </a:defRPr>
            </a:lvl1pPr>
            <a:lvl2pPr>
              <a:defRPr sz="2175" b="1">
                <a:solidFill>
                  <a:srgbClr val="79D9CB"/>
                </a:solidFill>
              </a:defRPr>
            </a:lvl2pPr>
            <a:lvl3pPr>
              <a:defRPr sz="2175" b="1">
                <a:solidFill>
                  <a:srgbClr val="79D9CB"/>
                </a:solidFill>
              </a:defRPr>
            </a:lvl3pPr>
            <a:lvl4pPr>
              <a:defRPr sz="2175" b="1">
                <a:solidFill>
                  <a:srgbClr val="79D9CB"/>
                </a:solidFill>
              </a:defRPr>
            </a:lvl4pPr>
            <a:lvl5pPr>
              <a:defRPr sz="2175" b="1">
                <a:solidFill>
                  <a:srgbClr val="79D9CB"/>
                </a:solidFill>
              </a:defRPr>
            </a:lvl5pPr>
            <a:lvl6pPr>
              <a:defRPr sz="2175" b="1">
                <a:solidFill>
                  <a:srgbClr val="79D9CB"/>
                </a:solidFill>
              </a:defRPr>
            </a:lvl6pPr>
            <a:lvl7pPr>
              <a:defRPr sz="2175" b="1">
                <a:solidFill>
                  <a:srgbClr val="79D9CB"/>
                </a:solidFill>
              </a:defRPr>
            </a:lvl7pPr>
            <a:lvl8pPr>
              <a:defRPr sz="2175" b="1">
                <a:solidFill>
                  <a:srgbClr val="79D9CB"/>
                </a:solidFill>
              </a:defRPr>
            </a:lvl8pPr>
            <a:lvl9pPr>
              <a:defRPr sz="2175" b="1">
                <a:solidFill>
                  <a:srgbClr val="79D9CB"/>
                </a:solidFill>
              </a:defRPr>
            </a:lvl9pPr>
          </a:lstStyle>
          <a:p xmlns:a="http://schemas.openxmlformats.org/drawingml/2006/main">
            <a:pPr>
              <a:defRPr sz="2175" b="1">
                <a:solidFill>
                  <a:srgbClr val="79D9CB"/>
                </a:solidFill>
              </a:defRPr>
            </a:pPr>
            <a:r>
              <a:rPr sz="2175" b="1">
                <a:solidFill>
                  <a:srgbClr val="79D9CB"/>
                </a:solidFill>
              </a:rPr>
              <a:t>1  İstek ve anahtar</a:t>
            </a:r>
          </a:p>
        </p:txBody>
      </p:sp>
      <p:sp>
        <p:nvSpPr>
          <p:cNvPr id="5" name="">
            <a:extLst xmlns:a="http://schemas.openxmlformats.org/drawingml/2006/main">
              <a:ext uri="{FF2B5EF4-FFF2-40B4-BE49-F238E27FC236}">
                <a16:creationId xmlns:a16="http://schemas.microsoft.com/office/drawing/2014/main" id="{E921680C-0840-4D0C-8036-ECBA740A42C1}"/>
              </a:ext>
            </a:extLst>
          </p:cNvPr>
          <p:cNvSpPr>
            <a:spLocks xmlns:a="http://schemas.openxmlformats.org/drawingml/2006/main" noGrp="1"/>
          </p:cNvSpPr>
          <p:nvPr/>
        </p:nvSpPr>
        <p:spPr>
          <a:xfrm xmlns:a="http://schemas.openxmlformats.org/drawingml/2006/main">
            <a:off x="857250" y="2076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defRPr sz="1800" b="0">
                <a:solidFill>
                  <a:srgbClr val="EAF0F7"/>
                </a:solidFill>
              </a:defRPr>
            </a:lvl1pPr>
            <a:lvl2pPr>
              <a:defRPr sz="1800" b="0">
                <a:solidFill>
                  <a:srgbClr val="EAF0F7"/>
                </a:solidFill>
              </a:defRPr>
            </a:lvl2pPr>
            <a:lvl3pPr>
              <a:defRPr sz="1800" b="0">
                <a:solidFill>
                  <a:srgbClr val="EAF0F7"/>
                </a:solidFill>
              </a:defRPr>
            </a:lvl3pPr>
            <a:lvl4pPr>
              <a:defRPr sz="1800" b="0">
                <a:solidFill>
                  <a:srgbClr val="EAF0F7"/>
                </a:solidFill>
              </a:defRPr>
            </a:lvl4pPr>
            <a:lvl5pPr>
              <a:defRPr sz="1800" b="0">
                <a:solidFill>
                  <a:srgbClr val="EAF0F7"/>
                </a:solidFill>
              </a:defRPr>
            </a:lvl5pPr>
            <a:lvl6pPr>
              <a:defRPr sz="1800" b="0">
                <a:solidFill>
                  <a:srgbClr val="EAF0F7"/>
                </a:solidFill>
              </a:defRPr>
            </a:lvl6pPr>
            <a:lvl7pPr>
              <a:defRPr sz="1800" b="0">
                <a:solidFill>
                  <a:srgbClr val="EAF0F7"/>
                </a:solidFill>
              </a:defRPr>
            </a:lvl7pPr>
            <a:lvl8pPr>
              <a:defRPr sz="1800" b="0">
                <a:solidFill>
                  <a:srgbClr val="EAF0F7"/>
                </a:solidFill>
              </a:defRPr>
            </a:lvl8pPr>
            <a:lvl9pPr>
              <a:defRPr sz="1800" b="0">
                <a:solidFill>
                  <a:srgbClr val="EAF0F7"/>
                </a:solidFill>
              </a:defRPr>
            </a:lvl9pPr>
          </a:lstStyle>
          <a:p xmlns:a="http://schemas.openxmlformats.org/drawingml/2006/main">
            <a:pPr>
              <a:defRPr sz="1800" b="0">
                <a:solidFill>
                  <a:srgbClr val="EAF0F7"/>
                </a:solidFill>
              </a:defRPr>
            </a:pPr>
            <a:r>
              <a:rPr sz="1800" b="0">
                <a:solidFill>
                  <a:srgbClr val="EAF0F7"/>
                </a:solidFill>
              </a:rPr>
              <a:t>Tutar, hesaplar ve Idempotency-Key doğrulanır.</a:t>
            </a:r>
          </a:p>
        </p:txBody>
      </p:sp>
      <p:sp>
        <p:nvSpPr>
          <p:cNvPr id="6" name="">
            <a:extLst xmlns:a="http://schemas.openxmlformats.org/drawingml/2006/main">
              <a:ext uri="{FF2B5EF4-FFF2-40B4-BE49-F238E27FC236}">
                <a16:creationId xmlns:a16="http://schemas.microsoft.com/office/drawing/2014/main" id="{5FDF228E-6931-4BFA-9BE9-C653D665B515}"/>
              </a:ext>
            </a:extLst>
          </p:cNvPr>
          <p:cNvSpPr>
            <a:spLocks xmlns:a="http://schemas.openxmlformats.org/drawingml/2006/main" noGrp="1"/>
          </p:cNvSpPr>
          <p:nvPr/>
        </p:nvSpPr>
        <p:spPr>
          <a:xfrm xmlns:a="http://schemas.openxmlformats.org/drawingml/2006/main">
            <a:off x="857250" y="280987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defRPr sz="2175" b="1">
                <a:solidFill>
                  <a:srgbClr val="79D9CB"/>
                </a:solidFill>
              </a:defRPr>
            </a:lvl1pPr>
            <a:lvl2pPr>
              <a:defRPr sz="2175" b="1">
                <a:solidFill>
                  <a:srgbClr val="79D9CB"/>
                </a:solidFill>
              </a:defRPr>
            </a:lvl2pPr>
            <a:lvl3pPr>
              <a:defRPr sz="2175" b="1">
                <a:solidFill>
                  <a:srgbClr val="79D9CB"/>
                </a:solidFill>
              </a:defRPr>
            </a:lvl3pPr>
            <a:lvl4pPr>
              <a:defRPr sz="2175" b="1">
                <a:solidFill>
                  <a:srgbClr val="79D9CB"/>
                </a:solidFill>
              </a:defRPr>
            </a:lvl4pPr>
            <a:lvl5pPr>
              <a:defRPr sz="2175" b="1">
                <a:solidFill>
                  <a:srgbClr val="79D9CB"/>
                </a:solidFill>
              </a:defRPr>
            </a:lvl5pPr>
            <a:lvl6pPr>
              <a:defRPr sz="2175" b="1">
                <a:solidFill>
                  <a:srgbClr val="79D9CB"/>
                </a:solidFill>
              </a:defRPr>
            </a:lvl6pPr>
            <a:lvl7pPr>
              <a:defRPr sz="2175" b="1">
                <a:solidFill>
                  <a:srgbClr val="79D9CB"/>
                </a:solidFill>
              </a:defRPr>
            </a:lvl7pPr>
            <a:lvl8pPr>
              <a:defRPr sz="2175" b="1">
                <a:solidFill>
                  <a:srgbClr val="79D9CB"/>
                </a:solidFill>
              </a:defRPr>
            </a:lvl8pPr>
            <a:lvl9pPr>
              <a:defRPr sz="2175" b="1">
                <a:solidFill>
                  <a:srgbClr val="79D9CB"/>
                </a:solidFill>
              </a:defRPr>
            </a:lvl9pPr>
          </a:lstStyle>
          <a:p xmlns:a="http://schemas.openxmlformats.org/drawingml/2006/main">
            <a:pPr>
              <a:defRPr sz="2175" b="1">
                <a:solidFill>
                  <a:srgbClr val="79D9CB"/>
                </a:solidFill>
              </a:defRPr>
            </a:pPr>
            <a:r>
              <a:rPr sz="2175" b="1">
                <a:solidFill>
                  <a:srgbClr val="79D9CB"/>
                </a:solidFill>
              </a:rPr>
              <a:t>2  Hesap kilitleri</a:t>
            </a:r>
          </a:p>
        </p:txBody>
      </p:sp>
      <p:sp>
        <p:nvSpPr>
          <p:cNvPr id="7" name="">
            <a:extLst xmlns:a="http://schemas.openxmlformats.org/drawingml/2006/main">
              <a:ext uri="{FF2B5EF4-FFF2-40B4-BE49-F238E27FC236}">
                <a16:creationId xmlns:a16="http://schemas.microsoft.com/office/drawing/2014/main" id="{1DAC671E-8038-4FC8-A1C4-959B251A6FBC}"/>
              </a:ext>
            </a:extLst>
          </p:cNvPr>
          <p:cNvSpPr>
            <a:spLocks xmlns:a="http://schemas.openxmlformats.org/drawingml/2006/main" noGrp="1"/>
          </p:cNvSpPr>
          <p:nvPr/>
        </p:nvSpPr>
        <p:spPr>
          <a:xfrm xmlns:a="http://schemas.openxmlformats.org/drawingml/2006/main">
            <a:off x="857250" y="3267075"/>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defRPr sz="1800" b="0">
                <a:solidFill>
                  <a:srgbClr val="EAF0F7"/>
                </a:solidFill>
              </a:defRPr>
            </a:lvl1pPr>
            <a:lvl2pPr>
              <a:defRPr sz="1800" b="0">
                <a:solidFill>
                  <a:srgbClr val="EAF0F7"/>
                </a:solidFill>
              </a:defRPr>
            </a:lvl2pPr>
            <a:lvl3pPr>
              <a:defRPr sz="1800" b="0">
                <a:solidFill>
                  <a:srgbClr val="EAF0F7"/>
                </a:solidFill>
              </a:defRPr>
            </a:lvl3pPr>
            <a:lvl4pPr>
              <a:defRPr sz="1800" b="0">
                <a:solidFill>
                  <a:srgbClr val="EAF0F7"/>
                </a:solidFill>
              </a:defRPr>
            </a:lvl4pPr>
            <a:lvl5pPr>
              <a:defRPr sz="1800" b="0">
                <a:solidFill>
                  <a:srgbClr val="EAF0F7"/>
                </a:solidFill>
              </a:defRPr>
            </a:lvl5pPr>
            <a:lvl6pPr>
              <a:defRPr sz="1800" b="0">
                <a:solidFill>
                  <a:srgbClr val="EAF0F7"/>
                </a:solidFill>
              </a:defRPr>
            </a:lvl6pPr>
            <a:lvl7pPr>
              <a:defRPr sz="1800" b="0">
                <a:solidFill>
                  <a:srgbClr val="EAF0F7"/>
                </a:solidFill>
              </a:defRPr>
            </a:lvl7pPr>
            <a:lvl8pPr>
              <a:defRPr sz="1800" b="0">
                <a:solidFill>
                  <a:srgbClr val="EAF0F7"/>
                </a:solidFill>
              </a:defRPr>
            </a:lvl8pPr>
            <a:lvl9pPr>
              <a:defRPr sz="1800" b="0">
                <a:solidFill>
                  <a:srgbClr val="EAF0F7"/>
                </a:solidFill>
              </a:defRPr>
            </a:lvl9pPr>
          </a:lstStyle>
          <a:p xmlns:a="http://schemas.openxmlformats.org/drawingml/2006/main">
            <a:pPr>
              <a:defRPr sz="1800" b="0">
                <a:solidFill>
                  <a:srgbClr val="EAF0F7"/>
                </a:solidFill>
              </a:defRPr>
            </a:pPr>
            <a:r>
              <a:rPr sz="1800" b="0">
                <a:solidFill>
                  <a:srgbClr val="EAF0F7"/>
                </a:solidFill>
              </a:rPr>
              <a:t>İki satır UUID sırasıyla PESSIMISTIC_WRITE kilitlenir.</a:t>
            </a:r>
          </a:p>
        </p:txBody>
      </p:sp>
      <p:sp>
        <p:nvSpPr>
          <p:cNvPr id="8" name="">
            <a:extLst xmlns:a="http://schemas.openxmlformats.org/drawingml/2006/main">
              <a:ext uri="{FF2B5EF4-FFF2-40B4-BE49-F238E27FC236}">
                <a16:creationId xmlns:a16="http://schemas.microsoft.com/office/drawing/2014/main" id="{077BF255-9F8B-40CC-B87A-1FCD71D5BEA7}"/>
              </a:ext>
            </a:extLst>
          </p:cNvPr>
          <p:cNvSpPr>
            <a:spLocks xmlns:a="http://schemas.openxmlformats.org/drawingml/2006/main" noGrp="1"/>
          </p:cNvSpPr>
          <p:nvPr/>
        </p:nvSpPr>
        <p:spPr>
          <a:xfrm xmlns:a="http://schemas.openxmlformats.org/drawingml/2006/main">
            <a:off x="857250" y="400050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defRPr sz="2175" b="1">
                <a:solidFill>
                  <a:srgbClr val="79D9CB"/>
                </a:solidFill>
              </a:defRPr>
            </a:lvl1pPr>
            <a:lvl2pPr>
              <a:defRPr sz="2175" b="1">
                <a:solidFill>
                  <a:srgbClr val="79D9CB"/>
                </a:solidFill>
              </a:defRPr>
            </a:lvl2pPr>
            <a:lvl3pPr>
              <a:defRPr sz="2175" b="1">
                <a:solidFill>
                  <a:srgbClr val="79D9CB"/>
                </a:solidFill>
              </a:defRPr>
            </a:lvl3pPr>
            <a:lvl4pPr>
              <a:defRPr sz="2175" b="1">
                <a:solidFill>
                  <a:srgbClr val="79D9CB"/>
                </a:solidFill>
              </a:defRPr>
            </a:lvl4pPr>
            <a:lvl5pPr>
              <a:defRPr sz="2175" b="1">
                <a:solidFill>
                  <a:srgbClr val="79D9CB"/>
                </a:solidFill>
              </a:defRPr>
            </a:lvl5pPr>
            <a:lvl6pPr>
              <a:defRPr sz="2175" b="1">
                <a:solidFill>
                  <a:srgbClr val="79D9CB"/>
                </a:solidFill>
              </a:defRPr>
            </a:lvl6pPr>
            <a:lvl7pPr>
              <a:defRPr sz="2175" b="1">
                <a:solidFill>
                  <a:srgbClr val="79D9CB"/>
                </a:solidFill>
              </a:defRPr>
            </a:lvl7pPr>
            <a:lvl8pPr>
              <a:defRPr sz="2175" b="1">
                <a:solidFill>
                  <a:srgbClr val="79D9CB"/>
                </a:solidFill>
              </a:defRPr>
            </a:lvl8pPr>
            <a:lvl9pPr>
              <a:defRPr sz="2175" b="1">
                <a:solidFill>
                  <a:srgbClr val="79D9CB"/>
                </a:solidFill>
              </a:defRPr>
            </a:lvl9pPr>
          </a:lstStyle>
          <a:p xmlns:a="http://schemas.openxmlformats.org/drawingml/2006/main">
            <a:pPr>
              <a:defRPr sz="2175" b="1">
                <a:solidFill>
                  <a:srgbClr val="79D9CB"/>
                </a:solidFill>
              </a:defRPr>
            </a:pPr>
            <a:r>
              <a:rPr sz="2175" b="1">
                <a:solidFill>
                  <a:srgbClr val="79D9CB"/>
                </a:solidFill>
              </a:rPr>
              <a:t>3  Para ve kayıtlar</a:t>
            </a:r>
          </a:p>
        </p:txBody>
      </p:sp>
      <p:sp>
        <p:nvSpPr>
          <p:cNvPr id="9" name="">
            <a:extLst xmlns:a="http://schemas.openxmlformats.org/drawingml/2006/main">
              <a:ext uri="{FF2B5EF4-FFF2-40B4-BE49-F238E27FC236}">
                <a16:creationId xmlns:a16="http://schemas.microsoft.com/office/drawing/2014/main" id="{685E79E7-89A3-41C4-B224-76FF15C40A42}"/>
              </a:ext>
            </a:extLst>
          </p:cNvPr>
          <p:cNvSpPr>
            <a:spLocks xmlns:a="http://schemas.openxmlformats.org/drawingml/2006/main" noGrp="1"/>
          </p:cNvSpPr>
          <p:nvPr/>
        </p:nvSpPr>
        <p:spPr>
          <a:xfrm xmlns:a="http://schemas.openxmlformats.org/drawingml/2006/main">
            <a:off x="857250" y="44577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defRPr sz="1800" b="0">
                <a:solidFill>
                  <a:srgbClr val="EAF0F7"/>
                </a:solidFill>
              </a:defRPr>
            </a:lvl1pPr>
            <a:lvl2pPr>
              <a:defRPr sz="1800" b="0">
                <a:solidFill>
                  <a:srgbClr val="EAF0F7"/>
                </a:solidFill>
              </a:defRPr>
            </a:lvl2pPr>
            <a:lvl3pPr>
              <a:defRPr sz="1800" b="0">
                <a:solidFill>
                  <a:srgbClr val="EAF0F7"/>
                </a:solidFill>
              </a:defRPr>
            </a:lvl3pPr>
            <a:lvl4pPr>
              <a:defRPr sz="1800" b="0">
                <a:solidFill>
                  <a:srgbClr val="EAF0F7"/>
                </a:solidFill>
              </a:defRPr>
            </a:lvl4pPr>
            <a:lvl5pPr>
              <a:defRPr sz="1800" b="0">
                <a:solidFill>
                  <a:srgbClr val="EAF0F7"/>
                </a:solidFill>
              </a:defRPr>
            </a:lvl5pPr>
            <a:lvl6pPr>
              <a:defRPr sz="1800" b="0">
                <a:solidFill>
                  <a:srgbClr val="EAF0F7"/>
                </a:solidFill>
              </a:defRPr>
            </a:lvl6pPr>
            <a:lvl7pPr>
              <a:defRPr sz="1800" b="0">
                <a:solidFill>
                  <a:srgbClr val="EAF0F7"/>
                </a:solidFill>
              </a:defRPr>
            </a:lvl7pPr>
            <a:lvl8pPr>
              <a:defRPr sz="1800" b="0">
                <a:solidFill>
                  <a:srgbClr val="EAF0F7"/>
                </a:solidFill>
              </a:defRPr>
            </a:lvl8pPr>
            <a:lvl9pPr>
              <a:defRPr sz="1800" b="0">
                <a:solidFill>
                  <a:srgbClr val="EAF0F7"/>
                </a:solidFill>
              </a:defRPr>
            </a:lvl9pPr>
          </a:lstStyle>
          <a:p xmlns:a="http://schemas.openxmlformats.org/drawingml/2006/main">
            <a:pPr>
              <a:defRPr sz="1800" b="0">
                <a:solidFill>
                  <a:srgbClr val="EAF0F7"/>
                </a:solidFill>
              </a:defRPr>
            </a:pPr>
            <a:r>
              <a:rPr sz="1800" b="0">
                <a:solidFill>
                  <a:srgbClr val="EAF0F7"/>
                </a:solidFill>
              </a:rPr>
              <a:t>Bakiye güncellenir; transfer, iki ledger satırı ve Outbox yazılır.</a:t>
            </a:r>
          </a:p>
        </p:txBody>
      </p:sp>
      <p:sp>
        <p:nvSpPr>
          <p:cNvPr id="10" name="">
            <a:extLst xmlns:a="http://schemas.openxmlformats.org/drawingml/2006/main">
              <a:ext uri="{FF2B5EF4-FFF2-40B4-BE49-F238E27FC236}">
                <a16:creationId xmlns:a16="http://schemas.microsoft.com/office/drawing/2014/main" id="{2B7F75CB-F071-460A-8DBC-6EF56ED33726}"/>
              </a:ext>
            </a:extLst>
          </p:cNvPr>
          <p:cNvSpPr>
            <a:spLocks xmlns:a="http://schemas.openxmlformats.org/drawingml/2006/main" noGrp="1"/>
          </p:cNvSpPr>
          <p:nvPr/>
        </p:nvSpPr>
        <p:spPr>
          <a:xfrm xmlns:a="http://schemas.openxmlformats.org/drawingml/2006/main">
            <a:off x="857250" y="528637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F3BA6C"/>
                </a:solidFill>
              </a:defRPr>
            </a:defPPr>
            <a:lvl1pPr>
              <a:defRPr sz="2175" b="1">
                <a:solidFill>
                  <a:srgbClr val="F3BA6C"/>
                </a:solidFill>
              </a:defRPr>
            </a:lvl1pPr>
            <a:lvl2pPr>
              <a:defRPr sz="2175" b="1">
                <a:solidFill>
                  <a:srgbClr val="F3BA6C"/>
                </a:solidFill>
              </a:defRPr>
            </a:lvl2pPr>
            <a:lvl3pPr>
              <a:defRPr sz="2175" b="1">
                <a:solidFill>
                  <a:srgbClr val="F3BA6C"/>
                </a:solidFill>
              </a:defRPr>
            </a:lvl3pPr>
            <a:lvl4pPr>
              <a:defRPr sz="2175" b="1">
                <a:solidFill>
                  <a:srgbClr val="F3BA6C"/>
                </a:solidFill>
              </a:defRPr>
            </a:lvl4pPr>
            <a:lvl5pPr>
              <a:defRPr sz="2175" b="1">
                <a:solidFill>
                  <a:srgbClr val="F3BA6C"/>
                </a:solidFill>
              </a:defRPr>
            </a:lvl5pPr>
            <a:lvl6pPr>
              <a:defRPr sz="2175" b="1">
                <a:solidFill>
                  <a:srgbClr val="F3BA6C"/>
                </a:solidFill>
              </a:defRPr>
            </a:lvl6pPr>
            <a:lvl7pPr>
              <a:defRPr sz="2175" b="1">
                <a:solidFill>
                  <a:srgbClr val="F3BA6C"/>
                </a:solidFill>
              </a:defRPr>
            </a:lvl7pPr>
            <a:lvl8pPr>
              <a:defRPr sz="2175" b="1">
                <a:solidFill>
                  <a:srgbClr val="F3BA6C"/>
                </a:solidFill>
              </a:defRPr>
            </a:lvl8pPr>
            <a:lvl9pPr>
              <a:defRPr sz="2175" b="1">
                <a:solidFill>
                  <a:srgbClr val="F3BA6C"/>
                </a:solidFill>
              </a:defRPr>
            </a:lvl9pPr>
          </a:lstStyle>
          <a:p xmlns:a="http://schemas.openxmlformats.org/drawingml/2006/main">
            <a:pPr>
              <a:defRPr sz="2175" b="1">
                <a:solidFill>
                  <a:srgbClr val="F3BA6C"/>
                </a:solidFill>
              </a:defRPr>
            </a:pPr>
            <a:r>
              <a:rPr sz="2175" b="1">
                <a:solidFill>
                  <a:srgbClr val="F3BA6C"/>
                </a:solidFill>
              </a:rPr>
              <a:t>4  Tek commit</a:t>
            </a:r>
          </a:p>
        </p:txBody>
      </p:sp>
      <p:sp>
        <p:nvSpPr>
          <p:cNvPr id="11" name="">
            <a:extLst xmlns:a="http://schemas.openxmlformats.org/drawingml/2006/main">
              <a:ext uri="{FF2B5EF4-FFF2-40B4-BE49-F238E27FC236}">
                <a16:creationId xmlns:a16="http://schemas.microsoft.com/office/drawing/2014/main" id="{75AC6C0E-890F-4E34-ADDF-DE38A65A8B74}"/>
              </a:ext>
            </a:extLst>
          </p:cNvPr>
          <p:cNvSpPr>
            <a:spLocks xmlns:a="http://schemas.openxmlformats.org/drawingml/2006/main" noGrp="1"/>
          </p:cNvSpPr>
          <p:nvPr/>
        </p:nvSpPr>
        <p:spPr>
          <a:xfrm xmlns:a="http://schemas.openxmlformats.org/drawingml/2006/main">
            <a:off x="857250" y="5724525"/>
            <a:ext cx="9810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defRPr sz="1800" b="0">
                <a:solidFill>
                  <a:srgbClr val="EAF0F7"/>
                </a:solidFill>
              </a:defRPr>
            </a:lvl1pPr>
            <a:lvl2pPr>
              <a:defRPr sz="1800" b="0">
                <a:solidFill>
                  <a:srgbClr val="EAF0F7"/>
                </a:solidFill>
              </a:defRPr>
            </a:lvl2pPr>
            <a:lvl3pPr>
              <a:defRPr sz="1800" b="0">
                <a:solidFill>
                  <a:srgbClr val="EAF0F7"/>
                </a:solidFill>
              </a:defRPr>
            </a:lvl3pPr>
            <a:lvl4pPr>
              <a:defRPr sz="1800" b="0">
                <a:solidFill>
                  <a:srgbClr val="EAF0F7"/>
                </a:solidFill>
              </a:defRPr>
            </a:lvl4pPr>
            <a:lvl5pPr>
              <a:defRPr sz="1800" b="0">
                <a:solidFill>
                  <a:srgbClr val="EAF0F7"/>
                </a:solidFill>
              </a:defRPr>
            </a:lvl5pPr>
            <a:lvl6pPr>
              <a:defRPr sz="1800" b="0">
                <a:solidFill>
                  <a:srgbClr val="EAF0F7"/>
                </a:solidFill>
              </a:defRPr>
            </a:lvl6pPr>
            <a:lvl7pPr>
              <a:defRPr sz="1800" b="0">
                <a:solidFill>
                  <a:srgbClr val="EAF0F7"/>
                </a:solidFill>
              </a:defRPr>
            </a:lvl7pPr>
            <a:lvl8pPr>
              <a:defRPr sz="1800" b="0">
                <a:solidFill>
                  <a:srgbClr val="EAF0F7"/>
                </a:solidFill>
              </a:defRPr>
            </a:lvl8pPr>
            <a:lvl9pPr>
              <a:defRPr sz="1800" b="0">
                <a:solidFill>
                  <a:srgbClr val="EAF0F7"/>
                </a:solidFill>
              </a:defRPr>
            </a:lvl9pPr>
          </a:lstStyle>
          <a:p xmlns:a="http://schemas.openxmlformats.org/drawingml/2006/main">
            <a:pPr>
              <a:defRPr sz="1800" b="0">
                <a:solidFill>
                  <a:srgbClr val="EAF0F7"/>
                </a:solidFill>
              </a:defRPr>
            </a:pPr>
            <a:r>
              <a:rPr sz="1800" b="0">
                <a:solidFill>
                  <a:srgbClr val="EAF0F7"/>
                </a:solidFill>
              </a:rPr>
              <a:t>Hata varsa bütün finansal yazımlar geri alınır.</a:t>
            </a:r>
          </a:p>
        </p:txBody>
      </p:sp>
    </p:spTree>
    <p:extLst>
      <p:ext uri="{BB962C8B-B14F-4D97-AF65-F5344CB8AC3E}">
        <p14:creationId xmlns:p14="http://schemas.microsoft.com/office/powerpoint/2010/main" val="396239958"/>
      </p:ext>
    </p:extLst>
  </p:cSld>
</p:sld>
</file>

<file path=ppt/slides/slide8.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07520D-138F-4F1D-A9DF-7AE008D0DF17}"/>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Eşzamanlılık ve tekrar deneme</a:t>
            </a:r>
          </a:p>
        </p:txBody>
      </p:sp>
      <p:sp>
        <p:nvSpPr>
          <p:cNvPr id="3" name="">
            <a:extLst xmlns:a="http://schemas.openxmlformats.org/drawingml/2006/main">
              <a:ext uri="{FF2B5EF4-FFF2-40B4-BE49-F238E27FC236}">
                <a16:creationId xmlns:a16="http://schemas.microsoft.com/office/drawing/2014/main" id="{91C9EF18-8105-41E6-A178-620DC07296E7}"/>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08</a:t>
            </a:r>
          </a:p>
        </p:txBody>
      </p:sp>
      <p:sp>
        <p:nvSpPr>
          <p:cNvPr id="4" name="">
            <a:extLst xmlns:a="http://schemas.openxmlformats.org/drawingml/2006/main">
              <a:ext uri="{FF2B5EF4-FFF2-40B4-BE49-F238E27FC236}">
                <a16:creationId xmlns:a16="http://schemas.microsoft.com/office/drawing/2014/main" id="{FCB128B1-A7F2-40D6-9DBA-05C2C8E96AA4}"/>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Aynı hesaptan iki istek</a:t>
            </a:r>
          </a:p>
        </p:txBody>
      </p:sp>
      <p:sp>
        <p:nvSpPr>
          <p:cNvPr id="5" name="">
            <a:extLst xmlns:a="http://schemas.openxmlformats.org/drawingml/2006/main">
              <a:ext uri="{FF2B5EF4-FFF2-40B4-BE49-F238E27FC236}">
                <a16:creationId xmlns:a16="http://schemas.microsoft.com/office/drawing/2014/main" id="{4B42935A-786F-4B9A-A946-3CDF30C1FD8E}"/>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Başlangıç: 1.000 TRY</a:t>
            </a:r>
          </a:p>
          <a:p xmlns:a="http://schemas.openxmlformats.org/drawingml/2006/main">
            <a:r>
              <a:t/>
            </a:r>
          </a:p>
          <a:p xmlns:a="http://schemas.openxmlformats.org/drawingml/2006/main">
            <a:pPr>
              <a:defRPr sz="1725" b="0">
                <a:solidFill>
                  <a:srgbClr val="EAF0F7"/>
                </a:solidFill>
              </a:defRPr>
            </a:pPr>
            <a:r>
              <a:rPr sz="1725" b="0">
                <a:solidFill>
                  <a:srgbClr val="EAF0F7"/>
                </a:solidFill>
              </a:rPr>
              <a:t>İki ayrı istek: 800 + 800 TRY</a:t>
            </a:r>
          </a:p>
          <a:p xmlns:a="http://schemas.openxmlformats.org/drawingml/2006/main">
            <a:r>
              <a:t/>
            </a:r>
          </a:p>
          <a:p xmlns:a="http://schemas.openxmlformats.org/drawingml/2006/main">
            <a:pPr>
              <a:defRPr sz="1725" b="0">
                <a:solidFill>
                  <a:srgbClr val="EAF0F7"/>
                </a:solidFill>
              </a:defRPr>
            </a:pPr>
            <a:r>
              <a:rPr sz="1725" b="0">
                <a:solidFill>
                  <a:srgbClr val="EAF0F7"/>
                </a:solidFill>
              </a:rPr>
              <a:t>Biri tamamlanır, diğeri yetersiz bakiye alır.</a:t>
            </a:r>
          </a:p>
        </p:txBody>
      </p:sp>
      <p:sp>
        <p:nvSpPr>
          <p:cNvPr id="6" name="">
            <a:extLst xmlns:a="http://schemas.openxmlformats.org/drawingml/2006/main">
              <a:ext uri="{FF2B5EF4-FFF2-40B4-BE49-F238E27FC236}">
                <a16:creationId xmlns:a16="http://schemas.microsoft.com/office/drawing/2014/main" id="{8665F378-FA85-4878-A5C9-30C2BA0B75E9}"/>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Kilit sırası</a:t>
            </a:r>
          </a:p>
        </p:txBody>
      </p:sp>
      <p:sp>
        <p:nvSpPr>
          <p:cNvPr id="7" name="">
            <a:extLst xmlns:a="http://schemas.openxmlformats.org/drawingml/2006/main">
              <a:ext uri="{FF2B5EF4-FFF2-40B4-BE49-F238E27FC236}">
                <a16:creationId xmlns:a16="http://schemas.microsoft.com/office/drawing/2014/main" id="{62EB5164-29C6-4C56-9531-3BD89A0509CB}"/>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Hesap satırları UUID sırasıyla kilitlenir.</a:t>
            </a:r>
          </a:p>
          <a:p xmlns:a="http://schemas.openxmlformats.org/drawingml/2006/main">
            <a:r>
              <a:t/>
            </a:r>
          </a:p>
          <a:p xmlns:a="http://schemas.openxmlformats.org/drawingml/2006/main">
            <a:pPr>
              <a:defRPr sz="1725" b="0">
                <a:solidFill>
                  <a:srgbClr val="EAF0F7"/>
                </a:solidFill>
              </a:defRPr>
            </a:pPr>
            <a:r>
              <a:rPr sz="1725" b="0">
                <a:solidFill>
                  <a:srgbClr val="EAF0F7"/>
                </a:solidFill>
              </a:rPr>
              <a:t>A → B ve B → A aynı sırayı izler.</a:t>
            </a:r>
          </a:p>
        </p:txBody>
      </p:sp>
      <p:sp>
        <p:nvSpPr>
          <p:cNvPr id="8" name="">
            <a:extLst xmlns:a="http://schemas.openxmlformats.org/drawingml/2006/main">
              <a:ext uri="{FF2B5EF4-FFF2-40B4-BE49-F238E27FC236}">
                <a16:creationId xmlns:a16="http://schemas.microsoft.com/office/drawing/2014/main" id="{E2F6C664-EE03-459A-9CB3-1A5E82E6D483}"/>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Idempotency</a:t>
            </a:r>
          </a:p>
        </p:txBody>
      </p:sp>
      <p:sp>
        <p:nvSpPr>
          <p:cNvPr id="9" name="">
            <a:extLst xmlns:a="http://schemas.openxmlformats.org/drawingml/2006/main">
              <a:ext uri="{FF2B5EF4-FFF2-40B4-BE49-F238E27FC236}">
                <a16:creationId xmlns:a16="http://schemas.microsoft.com/office/drawing/2014/main" id="{E79AB489-59C6-4FD7-B43B-E6BF0F386AE2}"/>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Aynı anahtar + aynı içerik: aynı transfer</a:t>
            </a:r>
          </a:p>
          <a:p xmlns:a="http://schemas.openxmlformats.org/drawingml/2006/main">
            <a:r>
              <a:t/>
            </a:r>
          </a:p>
          <a:p xmlns:a="http://schemas.openxmlformats.org/drawingml/2006/main">
            <a:pPr>
              <a:defRPr sz="1725" b="0">
                <a:solidFill>
                  <a:srgbClr val="EAF0F7"/>
                </a:solidFill>
              </a:defRPr>
            </a:pPr>
            <a:r>
              <a:rPr sz="1725" b="0">
                <a:solidFill>
                  <a:srgbClr val="EAF0F7"/>
                </a:solidFill>
              </a:rPr>
              <a:t>Aynı anahtar + farklı içerik: 409</a:t>
            </a:r>
          </a:p>
        </p:txBody>
      </p:sp>
      <p:sp>
        <p:nvSpPr>
          <p:cNvPr id="10" name="">
            <a:extLst xmlns:a="http://schemas.openxmlformats.org/drawingml/2006/main">
              <a:ext uri="{FF2B5EF4-FFF2-40B4-BE49-F238E27FC236}">
                <a16:creationId xmlns:a16="http://schemas.microsoft.com/office/drawing/2014/main" id="{E3741A7D-3257-483D-B429-93CC3AF7A542}"/>
              </a:ext>
            </a:extLst>
          </p:cNvPr>
          <p:cNvSpPr>
            <a:spLocks xmlns:a="http://schemas.openxmlformats.org/drawingml/2006/main" noGrp="1"/>
          </p:cNvSpPr>
          <p:nvPr/>
        </p:nvSpPr>
        <p:spPr>
          <a:xfrm xmlns:a="http://schemas.openxmlformats.org/drawingml/2006/main">
            <a:off x="857250" y="54292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BFCBDD"/>
                </a:solidFill>
              </a:defRPr>
            </a:defPPr>
            <a:lvl1pPr>
              <a:defRPr sz="1725" b="0">
                <a:solidFill>
                  <a:srgbClr val="BFCBDD"/>
                </a:solidFill>
              </a:defRPr>
            </a:lvl1pPr>
            <a:lvl2pPr>
              <a:defRPr sz="1725" b="0">
                <a:solidFill>
                  <a:srgbClr val="BFCBDD"/>
                </a:solidFill>
              </a:defRPr>
            </a:lvl2pPr>
            <a:lvl3pPr>
              <a:defRPr sz="1725" b="0">
                <a:solidFill>
                  <a:srgbClr val="BFCBDD"/>
                </a:solidFill>
              </a:defRPr>
            </a:lvl3pPr>
            <a:lvl4pPr>
              <a:defRPr sz="1725" b="0">
                <a:solidFill>
                  <a:srgbClr val="BFCBDD"/>
                </a:solidFill>
              </a:defRPr>
            </a:lvl4pPr>
            <a:lvl5pPr>
              <a:defRPr sz="1725" b="0">
                <a:solidFill>
                  <a:srgbClr val="BFCBDD"/>
                </a:solidFill>
              </a:defRPr>
            </a:lvl5pPr>
            <a:lvl6pPr>
              <a:defRPr sz="1725" b="0">
                <a:solidFill>
                  <a:srgbClr val="BFCBDD"/>
                </a:solidFill>
              </a:defRPr>
            </a:lvl6pPr>
            <a:lvl7pPr>
              <a:defRPr sz="1725" b="0">
                <a:solidFill>
                  <a:srgbClr val="BFCBDD"/>
                </a:solidFill>
              </a:defRPr>
            </a:lvl7pPr>
            <a:lvl8pPr>
              <a:defRPr sz="1725" b="0">
                <a:solidFill>
                  <a:srgbClr val="BFCBDD"/>
                </a:solidFill>
              </a:defRPr>
            </a:lvl8pPr>
            <a:lvl9pPr>
              <a:defRPr sz="1725" b="0">
                <a:solidFill>
                  <a:srgbClr val="BFCBDD"/>
                </a:solidFill>
              </a:defRPr>
            </a:lvl9pPr>
          </a:lstStyle>
          <a:p xmlns:a="http://schemas.openxmlformats.org/drawingml/2006/main">
            <a:pPr>
              <a:defRPr sz="1725" b="0">
                <a:solidFill>
                  <a:srgbClr val="BFCBDD"/>
                </a:solidFill>
              </a:defRPr>
            </a:pPr>
            <a:r>
              <a:rPr sz="1725" b="0">
                <a:solidFill>
                  <a:srgbClr val="BFCBDD"/>
                </a:solidFill>
              </a:rPr>
              <a:t>Veritabanındaki unique kısıt, eşzamanlı tekrarlar için son savunma katmanıdır.</a:t>
            </a:r>
          </a:p>
        </p:txBody>
      </p:sp>
    </p:spTree>
    <p:extLst>
      <p:ext uri="{BB962C8B-B14F-4D97-AF65-F5344CB8AC3E}">
        <p14:creationId xmlns:p14="http://schemas.microsoft.com/office/powerpoint/2010/main" val="13653492"/>
      </p:ext>
    </p:extLst>
  </p:cSld>
</p:sld>
</file>

<file path=ppt/slides/slide9.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197C4E4-BB2F-4FD2-8DE3-7C7EB69BE9F8}"/>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Muhasebe ve invariantlar</a:t>
            </a:r>
          </a:p>
        </p:txBody>
      </p:sp>
      <p:sp>
        <p:nvSpPr>
          <p:cNvPr id="3" name="">
            <a:extLst xmlns:a="http://schemas.openxmlformats.org/drawingml/2006/main">
              <a:ext uri="{FF2B5EF4-FFF2-40B4-BE49-F238E27FC236}">
                <a16:creationId xmlns:a16="http://schemas.microsoft.com/office/drawing/2014/main" id="{FA2180F2-98E5-407C-9F4F-4E5E1CC810D0}"/>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09</a:t>
            </a:r>
          </a:p>
        </p:txBody>
      </p:sp>
      <p:sp>
        <p:nvSpPr>
          <p:cNvPr id="4" name="">
            <a:extLst xmlns:a="http://schemas.openxmlformats.org/drawingml/2006/main">
              <a:ext uri="{FF2B5EF4-FFF2-40B4-BE49-F238E27FC236}">
                <a16:creationId xmlns:a16="http://schemas.microsoft.com/office/drawing/2014/main" id="{DEAA8E9F-9B61-45FC-AC02-CDA5E7E158D9}"/>
              </a:ext>
            </a:extLst>
          </p:cNvPr>
          <p:cNvSpPr>
            <a:spLocks xmlns:a="http://schemas.openxmlformats.org/drawingml/2006/main" noGrp="1"/>
          </p:cNvSpPr>
          <p:nvPr/>
        </p:nvSpPr>
        <p:spPr>
          <a:xfrm xmlns:a="http://schemas.openxmlformats.org/drawingml/2006/main">
            <a:off x="857250" y="1581150"/>
            <a:ext cx="762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defRPr sz="2250" b="1">
                <a:solidFill>
                  <a:srgbClr val="79D9CB"/>
                </a:solidFill>
              </a:defRPr>
            </a:lvl1pPr>
            <a:lvl2pPr>
              <a:defRPr sz="2250" b="1">
                <a:solidFill>
                  <a:srgbClr val="79D9CB"/>
                </a:solidFill>
              </a:defRPr>
            </a:lvl2pPr>
            <a:lvl3pPr>
              <a:defRPr sz="2250" b="1">
                <a:solidFill>
                  <a:srgbClr val="79D9CB"/>
                </a:solidFill>
              </a:defRPr>
            </a:lvl3pPr>
            <a:lvl4pPr>
              <a:defRPr sz="2250" b="1">
                <a:solidFill>
                  <a:srgbClr val="79D9CB"/>
                </a:solidFill>
              </a:defRPr>
            </a:lvl4pPr>
            <a:lvl5pPr>
              <a:defRPr sz="2250" b="1">
                <a:solidFill>
                  <a:srgbClr val="79D9CB"/>
                </a:solidFill>
              </a:defRPr>
            </a:lvl5pPr>
            <a:lvl6pPr>
              <a:defRPr sz="2250" b="1">
                <a:solidFill>
                  <a:srgbClr val="79D9CB"/>
                </a:solidFill>
              </a:defRPr>
            </a:lvl6pPr>
            <a:lvl7pPr>
              <a:defRPr sz="2250" b="1">
                <a:solidFill>
                  <a:srgbClr val="79D9CB"/>
                </a:solidFill>
              </a:defRPr>
            </a:lvl7pPr>
            <a:lvl8pPr>
              <a:defRPr sz="2250" b="1">
                <a:solidFill>
                  <a:srgbClr val="79D9CB"/>
                </a:solidFill>
              </a:defRPr>
            </a:lvl8pPr>
            <a:lvl9pPr>
              <a:defRPr sz="2250" b="1">
                <a:solidFill>
                  <a:srgbClr val="79D9CB"/>
                </a:solidFill>
              </a:defRPr>
            </a:lvl9pPr>
          </a:lstStyle>
          <a:p xmlns:a="http://schemas.openxmlformats.org/drawingml/2006/main">
            <a:pPr>
              <a:defRPr sz="2250" b="1">
                <a:solidFill>
                  <a:srgbClr val="79D9CB"/>
                </a:solidFill>
              </a:defRPr>
            </a:pPr>
            <a:r>
              <a:rPr sz="2250" b="1">
                <a:solidFill>
                  <a:srgbClr val="79D9CB"/>
                </a:solidFill>
              </a:rPr>
              <a:t>200 TRY transfer örneği</a:t>
            </a:r>
          </a:p>
        </p:txBody>
      </p:sp>
      <p:sp>
        <p:nvSpPr>
          <p:cNvPr id="5" name="">
            <a:extLst xmlns:a="http://schemas.openxmlformats.org/drawingml/2006/main">
              <a:ext uri="{FF2B5EF4-FFF2-40B4-BE49-F238E27FC236}">
                <a16:creationId xmlns:a16="http://schemas.microsoft.com/office/drawing/2014/main" id="{69140B39-4515-4442-9B49-F3A7589942B1}"/>
              </a:ext>
            </a:extLst>
          </p:cNvPr>
          <p:cNvSpPr>
            <a:spLocks xmlns:a="http://schemas.openxmlformats.org/drawingml/2006/main" noGrp="1"/>
          </p:cNvSpPr>
          <p:nvPr/>
        </p:nvSpPr>
        <p:spPr>
          <a:xfrm xmlns:a="http://schemas.openxmlformats.org/drawingml/2006/main">
            <a:off x="857250" y="2381250"/>
            <a:ext cx="628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75" b="0">
                <a:solidFill>
                  <a:srgbClr val="EAF0F7"/>
                </a:solidFill>
              </a:defRPr>
            </a:defPPr>
            <a:lvl1pPr>
              <a:defRPr sz="2475" b="0">
                <a:solidFill>
                  <a:srgbClr val="EAF0F7"/>
                </a:solidFill>
              </a:defRPr>
            </a:lvl1pPr>
            <a:lvl2pPr>
              <a:defRPr sz="2475" b="0">
                <a:solidFill>
                  <a:srgbClr val="EAF0F7"/>
                </a:solidFill>
              </a:defRPr>
            </a:lvl2pPr>
            <a:lvl3pPr>
              <a:defRPr sz="2475" b="0">
                <a:solidFill>
                  <a:srgbClr val="EAF0F7"/>
                </a:solidFill>
              </a:defRPr>
            </a:lvl3pPr>
            <a:lvl4pPr>
              <a:defRPr sz="2475" b="0">
                <a:solidFill>
                  <a:srgbClr val="EAF0F7"/>
                </a:solidFill>
              </a:defRPr>
            </a:lvl4pPr>
            <a:lvl5pPr>
              <a:defRPr sz="2475" b="0">
                <a:solidFill>
                  <a:srgbClr val="EAF0F7"/>
                </a:solidFill>
              </a:defRPr>
            </a:lvl5pPr>
            <a:lvl6pPr>
              <a:defRPr sz="2475" b="0">
                <a:solidFill>
                  <a:srgbClr val="EAF0F7"/>
                </a:solidFill>
              </a:defRPr>
            </a:lvl6pPr>
            <a:lvl7pPr>
              <a:defRPr sz="2475" b="0">
                <a:solidFill>
                  <a:srgbClr val="EAF0F7"/>
                </a:solidFill>
              </a:defRPr>
            </a:lvl7pPr>
            <a:lvl8pPr>
              <a:defRPr sz="2475" b="0">
                <a:solidFill>
                  <a:srgbClr val="EAF0F7"/>
                </a:solidFill>
              </a:defRPr>
            </a:lvl8pPr>
            <a:lvl9pPr>
              <a:defRPr sz="2475" b="0">
                <a:solidFill>
                  <a:srgbClr val="EAF0F7"/>
                </a:solidFill>
              </a:defRPr>
            </a:lvl9pPr>
          </a:lstStyle>
          <a:p xmlns:a="http://schemas.openxmlformats.org/drawingml/2006/main">
            <a:pPr>
              <a:defRPr sz="2475" b="0">
                <a:solidFill>
                  <a:srgbClr val="EAF0F7"/>
                </a:solidFill>
              </a:defRPr>
            </a:pPr>
            <a:r>
              <a:rPr sz="2475" b="0">
                <a:solidFill>
                  <a:srgbClr val="EAF0F7"/>
                </a:solidFill>
              </a:rPr>
              <a:t>Gönderen     1.000 → 800 TRY</a:t>
            </a:r>
          </a:p>
        </p:txBody>
      </p:sp>
      <p:sp>
        <p:nvSpPr>
          <p:cNvPr id="6" name="">
            <a:extLst xmlns:a="http://schemas.openxmlformats.org/drawingml/2006/main">
              <a:ext uri="{FF2B5EF4-FFF2-40B4-BE49-F238E27FC236}">
                <a16:creationId xmlns:a16="http://schemas.microsoft.com/office/drawing/2014/main" id="{B74F15AF-BEF4-430A-ACD6-19743D30B7D9}"/>
              </a:ext>
            </a:extLst>
          </p:cNvPr>
          <p:cNvSpPr>
            <a:spLocks xmlns:a="http://schemas.openxmlformats.org/drawingml/2006/main" noGrp="1"/>
          </p:cNvSpPr>
          <p:nvPr/>
        </p:nvSpPr>
        <p:spPr>
          <a:xfrm xmlns:a="http://schemas.openxmlformats.org/drawingml/2006/main">
            <a:off x="857250" y="3133725"/>
            <a:ext cx="628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75" b="0">
                <a:solidFill>
                  <a:srgbClr val="EAF0F7"/>
                </a:solidFill>
              </a:defRPr>
            </a:defPPr>
            <a:lvl1pPr>
              <a:defRPr sz="2475" b="0">
                <a:solidFill>
                  <a:srgbClr val="EAF0F7"/>
                </a:solidFill>
              </a:defRPr>
            </a:lvl1pPr>
            <a:lvl2pPr>
              <a:defRPr sz="2475" b="0">
                <a:solidFill>
                  <a:srgbClr val="EAF0F7"/>
                </a:solidFill>
              </a:defRPr>
            </a:lvl2pPr>
            <a:lvl3pPr>
              <a:defRPr sz="2475" b="0">
                <a:solidFill>
                  <a:srgbClr val="EAF0F7"/>
                </a:solidFill>
              </a:defRPr>
            </a:lvl3pPr>
            <a:lvl4pPr>
              <a:defRPr sz="2475" b="0">
                <a:solidFill>
                  <a:srgbClr val="EAF0F7"/>
                </a:solidFill>
              </a:defRPr>
            </a:lvl4pPr>
            <a:lvl5pPr>
              <a:defRPr sz="2475" b="0">
                <a:solidFill>
                  <a:srgbClr val="EAF0F7"/>
                </a:solidFill>
              </a:defRPr>
            </a:lvl5pPr>
            <a:lvl6pPr>
              <a:defRPr sz="2475" b="0">
                <a:solidFill>
                  <a:srgbClr val="EAF0F7"/>
                </a:solidFill>
              </a:defRPr>
            </a:lvl6pPr>
            <a:lvl7pPr>
              <a:defRPr sz="2475" b="0">
                <a:solidFill>
                  <a:srgbClr val="EAF0F7"/>
                </a:solidFill>
              </a:defRPr>
            </a:lvl7pPr>
            <a:lvl8pPr>
              <a:defRPr sz="2475" b="0">
                <a:solidFill>
                  <a:srgbClr val="EAF0F7"/>
                </a:solidFill>
              </a:defRPr>
            </a:lvl8pPr>
            <a:lvl9pPr>
              <a:defRPr sz="2475" b="0">
                <a:solidFill>
                  <a:srgbClr val="EAF0F7"/>
                </a:solidFill>
              </a:defRPr>
            </a:lvl9pPr>
          </a:lstStyle>
          <a:p xmlns:a="http://schemas.openxmlformats.org/drawingml/2006/main">
            <a:pPr>
              <a:defRPr sz="2475" b="0">
                <a:solidFill>
                  <a:srgbClr val="EAF0F7"/>
                </a:solidFill>
              </a:defRPr>
            </a:pPr>
            <a:r>
              <a:rPr sz="2475" b="0">
                <a:solidFill>
                  <a:srgbClr val="EAF0F7"/>
                </a:solidFill>
              </a:rPr>
              <a:t>Alıcı                  0 → 200 TRY</a:t>
            </a:r>
          </a:p>
        </p:txBody>
      </p:sp>
      <p:sp>
        <p:nvSpPr>
          <p:cNvPr id="7" name="">
            <a:extLst xmlns:a="http://schemas.openxmlformats.org/drawingml/2006/main">
              <a:ext uri="{FF2B5EF4-FFF2-40B4-BE49-F238E27FC236}">
                <a16:creationId xmlns:a16="http://schemas.microsoft.com/office/drawing/2014/main" id="{5990E703-6661-4CCF-8E0A-112D0F762500}"/>
              </a:ext>
            </a:extLst>
          </p:cNvPr>
          <p:cNvSpPr>
            <a:spLocks xmlns:a="http://schemas.openxmlformats.org/drawingml/2006/main" noGrp="1"/>
          </p:cNvSpPr>
          <p:nvPr/>
        </p:nvSpPr>
        <p:spPr>
          <a:xfrm xmlns:a="http://schemas.openxmlformats.org/drawingml/2006/main">
            <a:off x="857250" y="3886200"/>
            <a:ext cx="981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75" b="1">
                <a:solidFill>
                  <a:srgbClr val="F3BA6C"/>
                </a:solidFill>
              </a:defRPr>
            </a:defPPr>
            <a:lvl1pPr>
              <a:defRPr sz="2475" b="1">
                <a:solidFill>
                  <a:srgbClr val="F3BA6C"/>
                </a:solidFill>
              </a:defRPr>
            </a:lvl1pPr>
            <a:lvl2pPr>
              <a:defRPr sz="2475" b="1">
                <a:solidFill>
                  <a:srgbClr val="F3BA6C"/>
                </a:solidFill>
              </a:defRPr>
            </a:lvl2pPr>
            <a:lvl3pPr>
              <a:defRPr sz="2475" b="1">
                <a:solidFill>
                  <a:srgbClr val="F3BA6C"/>
                </a:solidFill>
              </a:defRPr>
            </a:lvl3pPr>
            <a:lvl4pPr>
              <a:defRPr sz="2475" b="1">
                <a:solidFill>
                  <a:srgbClr val="F3BA6C"/>
                </a:solidFill>
              </a:defRPr>
            </a:lvl4pPr>
            <a:lvl5pPr>
              <a:defRPr sz="2475" b="1">
                <a:solidFill>
                  <a:srgbClr val="F3BA6C"/>
                </a:solidFill>
              </a:defRPr>
            </a:lvl5pPr>
            <a:lvl6pPr>
              <a:defRPr sz="2475" b="1">
                <a:solidFill>
                  <a:srgbClr val="F3BA6C"/>
                </a:solidFill>
              </a:defRPr>
            </a:lvl6pPr>
            <a:lvl7pPr>
              <a:defRPr sz="2475" b="1">
                <a:solidFill>
                  <a:srgbClr val="F3BA6C"/>
                </a:solidFill>
              </a:defRPr>
            </a:lvl7pPr>
            <a:lvl8pPr>
              <a:defRPr sz="2475" b="1">
                <a:solidFill>
                  <a:srgbClr val="F3BA6C"/>
                </a:solidFill>
              </a:defRPr>
            </a:lvl8pPr>
            <a:lvl9pPr>
              <a:defRPr sz="2475" b="1">
                <a:solidFill>
                  <a:srgbClr val="F3BA6C"/>
                </a:solidFill>
              </a:defRPr>
            </a:lvl9pPr>
          </a:lstStyle>
          <a:p xmlns:a="http://schemas.openxmlformats.org/drawingml/2006/main">
            <a:pPr>
              <a:defRPr sz="2475" b="1">
                <a:solidFill>
                  <a:srgbClr val="F3BA6C"/>
                </a:solidFill>
              </a:defRPr>
            </a:pPr>
            <a:r>
              <a:rPr sz="2475" b="1">
                <a:solidFill>
                  <a:srgbClr val="F3BA6C"/>
                </a:solidFill>
              </a:rPr>
              <a:t>Ledger           DEBIT 200 + CREDIT 200</a:t>
            </a:r>
          </a:p>
        </p:txBody>
      </p:sp>
      <p:sp>
        <p:nvSpPr>
          <p:cNvPr id="8" name="">
            <a:extLst xmlns:a="http://schemas.openxmlformats.org/drawingml/2006/main">
              <a:ext uri="{FF2B5EF4-FFF2-40B4-BE49-F238E27FC236}">
                <a16:creationId xmlns:a16="http://schemas.microsoft.com/office/drawing/2014/main" id="{93D35F26-861B-495C-ACF8-1EAF31C32064}"/>
              </a:ext>
            </a:extLst>
          </p:cNvPr>
          <p:cNvSpPr>
            <a:spLocks xmlns:a="http://schemas.openxmlformats.org/drawingml/2006/main" noGrp="1"/>
          </p:cNvSpPr>
          <p:nvPr/>
        </p:nvSpPr>
        <p:spPr>
          <a:xfrm xmlns:a="http://schemas.openxmlformats.org/drawingml/2006/main">
            <a:off x="857250" y="5000625"/>
            <a:ext cx="1000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BFCBDD"/>
                </a:solidFill>
              </a:defRPr>
            </a:defPPr>
            <a:lvl1pPr>
              <a:defRPr sz="2100" b="0">
                <a:solidFill>
                  <a:srgbClr val="BFCBDD"/>
                </a:solidFill>
              </a:defRPr>
            </a:lvl1pPr>
            <a:lvl2pPr>
              <a:defRPr sz="2100" b="0">
                <a:solidFill>
                  <a:srgbClr val="BFCBDD"/>
                </a:solidFill>
              </a:defRPr>
            </a:lvl2pPr>
            <a:lvl3pPr>
              <a:defRPr sz="2100" b="0">
                <a:solidFill>
                  <a:srgbClr val="BFCBDD"/>
                </a:solidFill>
              </a:defRPr>
            </a:lvl3pPr>
            <a:lvl4pPr>
              <a:defRPr sz="2100" b="0">
                <a:solidFill>
                  <a:srgbClr val="BFCBDD"/>
                </a:solidFill>
              </a:defRPr>
            </a:lvl4pPr>
            <a:lvl5pPr>
              <a:defRPr sz="2100" b="0">
                <a:solidFill>
                  <a:srgbClr val="BFCBDD"/>
                </a:solidFill>
              </a:defRPr>
            </a:lvl5pPr>
            <a:lvl6pPr>
              <a:defRPr sz="2100" b="0">
                <a:solidFill>
                  <a:srgbClr val="BFCBDD"/>
                </a:solidFill>
              </a:defRPr>
            </a:lvl6pPr>
            <a:lvl7pPr>
              <a:defRPr sz="2100" b="0">
                <a:solidFill>
                  <a:srgbClr val="BFCBDD"/>
                </a:solidFill>
              </a:defRPr>
            </a:lvl7pPr>
            <a:lvl8pPr>
              <a:defRPr sz="2100" b="0">
                <a:solidFill>
                  <a:srgbClr val="BFCBDD"/>
                </a:solidFill>
              </a:defRPr>
            </a:lvl8pPr>
            <a:lvl9pPr>
              <a:defRPr sz="2100" b="0">
                <a:solidFill>
                  <a:srgbClr val="BFCBDD"/>
                </a:solidFill>
              </a:defRPr>
            </a:lvl9pPr>
          </a:lstStyle>
          <a:p xmlns:a="http://schemas.openxmlformats.org/drawingml/2006/main">
            <a:pPr>
              <a:defRPr sz="2100" b="0">
                <a:solidFill>
                  <a:srgbClr val="BFCBDD"/>
                </a:solidFill>
              </a:defRPr>
            </a:pPr>
            <a:r>
              <a:rPr sz="2100" b="0">
                <a:solidFill>
                  <a:srgbClr val="BFCBDD"/>
                </a:solidFill>
              </a:rPr>
              <a:t>Toplam para korunur; finansal kayıtlar ve Outbox aynı commit sınırındadır.</a:t>
            </a:r>
          </a:p>
        </p:txBody>
      </p:sp>
    </p:spTree>
    <p:extLst>
      <p:ext uri="{BB962C8B-B14F-4D97-AF65-F5344CB8AC3E}">
        <p14:creationId xmlns:p14="http://schemas.microsoft.com/office/powerpoint/2010/main" val="952307038"/>
      </p:ext>
    </p:extLst>
  </p:cSld>
</p:sld>
</file>

<file path=ppt/slides/slide10.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3A31B2E-3250-4F1E-8668-AAE1BE45E0C0}"/>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Harici fatura ödemesi: SAGA</a:t>
            </a:r>
          </a:p>
        </p:txBody>
      </p:sp>
      <p:sp>
        <p:nvSpPr>
          <p:cNvPr id="3" name="">
            <a:extLst xmlns:a="http://schemas.openxmlformats.org/drawingml/2006/main">
              <a:ext uri="{FF2B5EF4-FFF2-40B4-BE49-F238E27FC236}">
                <a16:creationId xmlns:a16="http://schemas.microsoft.com/office/drawing/2014/main" id="{F7D5188A-BC02-4CC4-B3DA-EC8B8C7A077A}"/>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10</a:t>
            </a:r>
          </a:p>
        </p:txBody>
      </p:sp>
      <p:sp>
        <p:nvSpPr>
          <p:cNvPr id="4" name="">
            <a:extLst xmlns:a="http://schemas.openxmlformats.org/drawingml/2006/main">
              <a:ext uri="{FF2B5EF4-FFF2-40B4-BE49-F238E27FC236}">
                <a16:creationId xmlns:a16="http://schemas.microsoft.com/office/drawing/2014/main" id="{8C9C5FA5-2973-449E-A4CA-FD87A37F1709}"/>
              </a:ext>
            </a:extLst>
          </p:cNvPr>
          <p:cNvSpPr>
            <a:spLocks xmlns:a="http://schemas.openxmlformats.org/drawingml/2006/main" noGrp="1"/>
          </p:cNvSpPr>
          <p:nvPr/>
        </p:nvSpPr>
        <p:spPr>
          <a:xfrm xmlns:a="http://schemas.openxmlformats.org/drawingml/2006/main">
            <a:off x="857250" y="1676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defRPr sz="2175" b="1">
                <a:solidFill>
                  <a:srgbClr val="79D9CB"/>
                </a:solidFill>
              </a:defRPr>
            </a:lvl1pPr>
            <a:lvl2pPr>
              <a:defRPr sz="2175" b="1">
                <a:solidFill>
                  <a:srgbClr val="79D9CB"/>
                </a:solidFill>
              </a:defRPr>
            </a:lvl2pPr>
            <a:lvl3pPr>
              <a:defRPr sz="2175" b="1">
                <a:solidFill>
                  <a:srgbClr val="79D9CB"/>
                </a:solidFill>
              </a:defRPr>
            </a:lvl3pPr>
            <a:lvl4pPr>
              <a:defRPr sz="2175" b="1">
                <a:solidFill>
                  <a:srgbClr val="79D9CB"/>
                </a:solidFill>
              </a:defRPr>
            </a:lvl4pPr>
            <a:lvl5pPr>
              <a:defRPr sz="2175" b="1">
                <a:solidFill>
                  <a:srgbClr val="79D9CB"/>
                </a:solidFill>
              </a:defRPr>
            </a:lvl5pPr>
            <a:lvl6pPr>
              <a:defRPr sz="2175" b="1">
                <a:solidFill>
                  <a:srgbClr val="79D9CB"/>
                </a:solidFill>
              </a:defRPr>
            </a:lvl6pPr>
            <a:lvl7pPr>
              <a:defRPr sz="2175" b="1">
                <a:solidFill>
                  <a:srgbClr val="79D9CB"/>
                </a:solidFill>
              </a:defRPr>
            </a:lvl7pPr>
            <a:lvl8pPr>
              <a:defRPr sz="2175" b="1">
                <a:solidFill>
                  <a:srgbClr val="79D9CB"/>
                </a:solidFill>
              </a:defRPr>
            </a:lvl8pPr>
            <a:lvl9pPr>
              <a:defRPr sz="2175" b="1">
                <a:solidFill>
                  <a:srgbClr val="79D9CB"/>
                </a:solidFill>
              </a:defRPr>
            </a:lvl9pPr>
          </a:lstStyle>
          <a:p xmlns:a="http://schemas.openxmlformats.org/drawingml/2006/main">
            <a:pPr>
              <a:defRPr sz="2175" b="1">
                <a:solidFill>
                  <a:srgbClr val="79D9CB"/>
                </a:solidFill>
              </a:defRPr>
            </a:pPr>
            <a:r>
              <a:rPr sz="2175" b="1">
                <a:solidFill>
                  <a:srgbClr val="79D9CB"/>
                </a:solidFill>
              </a:rPr>
              <a:t>Başlat</a:t>
            </a:r>
          </a:p>
        </p:txBody>
      </p:sp>
      <p:sp>
        <p:nvSpPr>
          <p:cNvPr id="5" name="">
            <a:extLst xmlns:a="http://schemas.openxmlformats.org/drawingml/2006/main">
              <a:ext uri="{FF2B5EF4-FFF2-40B4-BE49-F238E27FC236}">
                <a16:creationId xmlns:a16="http://schemas.microsoft.com/office/drawing/2014/main" id="{A5709B3B-BFD0-41A0-93E6-49A635582F83}"/>
              </a:ext>
            </a:extLst>
          </p:cNvPr>
          <p:cNvSpPr>
            <a:spLocks xmlns:a="http://schemas.openxmlformats.org/drawingml/2006/main" noGrp="1"/>
          </p:cNvSpPr>
          <p:nvPr/>
        </p:nvSpPr>
        <p:spPr>
          <a:xfrm xmlns:a="http://schemas.openxmlformats.org/drawingml/2006/main">
            <a:off x="857250" y="213360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defRPr sz="1875" b="0">
                <a:solidFill>
                  <a:srgbClr val="EAF0F7"/>
                </a:solidFill>
              </a:defRPr>
            </a:lvl1pPr>
            <a:lvl2pPr>
              <a:defRPr sz="1875" b="0">
                <a:solidFill>
                  <a:srgbClr val="EAF0F7"/>
                </a:solidFill>
              </a:defRPr>
            </a:lvl2pPr>
            <a:lvl3pPr>
              <a:defRPr sz="1875" b="0">
                <a:solidFill>
                  <a:srgbClr val="EAF0F7"/>
                </a:solidFill>
              </a:defRPr>
            </a:lvl3pPr>
            <a:lvl4pPr>
              <a:defRPr sz="1875" b="0">
                <a:solidFill>
                  <a:srgbClr val="EAF0F7"/>
                </a:solidFill>
              </a:defRPr>
            </a:lvl4pPr>
            <a:lvl5pPr>
              <a:defRPr sz="1875" b="0">
                <a:solidFill>
                  <a:srgbClr val="EAF0F7"/>
                </a:solidFill>
              </a:defRPr>
            </a:lvl5pPr>
            <a:lvl6pPr>
              <a:defRPr sz="1875" b="0">
                <a:solidFill>
                  <a:srgbClr val="EAF0F7"/>
                </a:solidFill>
              </a:defRPr>
            </a:lvl6pPr>
            <a:lvl7pPr>
              <a:defRPr sz="1875" b="0">
                <a:solidFill>
                  <a:srgbClr val="EAF0F7"/>
                </a:solidFill>
              </a:defRPr>
            </a:lvl7pPr>
            <a:lvl8pPr>
              <a:defRPr sz="1875" b="0">
                <a:solidFill>
                  <a:srgbClr val="EAF0F7"/>
                </a:solidFill>
              </a:defRPr>
            </a:lvl8pPr>
            <a:lvl9pPr>
              <a:defRPr sz="1875" b="0">
                <a:solidFill>
                  <a:srgbClr val="EAF0F7"/>
                </a:solidFill>
              </a:defRPr>
            </a:lvl9pPr>
          </a:lstStyle>
          <a:p xmlns:a="http://schemas.openxmlformats.org/drawingml/2006/main">
            <a:pPr>
              <a:defRPr sz="1875" b="0">
                <a:solidFill>
                  <a:srgbClr val="EAF0F7"/>
                </a:solidFill>
              </a:defRPr>
            </a:pPr>
            <a:r>
              <a:rPr sz="1875" b="0">
                <a:solidFill>
                  <a:srgbClr val="EAF0F7"/>
                </a:solidFill>
              </a:rPr>
              <a:t>Tutarı rezerve et</a:t>
            </a:r>
          </a:p>
          <a:p xmlns:a="http://schemas.openxmlformats.org/drawingml/2006/main">
            <a:pPr>
              <a:defRPr sz="1875" b="0">
                <a:solidFill>
                  <a:srgbClr val="EAF0F7"/>
                </a:solidFill>
              </a:defRPr>
            </a:pPr>
            <a:r>
              <a:rPr sz="1875" b="0">
                <a:solidFill>
                  <a:srgbClr val="EAF0F7"/>
                </a:solidFill>
              </a:rPr>
              <a:t>PENDING kaydet</a:t>
            </a:r>
          </a:p>
        </p:txBody>
      </p:sp>
      <p:sp>
        <p:nvSpPr>
          <p:cNvPr id="6" name="">
            <a:extLst xmlns:a="http://schemas.openxmlformats.org/drawingml/2006/main">
              <a:ext uri="{FF2B5EF4-FFF2-40B4-BE49-F238E27FC236}">
                <a16:creationId xmlns:a16="http://schemas.microsoft.com/office/drawing/2014/main" id="{8B731678-9A07-4D9A-8FE2-36E848439BD3}"/>
              </a:ext>
            </a:extLst>
          </p:cNvPr>
          <p:cNvSpPr>
            <a:spLocks xmlns:a="http://schemas.openxmlformats.org/drawingml/2006/main" noGrp="1"/>
          </p:cNvSpPr>
          <p:nvPr/>
        </p:nvSpPr>
        <p:spPr>
          <a:xfrm xmlns:a="http://schemas.openxmlformats.org/drawingml/2006/main">
            <a:off x="4286250" y="16764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defRPr sz="2175" b="1">
                <a:solidFill>
                  <a:srgbClr val="79D9CB"/>
                </a:solidFill>
              </a:defRPr>
            </a:lvl1pPr>
            <a:lvl2pPr>
              <a:defRPr sz="2175" b="1">
                <a:solidFill>
                  <a:srgbClr val="79D9CB"/>
                </a:solidFill>
              </a:defRPr>
            </a:lvl2pPr>
            <a:lvl3pPr>
              <a:defRPr sz="2175" b="1">
                <a:solidFill>
                  <a:srgbClr val="79D9CB"/>
                </a:solidFill>
              </a:defRPr>
            </a:lvl3pPr>
            <a:lvl4pPr>
              <a:defRPr sz="2175" b="1">
                <a:solidFill>
                  <a:srgbClr val="79D9CB"/>
                </a:solidFill>
              </a:defRPr>
            </a:lvl4pPr>
            <a:lvl5pPr>
              <a:defRPr sz="2175" b="1">
                <a:solidFill>
                  <a:srgbClr val="79D9CB"/>
                </a:solidFill>
              </a:defRPr>
            </a:lvl5pPr>
            <a:lvl6pPr>
              <a:defRPr sz="2175" b="1">
                <a:solidFill>
                  <a:srgbClr val="79D9CB"/>
                </a:solidFill>
              </a:defRPr>
            </a:lvl6pPr>
            <a:lvl7pPr>
              <a:defRPr sz="2175" b="1">
                <a:solidFill>
                  <a:srgbClr val="79D9CB"/>
                </a:solidFill>
              </a:defRPr>
            </a:lvl7pPr>
            <a:lvl8pPr>
              <a:defRPr sz="2175" b="1">
                <a:solidFill>
                  <a:srgbClr val="79D9CB"/>
                </a:solidFill>
              </a:defRPr>
            </a:lvl8pPr>
            <a:lvl9pPr>
              <a:defRPr sz="2175" b="1">
                <a:solidFill>
                  <a:srgbClr val="79D9CB"/>
                </a:solidFill>
              </a:defRPr>
            </a:lvl9pPr>
          </a:lstStyle>
          <a:p xmlns:a="http://schemas.openxmlformats.org/drawingml/2006/main">
            <a:pPr>
              <a:defRPr sz="2175" b="1">
                <a:solidFill>
                  <a:srgbClr val="79D9CB"/>
                </a:solidFill>
              </a:defRPr>
            </a:pPr>
            <a:r>
              <a:rPr sz="2175" b="1">
                <a:solidFill>
                  <a:srgbClr val="79D9CB"/>
                </a:solidFill>
              </a:rPr>
              <a:t>Sağlayıcı</a:t>
            </a:r>
          </a:p>
        </p:txBody>
      </p:sp>
      <p:sp>
        <p:nvSpPr>
          <p:cNvPr id="7" name="">
            <a:extLst xmlns:a="http://schemas.openxmlformats.org/drawingml/2006/main">
              <a:ext uri="{FF2B5EF4-FFF2-40B4-BE49-F238E27FC236}">
                <a16:creationId xmlns:a16="http://schemas.microsoft.com/office/drawing/2014/main" id="{7C495D30-25AB-489B-8A20-6DF5CD56024B}"/>
              </a:ext>
            </a:extLst>
          </p:cNvPr>
          <p:cNvSpPr>
            <a:spLocks xmlns:a="http://schemas.openxmlformats.org/drawingml/2006/main" noGrp="1"/>
          </p:cNvSpPr>
          <p:nvPr/>
        </p:nvSpPr>
        <p:spPr>
          <a:xfrm xmlns:a="http://schemas.openxmlformats.org/drawingml/2006/main">
            <a:off x="4286250" y="2133600"/>
            <a:ext cx="333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defRPr sz="1875" b="0">
                <a:solidFill>
                  <a:srgbClr val="EAF0F7"/>
                </a:solidFill>
              </a:defRPr>
            </a:lvl1pPr>
            <a:lvl2pPr>
              <a:defRPr sz="1875" b="0">
                <a:solidFill>
                  <a:srgbClr val="EAF0F7"/>
                </a:solidFill>
              </a:defRPr>
            </a:lvl2pPr>
            <a:lvl3pPr>
              <a:defRPr sz="1875" b="0">
                <a:solidFill>
                  <a:srgbClr val="EAF0F7"/>
                </a:solidFill>
              </a:defRPr>
            </a:lvl3pPr>
            <a:lvl4pPr>
              <a:defRPr sz="1875" b="0">
                <a:solidFill>
                  <a:srgbClr val="EAF0F7"/>
                </a:solidFill>
              </a:defRPr>
            </a:lvl4pPr>
            <a:lvl5pPr>
              <a:defRPr sz="1875" b="0">
                <a:solidFill>
                  <a:srgbClr val="EAF0F7"/>
                </a:solidFill>
              </a:defRPr>
            </a:lvl5pPr>
            <a:lvl6pPr>
              <a:defRPr sz="1875" b="0">
                <a:solidFill>
                  <a:srgbClr val="EAF0F7"/>
                </a:solidFill>
              </a:defRPr>
            </a:lvl6pPr>
            <a:lvl7pPr>
              <a:defRPr sz="1875" b="0">
                <a:solidFill>
                  <a:srgbClr val="EAF0F7"/>
                </a:solidFill>
              </a:defRPr>
            </a:lvl7pPr>
            <a:lvl8pPr>
              <a:defRPr sz="1875" b="0">
                <a:solidFill>
                  <a:srgbClr val="EAF0F7"/>
                </a:solidFill>
              </a:defRPr>
            </a:lvl8pPr>
            <a:lvl9pPr>
              <a:defRPr sz="1875" b="0">
                <a:solidFill>
                  <a:srgbClr val="EAF0F7"/>
                </a:solidFill>
              </a:defRPr>
            </a:lvl9pPr>
          </a:lstStyle>
          <a:p xmlns:a="http://schemas.openxmlformats.org/drawingml/2006/main">
            <a:pPr>
              <a:defRPr sz="1875" b="0">
                <a:solidFill>
                  <a:srgbClr val="EAF0F7"/>
                </a:solidFill>
              </a:defRPr>
            </a:pPr>
            <a:r>
              <a:rPr sz="1875" b="0">
                <a:solidFill>
                  <a:srgbClr val="EAF0F7"/>
                </a:solidFill>
              </a:rPr>
              <a:t>Aynı paymentId ile HTTP çağrısı</a:t>
            </a:r>
          </a:p>
          <a:p xmlns:a="http://schemas.openxmlformats.org/drawingml/2006/main">
            <a:pPr>
              <a:defRPr sz="1875" b="0">
                <a:solidFill>
                  <a:srgbClr val="EAF0F7"/>
                </a:solidFill>
              </a:defRPr>
            </a:pPr>
            <a:r>
              <a:rPr sz="1875" b="0">
                <a:solidFill>
                  <a:srgbClr val="EAF0F7"/>
                </a:solidFill>
              </a:rPr>
              <a:t>Kendi veritabanına yazar</a:t>
            </a:r>
          </a:p>
        </p:txBody>
      </p:sp>
      <p:sp>
        <p:nvSpPr>
          <p:cNvPr id="8" name="">
            <a:extLst xmlns:a="http://schemas.openxmlformats.org/drawingml/2006/main">
              <a:ext uri="{FF2B5EF4-FFF2-40B4-BE49-F238E27FC236}">
                <a16:creationId xmlns:a16="http://schemas.microsoft.com/office/drawing/2014/main" id="{890F7DAA-1819-4A7E-8394-9799A47C9DAD}"/>
              </a:ext>
            </a:extLst>
          </p:cNvPr>
          <p:cNvSpPr>
            <a:spLocks xmlns:a="http://schemas.openxmlformats.org/drawingml/2006/main" noGrp="1"/>
          </p:cNvSpPr>
          <p:nvPr/>
        </p:nvSpPr>
        <p:spPr>
          <a:xfrm xmlns:a="http://schemas.openxmlformats.org/drawingml/2006/main">
            <a:off x="8334375" y="1676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defRPr sz="2175" b="1">
                <a:solidFill>
                  <a:srgbClr val="79D9CB"/>
                </a:solidFill>
              </a:defRPr>
            </a:lvl1pPr>
            <a:lvl2pPr>
              <a:defRPr sz="2175" b="1">
                <a:solidFill>
                  <a:srgbClr val="79D9CB"/>
                </a:solidFill>
              </a:defRPr>
            </a:lvl2pPr>
            <a:lvl3pPr>
              <a:defRPr sz="2175" b="1">
                <a:solidFill>
                  <a:srgbClr val="79D9CB"/>
                </a:solidFill>
              </a:defRPr>
            </a:lvl3pPr>
            <a:lvl4pPr>
              <a:defRPr sz="2175" b="1">
                <a:solidFill>
                  <a:srgbClr val="79D9CB"/>
                </a:solidFill>
              </a:defRPr>
            </a:lvl4pPr>
            <a:lvl5pPr>
              <a:defRPr sz="2175" b="1">
                <a:solidFill>
                  <a:srgbClr val="79D9CB"/>
                </a:solidFill>
              </a:defRPr>
            </a:lvl5pPr>
            <a:lvl6pPr>
              <a:defRPr sz="2175" b="1">
                <a:solidFill>
                  <a:srgbClr val="79D9CB"/>
                </a:solidFill>
              </a:defRPr>
            </a:lvl6pPr>
            <a:lvl7pPr>
              <a:defRPr sz="2175" b="1">
                <a:solidFill>
                  <a:srgbClr val="79D9CB"/>
                </a:solidFill>
              </a:defRPr>
            </a:lvl7pPr>
            <a:lvl8pPr>
              <a:defRPr sz="2175" b="1">
                <a:solidFill>
                  <a:srgbClr val="79D9CB"/>
                </a:solidFill>
              </a:defRPr>
            </a:lvl8pPr>
            <a:lvl9pPr>
              <a:defRPr sz="2175" b="1">
                <a:solidFill>
                  <a:srgbClr val="79D9CB"/>
                </a:solidFill>
              </a:defRPr>
            </a:lvl9pPr>
          </a:lstStyle>
          <a:p xmlns:a="http://schemas.openxmlformats.org/drawingml/2006/main">
            <a:pPr>
              <a:defRPr sz="2175" b="1">
                <a:solidFill>
                  <a:srgbClr val="79D9CB"/>
                </a:solidFill>
              </a:defRPr>
            </a:pPr>
            <a:r>
              <a:rPr sz="2175" b="1">
                <a:solidFill>
                  <a:srgbClr val="79D9CB"/>
                </a:solidFill>
              </a:rPr>
              <a:t>Sonuç</a:t>
            </a:r>
          </a:p>
        </p:txBody>
      </p:sp>
      <p:sp>
        <p:nvSpPr>
          <p:cNvPr id="9" name="">
            <a:extLst xmlns:a="http://schemas.openxmlformats.org/drawingml/2006/main">
              <a:ext uri="{FF2B5EF4-FFF2-40B4-BE49-F238E27FC236}">
                <a16:creationId xmlns:a16="http://schemas.microsoft.com/office/drawing/2014/main" id="{60BD29CA-12D9-414E-8EA7-2F5CE23DD6BB}"/>
              </a:ext>
            </a:extLst>
          </p:cNvPr>
          <p:cNvSpPr>
            <a:spLocks xmlns:a="http://schemas.openxmlformats.org/drawingml/2006/main" noGrp="1"/>
          </p:cNvSpPr>
          <p:nvPr/>
        </p:nvSpPr>
        <p:spPr>
          <a:xfrm xmlns:a="http://schemas.openxmlformats.org/drawingml/2006/main">
            <a:off x="8334375" y="2133600"/>
            <a:ext cx="3143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defRPr sz="1875" b="0">
                <a:solidFill>
                  <a:srgbClr val="EAF0F7"/>
                </a:solidFill>
              </a:defRPr>
            </a:lvl1pPr>
            <a:lvl2pPr>
              <a:defRPr sz="1875" b="0">
                <a:solidFill>
                  <a:srgbClr val="EAF0F7"/>
                </a:solidFill>
              </a:defRPr>
            </a:lvl2pPr>
            <a:lvl3pPr>
              <a:defRPr sz="1875" b="0">
                <a:solidFill>
                  <a:srgbClr val="EAF0F7"/>
                </a:solidFill>
              </a:defRPr>
            </a:lvl3pPr>
            <a:lvl4pPr>
              <a:defRPr sz="1875" b="0">
                <a:solidFill>
                  <a:srgbClr val="EAF0F7"/>
                </a:solidFill>
              </a:defRPr>
            </a:lvl4pPr>
            <a:lvl5pPr>
              <a:defRPr sz="1875" b="0">
                <a:solidFill>
                  <a:srgbClr val="EAF0F7"/>
                </a:solidFill>
              </a:defRPr>
            </a:lvl5pPr>
            <a:lvl6pPr>
              <a:defRPr sz="1875" b="0">
                <a:solidFill>
                  <a:srgbClr val="EAF0F7"/>
                </a:solidFill>
              </a:defRPr>
            </a:lvl6pPr>
            <a:lvl7pPr>
              <a:defRPr sz="1875" b="0">
                <a:solidFill>
                  <a:srgbClr val="EAF0F7"/>
                </a:solidFill>
              </a:defRPr>
            </a:lvl7pPr>
            <a:lvl8pPr>
              <a:defRPr sz="1875" b="0">
                <a:solidFill>
                  <a:srgbClr val="EAF0F7"/>
                </a:solidFill>
              </a:defRPr>
            </a:lvl8pPr>
            <a:lvl9pPr>
              <a:defRPr sz="1875" b="0">
                <a:solidFill>
                  <a:srgbClr val="EAF0F7"/>
                </a:solidFill>
              </a:defRPr>
            </a:lvl9pPr>
          </a:lstStyle>
          <a:p xmlns:a="http://schemas.openxmlformats.org/drawingml/2006/main">
            <a:pPr>
              <a:defRPr sz="1875" b="0">
                <a:solidFill>
                  <a:srgbClr val="EAF0F7"/>
                </a:solidFill>
              </a:defRPr>
            </a:pPr>
            <a:r>
              <a:rPr sz="1875" b="0">
                <a:solidFill>
                  <a:srgbClr val="EAF0F7"/>
                </a:solidFill>
              </a:rPr>
              <a:t>ACCEPTED / REJECTED / UNKNOWN</a:t>
            </a:r>
          </a:p>
        </p:txBody>
      </p:sp>
      <p:sp>
        <p:nvSpPr>
          <p:cNvPr id="10" name="">
            <a:extLst xmlns:a="http://schemas.openxmlformats.org/drawingml/2006/main">
              <a:ext uri="{FF2B5EF4-FFF2-40B4-BE49-F238E27FC236}">
                <a16:creationId xmlns:a16="http://schemas.microsoft.com/office/drawing/2014/main" id="{829282CA-BA28-4EB8-ACC6-8C848485CD5E}"/>
              </a:ext>
            </a:extLst>
          </p:cNvPr>
          <p:cNvSpPr>
            <a:spLocks xmlns:a="http://schemas.openxmlformats.org/drawingml/2006/main" noGrp="1"/>
          </p:cNvSpPr>
          <p:nvPr/>
        </p:nvSpPr>
        <p:spPr>
          <a:xfrm xmlns:a="http://schemas.openxmlformats.org/drawingml/2006/main">
            <a:off x="857250" y="403860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defRPr sz="1875" b="1">
                <a:solidFill>
                  <a:srgbClr val="F3BA6C"/>
                </a:solidFill>
              </a:defRPr>
            </a:lvl1pPr>
            <a:lvl2pPr>
              <a:defRPr sz="1875" b="1">
                <a:solidFill>
                  <a:srgbClr val="F3BA6C"/>
                </a:solidFill>
              </a:defRPr>
            </a:lvl2pPr>
            <a:lvl3pPr>
              <a:defRPr sz="1875" b="1">
                <a:solidFill>
                  <a:srgbClr val="F3BA6C"/>
                </a:solidFill>
              </a:defRPr>
            </a:lvl3pPr>
            <a:lvl4pPr>
              <a:defRPr sz="1875" b="1">
                <a:solidFill>
                  <a:srgbClr val="F3BA6C"/>
                </a:solidFill>
              </a:defRPr>
            </a:lvl4pPr>
            <a:lvl5pPr>
              <a:defRPr sz="1875" b="1">
                <a:solidFill>
                  <a:srgbClr val="F3BA6C"/>
                </a:solidFill>
              </a:defRPr>
            </a:lvl5pPr>
            <a:lvl6pPr>
              <a:defRPr sz="1875" b="1">
                <a:solidFill>
                  <a:srgbClr val="F3BA6C"/>
                </a:solidFill>
              </a:defRPr>
            </a:lvl6pPr>
            <a:lvl7pPr>
              <a:defRPr sz="1875" b="1">
                <a:solidFill>
                  <a:srgbClr val="F3BA6C"/>
                </a:solidFill>
              </a:defRPr>
            </a:lvl7pPr>
            <a:lvl8pPr>
              <a:defRPr sz="1875" b="1">
                <a:solidFill>
                  <a:srgbClr val="F3BA6C"/>
                </a:solidFill>
              </a:defRPr>
            </a:lvl8pPr>
            <a:lvl9pPr>
              <a:defRPr sz="1875" b="1">
                <a:solidFill>
                  <a:srgbClr val="F3BA6C"/>
                </a:solidFill>
              </a:defRPr>
            </a:lvl9pPr>
          </a:lstStyle>
          <a:p xmlns:a="http://schemas.openxmlformats.org/drawingml/2006/main">
            <a:pPr>
              <a:defRPr sz="1875" b="1">
                <a:solidFill>
                  <a:srgbClr val="F3BA6C"/>
                </a:solidFill>
              </a:defRPr>
            </a:pPr>
            <a:r>
              <a:rPr sz="1875" b="1">
                <a:solidFill>
                  <a:srgbClr val="F3BA6C"/>
                </a:solidFill>
              </a:rPr>
              <a:t>ACCEPTED</a:t>
            </a:r>
          </a:p>
        </p:txBody>
      </p:sp>
      <p:sp>
        <p:nvSpPr>
          <p:cNvPr id="11" name="">
            <a:extLst xmlns:a="http://schemas.openxmlformats.org/drawingml/2006/main">
              <a:ext uri="{FF2B5EF4-FFF2-40B4-BE49-F238E27FC236}">
                <a16:creationId xmlns:a16="http://schemas.microsoft.com/office/drawing/2014/main" id="{9DEB251F-A01E-4491-8840-AD8D11C9E8F3}"/>
              </a:ext>
            </a:extLst>
          </p:cNvPr>
          <p:cNvSpPr>
            <a:spLocks xmlns:a="http://schemas.openxmlformats.org/drawingml/2006/main" noGrp="1"/>
          </p:cNvSpPr>
          <p:nvPr/>
        </p:nvSpPr>
        <p:spPr>
          <a:xfrm xmlns:a="http://schemas.openxmlformats.org/drawingml/2006/main">
            <a:off x="857250" y="44767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Rezervasyonu çöz, clearing hesabına transfer et, SUCCEEDED</a:t>
            </a:r>
          </a:p>
        </p:txBody>
      </p:sp>
      <p:sp>
        <p:nvSpPr>
          <p:cNvPr id="12" name="">
            <a:extLst xmlns:a="http://schemas.openxmlformats.org/drawingml/2006/main">
              <a:ext uri="{FF2B5EF4-FFF2-40B4-BE49-F238E27FC236}">
                <a16:creationId xmlns:a16="http://schemas.microsoft.com/office/drawing/2014/main" id="{4DCAF553-2AF9-4311-8A38-F091AFF8851F}"/>
              </a:ext>
            </a:extLst>
          </p:cNvPr>
          <p:cNvSpPr>
            <a:spLocks xmlns:a="http://schemas.openxmlformats.org/drawingml/2006/main" noGrp="1"/>
          </p:cNvSpPr>
          <p:nvPr/>
        </p:nvSpPr>
        <p:spPr>
          <a:xfrm xmlns:a="http://schemas.openxmlformats.org/drawingml/2006/main">
            <a:off x="857250" y="514350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defRPr sz="1875" b="1">
                <a:solidFill>
                  <a:srgbClr val="F3BA6C"/>
                </a:solidFill>
              </a:defRPr>
            </a:lvl1pPr>
            <a:lvl2pPr>
              <a:defRPr sz="1875" b="1">
                <a:solidFill>
                  <a:srgbClr val="F3BA6C"/>
                </a:solidFill>
              </a:defRPr>
            </a:lvl2pPr>
            <a:lvl3pPr>
              <a:defRPr sz="1875" b="1">
                <a:solidFill>
                  <a:srgbClr val="F3BA6C"/>
                </a:solidFill>
              </a:defRPr>
            </a:lvl3pPr>
            <a:lvl4pPr>
              <a:defRPr sz="1875" b="1">
                <a:solidFill>
                  <a:srgbClr val="F3BA6C"/>
                </a:solidFill>
              </a:defRPr>
            </a:lvl4pPr>
            <a:lvl5pPr>
              <a:defRPr sz="1875" b="1">
                <a:solidFill>
                  <a:srgbClr val="F3BA6C"/>
                </a:solidFill>
              </a:defRPr>
            </a:lvl5pPr>
            <a:lvl6pPr>
              <a:defRPr sz="1875" b="1">
                <a:solidFill>
                  <a:srgbClr val="F3BA6C"/>
                </a:solidFill>
              </a:defRPr>
            </a:lvl6pPr>
            <a:lvl7pPr>
              <a:defRPr sz="1875" b="1">
                <a:solidFill>
                  <a:srgbClr val="F3BA6C"/>
                </a:solidFill>
              </a:defRPr>
            </a:lvl7pPr>
            <a:lvl8pPr>
              <a:defRPr sz="1875" b="1">
                <a:solidFill>
                  <a:srgbClr val="F3BA6C"/>
                </a:solidFill>
              </a:defRPr>
            </a:lvl8pPr>
            <a:lvl9pPr>
              <a:defRPr sz="1875" b="1">
                <a:solidFill>
                  <a:srgbClr val="F3BA6C"/>
                </a:solidFill>
              </a:defRPr>
            </a:lvl9pPr>
          </a:lstStyle>
          <a:p xmlns:a="http://schemas.openxmlformats.org/drawingml/2006/main">
            <a:pPr>
              <a:defRPr sz="1875" b="1">
                <a:solidFill>
                  <a:srgbClr val="F3BA6C"/>
                </a:solidFill>
              </a:defRPr>
            </a:pPr>
            <a:r>
              <a:rPr sz="1875" b="1">
                <a:solidFill>
                  <a:srgbClr val="F3BA6C"/>
                </a:solidFill>
              </a:rPr>
              <a:t>REJECTED</a:t>
            </a:r>
          </a:p>
        </p:txBody>
      </p:sp>
      <p:sp>
        <p:nvSpPr>
          <p:cNvPr id="13" name="">
            <a:extLst xmlns:a="http://schemas.openxmlformats.org/drawingml/2006/main">
              <a:ext uri="{FF2B5EF4-FFF2-40B4-BE49-F238E27FC236}">
                <a16:creationId xmlns:a16="http://schemas.microsoft.com/office/drawing/2014/main" id="{473D4F16-B8F8-43DB-A02F-7F20D6220CBB}"/>
              </a:ext>
            </a:extLst>
          </p:cNvPr>
          <p:cNvSpPr>
            <a:spLocks xmlns:a="http://schemas.openxmlformats.org/drawingml/2006/main" noGrp="1"/>
          </p:cNvSpPr>
          <p:nvPr/>
        </p:nvSpPr>
        <p:spPr>
          <a:xfrm xmlns:a="http://schemas.openxmlformats.org/drawingml/2006/main">
            <a:off x="857250" y="55816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Rezervasyonu serbest bırak, FAILED</a:t>
            </a:r>
          </a:p>
        </p:txBody>
      </p:sp>
    </p:spTree>
    <p:extLst>
      <p:ext uri="{BB962C8B-B14F-4D97-AF65-F5344CB8AC3E}">
        <p14:creationId xmlns:p14="http://schemas.microsoft.com/office/powerpoint/2010/main" val="1422534361"/>
      </p:ext>
    </p:extLst>
  </p:cSld>
</p:sld>
</file>

<file path=ppt/slides/slide1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26C754F-5FD0-4C8A-9FD9-D0BFD638709B}"/>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Timeout sonrası belirsiz sonuç</a:t>
            </a:r>
          </a:p>
        </p:txBody>
      </p:sp>
      <p:sp>
        <p:nvSpPr>
          <p:cNvPr id="3" name="">
            <a:extLst xmlns:a="http://schemas.openxmlformats.org/drawingml/2006/main">
              <a:ext uri="{FF2B5EF4-FFF2-40B4-BE49-F238E27FC236}">
                <a16:creationId xmlns:a16="http://schemas.microsoft.com/office/drawing/2014/main" id="{6E3EA1E4-CF36-4F90-A827-D7373BC3BF8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11</a:t>
            </a:r>
          </a:p>
        </p:txBody>
      </p:sp>
      <p:sp>
        <p:nvSpPr>
          <p:cNvPr id="4" name="">
            <a:extLst xmlns:a="http://schemas.openxmlformats.org/drawingml/2006/main">
              <a:ext uri="{FF2B5EF4-FFF2-40B4-BE49-F238E27FC236}">
                <a16:creationId xmlns:a16="http://schemas.microsoft.com/office/drawing/2014/main" id="{6F8F2ECE-9E3E-4752-BB62-0529C21DD93D}"/>
              </a:ext>
            </a:extLst>
          </p:cNvPr>
          <p:cNvSpPr>
            <a:spLocks xmlns:a="http://schemas.openxmlformats.org/drawingml/2006/main" noGrp="1"/>
          </p:cNvSpPr>
          <p:nvPr/>
        </p:nvSpPr>
        <p:spPr>
          <a:xfrm xmlns:a="http://schemas.openxmlformats.org/drawingml/2006/main">
            <a:off x="857250" y="1609725"/>
            <a:ext cx="10287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925" b="0">
                <a:solidFill>
                  <a:srgbClr val="EAF0F7"/>
                </a:solidFill>
              </a:defRPr>
            </a:defPPr>
            <a:lvl1pPr>
              <a:defRPr sz="2925" b="0">
                <a:solidFill>
                  <a:srgbClr val="EAF0F7"/>
                </a:solidFill>
              </a:defRPr>
            </a:lvl1pPr>
            <a:lvl2pPr>
              <a:defRPr sz="2925" b="0">
                <a:solidFill>
                  <a:srgbClr val="EAF0F7"/>
                </a:solidFill>
              </a:defRPr>
            </a:lvl2pPr>
            <a:lvl3pPr>
              <a:defRPr sz="2925" b="0">
                <a:solidFill>
                  <a:srgbClr val="EAF0F7"/>
                </a:solidFill>
              </a:defRPr>
            </a:lvl3pPr>
            <a:lvl4pPr>
              <a:defRPr sz="2925" b="0">
                <a:solidFill>
                  <a:srgbClr val="EAF0F7"/>
                </a:solidFill>
              </a:defRPr>
            </a:lvl4pPr>
            <a:lvl5pPr>
              <a:defRPr sz="2925" b="0">
                <a:solidFill>
                  <a:srgbClr val="EAF0F7"/>
                </a:solidFill>
              </a:defRPr>
            </a:lvl5pPr>
            <a:lvl6pPr>
              <a:defRPr sz="2925" b="0">
                <a:solidFill>
                  <a:srgbClr val="EAF0F7"/>
                </a:solidFill>
              </a:defRPr>
            </a:lvl6pPr>
            <a:lvl7pPr>
              <a:defRPr sz="2925" b="0">
                <a:solidFill>
                  <a:srgbClr val="EAF0F7"/>
                </a:solidFill>
              </a:defRPr>
            </a:lvl7pPr>
            <a:lvl8pPr>
              <a:defRPr sz="2925" b="0">
                <a:solidFill>
                  <a:srgbClr val="EAF0F7"/>
                </a:solidFill>
              </a:defRPr>
            </a:lvl8pPr>
            <a:lvl9pPr>
              <a:defRPr sz="2925" b="0">
                <a:solidFill>
                  <a:srgbClr val="EAF0F7"/>
                </a:solidFill>
              </a:defRPr>
            </a:lvl9pPr>
          </a:lstStyle>
          <a:p xmlns:a="http://schemas.openxmlformats.org/drawingml/2006/main">
            <a:pPr>
              <a:defRPr sz="2925" b="0">
                <a:solidFill>
                  <a:srgbClr val="EAF0F7"/>
                </a:solidFill>
              </a:defRPr>
            </a:pPr>
            <a:r>
              <a:rPr sz="2925" b="0">
                <a:solidFill>
                  <a:srgbClr val="EAF0F7"/>
                </a:solidFill>
              </a:rPr>
              <a:t>Sağlayıcı işlemi kabul etmiş olabilir; CoreBank yanıtı alamamış olabilir.</a:t>
            </a:r>
          </a:p>
        </p:txBody>
      </p:sp>
      <p:sp>
        <p:nvSpPr>
          <p:cNvPr id="5" name="">
            <a:extLst xmlns:a="http://schemas.openxmlformats.org/drawingml/2006/main">
              <a:ext uri="{FF2B5EF4-FFF2-40B4-BE49-F238E27FC236}">
                <a16:creationId xmlns:a16="http://schemas.microsoft.com/office/drawing/2014/main" id="{8CC68430-EE6F-4E9C-AD61-8F6471364DB3}"/>
              </a:ext>
            </a:extLst>
          </p:cNvPr>
          <p:cNvSpPr>
            <a:spLocks xmlns:a="http://schemas.openxmlformats.org/drawingml/2006/main" noGrp="1"/>
          </p:cNvSpPr>
          <p:nvPr/>
        </p:nvSpPr>
        <p:spPr>
          <a:xfrm xmlns:a="http://schemas.openxmlformats.org/drawingml/2006/main">
            <a:off x="857250" y="340995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F3BA6C"/>
                </a:solidFill>
              </a:defRPr>
            </a:defPPr>
            <a:lvl1pPr>
              <a:defRPr sz="2550" b="1">
                <a:solidFill>
                  <a:srgbClr val="F3BA6C"/>
                </a:solidFill>
              </a:defRPr>
            </a:lvl1pPr>
            <a:lvl2pPr>
              <a:defRPr sz="2550" b="1">
                <a:solidFill>
                  <a:srgbClr val="F3BA6C"/>
                </a:solidFill>
              </a:defRPr>
            </a:lvl2pPr>
            <a:lvl3pPr>
              <a:defRPr sz="2550" b="1">
                <a:solidFill>
                  <a:srgbClr val="F3BA6C"/>
                </a:solidFill>
              </a:defRPr>
            </a:lvl3pPr>
            <a:lvl4pPr>
              <a:defRPr sz="2550" b="1">
                <a:solidFill>
                  <a:srgbClr val="F3BA6C"/>
                </a:solidFill>
              </a:defRPr>
            </a:lvl4pPr>
            <a:lvl5pPr>
              <a:defRPr sz="2550" b="1">
                <a:solidFill>
                  <a:srgbClr val="F3BA6C"/>
                </a:solidFill>
              </a:defRPr>
            </a:lvl5pPr>
            <a:lvl6pPr>
              <a:defRPr sz="2550" b="1">
                <a:solidFill>
                  <a:srgbClr val="F3BA6C"/>
                </a:solidFill>
              </a:defRPr>
            </a:lvl6pPr>
            <a:lvl7pPr>
              <a:defRPr sz="2550" b="1">
                <a:solidFill>
                  <a:srgbClr val="F3BA6C"/>
                </a:solidFill>
              </a:defRPr>
            </a:lvl7pPr>
            <a:lvl8pPr>
              <a:defRPr sz="2550" b="1">
                <a:solidFill>
                  <a:srgbClr val="F3BA6C"/>
                </a:solidFill>
              </a:defRPr>
            </a:lvl8pPr>
            <a:lvl9pPr>
              <a:defRPr sz="2550" b="1">
                <a:solidFill>
                  <a:srgbClr val="F3BA6C"/>
                </a:solidFill>
              </a:defRPr>
            </a:lvl9pPr>
          </a:lstStyle>
          <a:p xmlns:a="http://schemas.openxmlformats.org/drawingml/2006/main">
            <a:pPr>
              <a:defRPr sz="2550" b="1">
                <a:solidFill>
                  <a:srgbClr val="F3BA6C"/>
                </a:solidFill>
              </a:defRPr>
            </a:pPr>
            <a:r>
              <a:rPr sz="2550" b="1">
                <a:solidFill>
                  <a:srgbClr val="F3BA6C"/>
                </a:solidFill>
              </a:rPr>
              <a:t>UNKNOWN</a:t>
            </a:r>
          </a:p>
        </p:txBody>
      </p:sp>
      <p:sp>
        <p:nvSpPr>
          <p:cNvPr id="6" name="">
            <a:extLst xmlns:a="http://schemas.openxmlformats.org/drawingml/2006/main">
              <a:ext uri="{FF2B5EF4-FFF2-40B4-BE49-F238E27FC236}">
                <a16:creationId xmlns:a16="http://schemas.microsoft.com/office/drawing/2014/main" id="{6A469CE2-FE0E-4BA1-8F4C-EA9772529102}"/>
              </a:ext>
            </a:extLst>
          </p:cNvPr>
          <p:cNvSpPr>
            <a:spLocks xmlns:a="http://schemas.openxmlformats.org/drawingml/2006/main" noGrp="1"/>
          </p:cNvSpPr>
          <p:nvPr/>
        </p:nvSpPr>
        <p:spPr>
          <a:xfrm xmlns:a="http://schemas.openxmlformats.org/drawingml/2006/main">
            <a:off x="857250" y="4000500"/>
            <a:ext cx="1009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defRPr sz="2025" b="0">
                <a:solidFill>
                  <a:srgbClr val="EAF0F7"/>
                </a:solidFill>
              </a:defRPr>
            </a:lvl1pPr>
            <a:lvl2pPr>
              <a:defRPr sz="2025" b="0">
                <a:solidFill>
                  <a:srgbClr val="EAF0F7"/>
                </a:solidFill>
              </a:defRPr>
            </a:lvl2pPr>
            <a:lvl3pPr>
              <a:defRPr sz="2025" b="0">
                <a:solidFill>
                  <a:srgbClr val="EAF0F7"/>
                </a:solidFill>
              </a:defRPr>
            </a:lvl3pPr>
            <a:lvl4pPr>
              <a:defRPr sz="2025" b="0">
                <a:solidFill>
                  <a:srgbClr val="EAF0F7"/>
                </a:solidFill>
              </a:defRPr>
            </a:lvl4pPr>
            <a:lvl5pPr>
              <a:defRPr sz="2025" b="0">
                <a:solidFill>
                  <a:srgbClr val="EAF0F7"/>
                </a:solidFill>
              </a:defRPr>
            </a:lvl5pPr>
            <a:lvl6pPr>
              <a:defRPr sz="2025" b="0">
                <a:solidFill>
                  <a:srgbClr val="EAF0F7"/>
                </a:solidFill>
              </a:defRPr>
            </a:lvl6pPr>
            <a:lvl7pPr>
              <a:defRPr sz="2025" b="0">
                <a:solidFill>
                  <a:srgbClr val="EAF0F7"/>
                </a:solidFill>
              </a:defRPr>
            </a:lvl7pPr>
            <a:lvl8pPr>
              <a:defRPr sz="2025" b="0">
                <a:solidFill>
                  <a:srgbClr val="EAF0F7"/>
                </a:solidFill>
              </a:defRPr>
            </a:lvl8pPr>
            <a:lvl9pPr>
              <a:defRPr sz="2025" b="0">
                <a:solidFill>
                  <a:srgbClr val="EAF0F7"/>
                </a:solidFill>
              </a:defRPr>
            </a:lvl9pPr>
          </a:lstStyle>
          <a:p xmlns:a="http://schemas.openxmlformats.org/drawingml/2006/main">
            <a:pPr>
              <a:defRPr sz="2025" b="0">
                <a:solidFill>
                  <a:srgbClr val="EAF0F7"/>
                </a:solidFill>
              </a:defRPr>
            </a:pPr>
            <a:r>
              <a:rPr sz="2025" b="0">
                <a:solidFill>
                  <a:srgbClr val="EAF0F7"/>
                </a:solidFill>
              </a:rPr>
              <a:t>Rezervasyon korunur. Bakiye düşülmez ve başarı ilan edilmez.</a:t>
            </a:r>
          </a:p>
        </p:txBody>
      </p:sp>
      <p:sp>
        <p:nvSpPr>
          <p:cNvPr id="7" name="">
            <a:extLst xmlns:a="http://schemas.openxmlformats.org/drawingml/2006/main">
              <a:ext uri="{FF2B5EF4-FFF2-40B4-BE49-F238E27FC236}">
                <a16:creationId xmlns:a16="http://schemas.microsoft.com/office/drawing/2014/main" id="{1C0A4ED6-F1CC-43C9-BB6D-484C5BEC52CD}"/>
              </a:ext>
            </a:extLst>
          </p:cNvPr>
          <p:cNvSpPr>
            <a:spLocks xmlns:a="http://schemas.openxmlformats.org/drawingml/2006/main" noGrp="1"/>
          </p:cNvSpPr>
          <p:nvPr/>
        </p:nvSpPr>
        <p:spPr>
          <a:xfrm xmlns:a="http://schemas.openxmlformats.org/drawingml/2006/main">
            <a:off x="857250" y="5076825"/>
            <a:ext cx="1019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79D9CB"/>
                </a:solidFill>
              </a:defRPr>
            </a:defPPr>
            <a:lvl1pPr>
              <a:defRPr sz="1950" b="0">
                <a:solidFill>
                  <a:srgbClr val="79D9CB"/>
                </a:solidFill>
              </a:defRPr>
            </a:lvl1pPr>
            <a:lvl2pPr>
              <a:defRPr sz="1950" b="0">
                <a:solidFill>
                  <a:srgbClr val="79D9CB"/>
                </a:solidFill>
              </a:defRPr>
            </a:lvl2pPr>
            <a:lvl3pPr>
              <a:defRPr sz="1950" b="0">
                <a:solidFill>
                  <a:srgbClr val="79D9CB"/>
                </a:solidFill>
              </a:defRPr>
            </a:lvl3pPr>
            <a:lvl4pPr>
              <a:defRPr sz="1950" b="0">
                <a:solidFill>
                  <a:srgbClr val="79D9CB"/>
                </a:solidFill>
              </a:defRPr>
            </a:lvl4pPr>
            <a:lvl5pPr>
              <a:defRPr sz="1950" b="0">
                <a:solidFill>
                  <a:srgbClr val="79D9CB"/>
                </a:solidFill>
              </a:defRPr>
            </a:lvl5pPr>
            <a:lvl6pPr>
              <a:defRPr sz="1950" b="0">
                <a:solidFill>
                  <a:srgbClr val="79D9CB"/>
                </a:solidFill>
              </a:defRPr>
            </a:lvl6pPr>
            <a:lvl7pPr>
              <a:defRPr sz="1950" b="0">
                <a:solidFill>
                  <a:srgbClr val="79D9CB"/>
                </a:solidFill>
              </a:defRPr>
            </a:lvl7pPr>
            <a:lvl8pPr>
              <a:defRPr sz="1950" b="0">
                <a:solidFill>
                  <a:srgbClr val="79D9CB"/>
                </a:solidFill>
              </a:defRPr>
            </a:lvl8pPr>
            <a:lvl9pPr>
              <a:defRPr sz="1950" b="0">
                <a:solidFill>
                  <a:srgbClr val="79D9CB"/>
                </a:solidFill>
              </a:defRPr>
            </a:lvl9pPr>
          </a:lstStyle>
          <a:p xmlns:a="http://schemas.openxmlformats.org/drawingml/2006/main">
            <a:pPr>
              <a:defRPr sz="1950" b="0">
                <a:solidFill>
                  <a:srgbClr val="79D9CB"/>
                </a:solidFill>
              </a:defRPr>
            </a:pPr>
            <a:r>
              <a:rPr sz="1950" b="0">
                <a:solidFill>
                  <a:srgbClr val="79D9CB"/>
                </a:solidFill>
              </a:rPr>
              <a:t>Aynı paymentId ile tekrar çağrı sonucu öğrenir; sağlayıcı önceki sonucu döner.</a:t>
            </a:r>
          </a:p>
        </p:txBody>
      </p:sp>
    </p:spTree>
    <p:extLst>
      <p:ext uri="{BB962C8B-B14F-4D97-AF65-F5344CB8AC3E}">
        <p14:creationId xmlns:p14="http://schemas.microsoft.com/office/powerpoint/2010/main" val="1066437030"/>
      </p:ext>
    </p:extLst>
  </p:cSld>
</p:sld>
</file>

<file path=ppt/slides/slide12.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BC1FFCC-CBF0-4F8B-B0FF-6168AAD61A64}"/>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Outbox ve Inbox</a:t>
            </a:r>
          </a:p>
        </p:txBody>
      </p:sp>
      <p:sp>
        <p:nvSpPr>
          <p:cNvPr id="3" name="">
            <a:extLst xmlns:a="http://schemas.openxmlformats.org/drawingml/2006/main">
              <a:ext uri="{FF2B5EF4-FFF2-40B4-BE49-F238E27FC236}">
                <a16:creationId xmlns:a16="http://schemas.microsoft.com/office/drawing/2014/main" id="{3A57F02D-B25F-4D0B-BF23-D749E9A6C1A8}"/>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12</a:t>
            </a:r>
          </a:p>
        </p:txBody>
      </p:sp>
      <p:sp>
        <p:nvSpPr>
          <p:cNvPr id="4" name="">
            <a:extLst xmlns:a="http://schemas.openxmlformats.org/drawingml/2006/main">
              <a:ext uri="{FF2B5EF4-FFF2-40B4-BE49-F238E27FC236}">
                <a16:creationId xmlns:a16="http://schemas.microsoft.com/office/drawing/2014/main" id="{8C9D40A2-9B64-4ABE-9B61-D358D469CBAC}"/>
              </a:ext>
            </a:extLst>
          </p:cNvPr>
          <p:cNvSpPr>
            <a:spLocks xmlns:a="http://schemas.openxmlformats.org/drawingml/2006/main" noGrp="1"/>
          </p:cNvSpPr>
          <p:nvPr/>
        </p:nvSpPr>
        <p:spPr>
          <a:xfrm xmlns:a="http://schemas.openxmlformats.org/drawingml/2006/main">
            <a:off x="857250" y="1647825"/>
            <a:ext cx="4191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defRPr sz="2250" b="1">
                <a:solidFill>
                  <a:srgbClr val="79D9CB"/>
                </a:solidFill>
              </a:defRPr>
            </a:lvl1pPr>
            <a:lvl2pPr>
              <a:defRPr sz="2250" b="1">
                <a:solidFill>
                  <a:srgbClr val="79D9CB"/>
                </a:solidFill>
              </a:defRPr>
            </a:lvl2pPr>
            <a:lvl3pPr>
              <a:defRPr sz="2250" b="1">
                <a:solidFill>
                  <a:srgbClr val="79D9CB"/>
                </a:solidFill>
              </a:defRPr>
            </a:lvl3pPr>
            <a:lvl4pPr>
              <a:defRPr sz="2250" b="1">
                <a:solidFill>
                  <a:srgbClr val="79D9CB"/>
                </a:solidFill>
              </a:defRPr>
            </a:lvl4pPr>
            <a:lvl5pPr>
              <a:defRPr sz="2250" b="1">
                <a:solidFill>
                  <a:srgbClr val="79D9CB"/>
                </a:solidFill>
              </a:defRPr>
            </a:lvl5pPr>
            <a:lvl6pPr>
              <a:defRPr sz="2250" b="1">
                <a:solidFill>
                  <a:srgbClr val="79D9CB"/>
                </a:solidFill>
              </a:defRPr>
            </a:lvl6pPr>
            <a:lvl7pPr>
              <a:defRPr sz="2250" b="1">
                <a:solidFill>
                  <a:srgbClr val="79D9CB"/>
                </a:solidFill>
              </a:defRPr>
            </a:lvl7pPr>
            <a:lvl8pPr>
              <a:defRPr sz="2250" b="1">
                <a:solidFill>
                  <a:srgbClr val="79D9CB"/>
                </a:solidFill>
              </a:defRPr>
            </a:lvl8pPr>
            <a:lvl9pPr>
              <a:defRPr sz="2250" b="1">
                <a:solidFill>
                  <a:srgbClr val="79D9CB"/>
                </a:solidFill>
              </a:defRPr>
            </a:lvl9pPr>
          </a:lstStyle>
          <a:p xmlns:a="http://schemas.openxmlformats.org/drawingml/2006/main">
            <a:pPr>
              <a:defRPr sz="2250" b="1">
                <a:solidFill>
                  <a:srgbClr val="79D9CB"/>
                </a:solidFill>
              </a:defRPr>
            </a:pPr>
            <a:r>
              <a:rPr sz="2250" b="1">
                <a:solidFill>
                  <a:srgbClr val="79D9CB"/>
                </a:solidFill>
              </a:rPr>
              <a:t>CoreBank transaction’ı</a:t>
            </a:r>
          </a:p>
        </p:txBody>
      </p:sp>
      <p:sp>
        <p:nvSpPr>
          <p:cNvPr id="5" name="">
            <a:extLst xmlns:a="http://schemas.openxmlformats.org/drawingml/2006/main">
              <a:ext uri="{FF2B5EF4-FFF2-40B4-BE49-F238E27FC236}">
                <a16:creationId xmlns:a16="http://schemas.microsoft.com/office/drawing/2014/main" id="{35C2BC60-99C5-48E1-9F16-4B5F810460C1}"/>
              </a:ext>
            </a:extLst>
          </p:cNvPr>
          <p:cNvSpPr>
            <a:spLocks xmlns:a="http://schemas.openxmlformats.org/drawingml/2006/main" noGrp="1"/>
          </p:cNvSpPr>
          <p:nvPr/>
        </p:nvSpPr>
        <p:spPr>
          <a:xfrm xmlns:a="http://schemas.openxmlformats.org/drawingml/2006/main">
            <a:off x="857250" y="2190750"/>
            <a:ext cx="4000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defRPr sz="1950" b="0">
                <a:solidFill>
                  <a:srgbClr val="EAF0F7"/>
                </a:solidFill>
              </a:defRPr>
            </a:lvl1pPr>
            <a:lvl2pPr>
              <a:defRPr sz="1950" b="0">
                <a:solidFill>
                  <a:srgbClr val="EAF0F7"/>
                </a:solidFill>
              </a:defRPr>
            </a:lvl2pPr>
            <a:lvl3pPr>
              <a:defRPr sz="1950" b="0">
                <a:solidFill>
                  <a:srgbClr val="EAF0F7"/>
                </a:solidFill>
              </a:defRPr>
            </a:lvl3pPr>
            <a:lvl4pPr>
              <a:defRPr sz="1950" b="0">
                <a:solidFill>
                  <a:srgbClr val="EAF0F7"/>
                </a:solidFill>
              </a:defRPr>
            </a:lvl4pPr>
            <a:lvl5pPr>
              <a:defRPr sz="1950" b="0">
                <a:solidFill>
                  <a:srgbClr val="EAF0F7"/>
                </a:solidFill>
              </a:defRPr>
            </a:lvl5pPr>
            <a:lvl6pPr>
              <a:defRPr sz="1950" b="0">
                <a:solidFill>
                  <a:srgbClr val="EAF0F7"/>
                </a:solidFill>
              </a:defRPr>
            </a:lvl6pPr>
            <a:lvl7pPr>
              <a:defRPr sz="1950" b="0">
                <a:solidFill>
                  <a:srgbClr val="EAF0F7"/>
                </a:solidFill>
              </a:defRPr>
            </a:lvl7pPr>
            <a:lvl8pPr>
              <a:defRPr sz="1950" b="0">
                <a:solidFill>
                  <a:srgbClr val="EAF0F7"/>
                </a:solidFill>
              </a:defRPr>
            </a:lvl8pPr>
            <a:lvl9pPr>
              <a:defRPr sz="1950" b="0">
                <a:solidFill>
                  <a:srgbClr val="EAF0F7"/>
                </a:solidFill>
              </a:defRPr>
            </a:lvl9pPr>
          </a:lstStyle>
          <a:p xmlns:a="http://schemas.openxmlformats.org/drawingml/2006/main">
            <a:pPr>
              <a:defRPr sz="1950" b="0">
                <a:solidFill>
                  <a:srgbClr val="EAF0F7"/>
                </a:solidFill>
              </a:defRPr>
            </a:pPr>
            <a:r>
              <a:rPr sz="1950" b="0">
                <a:solidFill>
                  <a:srgbClr val="EAF0F7"/>
                </a:solidFill>
              </a:rPr>
              <a:t>Transfer + iki ledger + Outbox</a:t>
            </a:r>
          </a:p>
          <a:p xmlns:a="http://schemas.openxmlformats.org/drawingml/2006/main">
            <a:pPr>
              <a:defRPr sz="1950" b="0">
                <a:solidFill>
                  <a:srgbClr val="EAF0F7"/>
                </a:solidFill>
              </a:defRPr>
            </a:pPr>
            <a:r>
              <a:rPr sz="1950" b="0">
                <a:solidFill>
                  <a:srgbClr val="EAF0F7"/>
                </a:solidFill>
              </a:rPr>
              <a:t>aynı veritabanı commit’i</a:t>
            </a:r>
          </a:p>
        </p:txBody>
      </p:sp>
      <p:sp>
        <p:nvSpPr>
          <p:cNvPr id="6" name="">
            <a:extLst xmlns:a="http://schemas.openxmlformats.org/drawingml/2006/main">
              <a:ext uri="{FF2B5EF4-FFF2-40B4-BE49-F238E27FC236}">
                <a16:creationId xmlns:a16="http://schemas.microsoft.com/office/drawing/2014/main" id="{5AAD16C2-4D08-4125-B725-5447A61A13BB}"/>
              </a:ext>
            </a:extLst>
          </p:cNvPr>
          <p:cNvSpPr>
            <a:spLocks xmlns:a="http://schemas.openxmlformats.org/drawingml/2006/main" noGrp="1"/>
          </p:cNvSpPr>
          <p:nvPr/>
        </p:nvSpPr>
        <p:spPr>
          <a:xfrm xmlns:a="http://schemas.openxmlformats.org/drawingml/2006/main">
            <a:off x="5000625" y="1647825"/>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defRPr sz="2250" b="1">
                <a:solidFill>
                  <a:srgbClr val="79D9CB"/>
                </a:solidFill>
              </a:defRPr>
            </a:lvl1pPr>
            <a:lvl2pPr>
              <a:defRPr sz="2250" b="1">
                <a:solidFill>
                  <a:srgbClr val="79D9CB"/>
                </a:solidFill>
              </a:defRPr>
            </a:lvl2pPr>
            <a:lvl3pPr>
              <a:defRPr sz="2250" b="1">
                <a:solidFill>
                  <a:srgbClr val="79D9CB"/>
                </a:solidFill>
              </a:defRPr>
            </a:lvl3pPr>
            <a:lvl4pPr>
              <a:defRPr sz="2250" b="1">
                <a:solidFill>
                  <a:srgbClr val="79D9CB"/>
                </a:solidFill>
              </a:defRPr>
            </a:lvl4pPr>
            <a:lvl5pPr>
              <a:defRPr sz="2250" b="1">
                <a:solidFill>
                  <a:srgbClr val="79D9CB"/>
                </a:solidFill>
              </a:defRPr>
            </a:lvl5pPr>
            <a:lvl6pPr>
              <a:defRPr sz="2250" b="1">
                <a:solidFill>
                  <a:srgbClr val="79D9CB"/>
                </a:solidFill>
              </a:defRPr>
            </a:lvl6pPr>
            <a:lvl7pPr>
              <a:defRPr sz="2250" b="1">
                <a:solidFill>
                  <a:srgbClr val="79D9CB"/>
                </a:solidFill>
              </a:defRPr>
            </a:lvl7pPr>
            <a:lvl8pPr>
              <a:defRPr sz="2250" b="1">
                <a:solidFill>
                  <a:srgbClr val="79D9CB"/>
                </a:solidFill>
              </a:defRPr>
            </a:lvl8pPr>
            <a:lvl9pPr>
              <a:defRPr sz="2250" b="1">
                <a:solidFill>
                  <a:srgbClr val="79D9CB"/>
                </a:solidFill>
              </a:defRPr>
            </a:lvl9pPr>
          </a:lstStyle>
          <a:p xmlns:a="http://schemas.openxmlformats.org/drawingml/2006/main">
            <a:pPr>
              <a:defRPr sz="2250" b="1">
                <a:solidFill>
                  <a:srgbClr val="79D9CB"/>
                </a:solidFill>
              </a:defRPr>
            </a:pPr>
            <a:r>
              <a:rPr sz="2250" b="1">
                <a:solidFill>
                  <a:srgbClr val="79D9CB"/>
                </a:solidFill>
              </a:rPr>
              <a:t>Kafka yayını</a:t>
            </a:r>
          </a:p>
        </p:txBody>
      </p:sp>
      <p:sp>
        <p:nvSpPr>
          <p:cNvPr id="7" name="">
            <a:extLst xmlns:a="http://schemas.openxmlformats.org/drawingml/2006/main">
              <a:ext uri="{FF2B5EF4-FFF2-40B4-BE49-F238E27FC236}">
                <a16:creationId xmlns:a16="http://schemas.microsoft.com/office/drawing/2014/main" id="{F34F26C6-6F4F-4FF2-8B8F-2B6D72673FE2}"/>
              </a:ext>
            </a:extLst>
          </p:cNvPr>
          <p:cNvSpPr>
            <a:spLocks xmlns:a="http://schemas.openxmlformats.org/drawingml/2006/main" noGrp="1"/>
          </p:cNvSpPr>
          <p:nvPr/>
        </p:nvSpPr>
        <p:spPr>
          <a:xfrm xmlns:a="http://schemas.openxmlformats.org/drawingml/2006/main">
            <a:off x="5000625" y="2190750"/>
            <a:ext cx="3286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defRPr sz="1950" b="0">
                <a:solidFill>
                  <a:srgbClr val="EAF0F7"/>
                </a:solidFill>
              </a:defRPr>
            </a:lvl1pPr>
            <a:lvl2pPr>
              <a:defRPr sz="1950" b="0">
                <a:solidFill>
                  <a:srgbClr val="EAF0F7"/>
                </a:solidFill>
              </a:defRPr>
            </a:lvl2pPr>
            <a:lvl3pPr>
              <a:defRPr sz="1950" b="0">
                <a:solidFill>
                  <a:srgbClr val="EAF0F7"/>
                </a:solidFill>
              </a:defRPr>
            </a:lvl3pPr>
            <a:lvl4pPr>
              <a:defRPr sz="1950" b="0">
                <a:solidFill>
                  <a:srgbClr val="EAF0F7"/>
                </a:solidFill>
              </a:defRPr>
            </a:lvl4pPr>
            <a:lvl5pPr>
              <a:defRPr sz="1950" b="0">
                <a:solidFill>
                  <a:srgbClr val="EAF0F7"/>
                </a:solidFill>
              </a:defRPr>
            </a:lvl5pPr>
            <a:lvl6pPr>
              <a:defRPr sz="1950" b="0">
                <a:solidFill>
                  <a:srgbClr val="EAF0F7"/>
                </a:solidFill>
              </a:defRPr>
            </a:lvl6pPr>
            <a:lvl7pPr>
              <a:defRPr sz="1950" b="0">
                <a:solidFill>
                  <a:srgbClr val="EAF0F7"/>
                </a:solidFill>
              </a:defRPr>
            </a:lvl7pPr>
            <a:lvl8pPr>
              <a:defRPr sz="1950" b="0">
                <a:solidFill>
                  <a:srgbClr val="EAF0F7"/>
                </a:solidFill>
              </a:defRPr>
            </a:lvl8pPr>
            <a:lvl9pPr>
              <a:defRPr sz="1950" b="0">
                <a:solidFill>
                  <a:srgbClr val="EAF0F7"/>
                </a:solidFill>
              </a:defRPr>
            </a:lvl9pPr>
          </a:lstStyle>
          <a:p xmlns:a="http://schemas.openxmlformats.org/drawingml/2006/main">
            <a:pPr>
              <a:defRPr sz="1950" b="0">
                <a:solidFill>
                  <a:srgbClr val="EAF0F7"/>
                </a:solidFill>
              </a:defRPr>
            </a:pPr>
            <a:r>
              <a:rPr sz="1950" b="0">
                <a:solidFill>
                  <a:srgbClr val="EAF0F7"/>
                </a:solidFill>
              </a:rPr>
              <a:t>Scheduler bekleyen olayları gönderir</a:t>
            </a:r>
          </a:p>
          <a:p xmlns:a="http://schemas.openxmlformats.org/drawingml/2006/main">
            <a:pPr>
              <a:defRPr sz="1950" b="0">
                <a:solidFill>
                  <a:srgbClr val="EAF0F7"/>
                </a:solidFill>
              </a:defRPr>
            </a:pPr>
            <a:r>
              <a:rPr sz="1950" b="0">
                <a:solidFill>
                  <a:srgbClr val="EAF0F7"/>
                </a:solidFill>
              </a:rPr>
              <a:t>ack sonrası published_at yazar</a:t>
            </a:r>
          </a:p>
        </p:txBody>
      </p:sp>
      <p:sp>
        <p:nvSpPr>
          <p:cNvPr id="8" name="">
            <a:extLst xmlns:a="http://schemas.openxmlformats.org/drawingml/2006/main">
              <a:ext uri="{FF2B5EF4-FFF2-40B4-BE49-F238E27FC236}">
                <a16:creationId xmlns:a16="http://schemas.microsoft.com/office/drawing/2014/main" id="{AD9A999C-FC7C-4241-AA31-02FDE125924C}"/>
              </a:ext>
            </a:extLst>
          </p:cNvPr>
          <p:cNvSpPr>
            <a:spLocks xmlns:a="http://schemas.openxmlformats.org/drawingml/2006/main" noGrp="1"/>
          </p:cNvSpPr>
          <p:nvPr/>
        </p:nvSpPr>
        <p:spPr>
          <a:xfrm xmlns:a="http://schemas.openxmlformats.org/drawingml/2006/main">
            <a:off x="8810625" y="1647825"/>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defRPr sz="2250" b="1">
                <a:solidFill>
                  <a:srgbClr val="79D9CB"/>
                </a:solidFill>
              </a:defRPr>
            </a:lvl1pPr>
            <a:lvl2pPr>
              <a:defRPr sz="2250" b="1">
                <a:solidFill>
                  <a:srgbClr val="79D9CB"/>
                </a:solidFill>
              </a:defRPr>
            </a:lvl2pPr>
            <a:lvl3pPr>
              <a:defRPr sz="2250" b="1">
                <a:solidFill>
                  <a:srgbClr val="79D9CB"/>
                </a:solidFill>
              </a:defRPr>
            </a:lvl3pPr>
            <a:lvl4pPr>
              <a:defRPr sz="2250" b="1">
                <a:solidFill>
                  <a:srgbClr val="79D9CB"/>
                </a:solidFill>
              </a:defRPr>
            </a:lvl4pPr>
            <a:lvl5pPr>
              <a:defRPr sz="2250" b="1">
                <a:solidFill>
                  <a:srgbClr val="79D9CB"/>
                </a:solidFill>
              </a:defRPr>
            </a:lvl5pPr>
            <a:lvl6pPr>
              <a:defRPr sz="2250" b="1">
                <a:solidFill>
                  <a:srgbClr val="79D9CB"/>
                </a:solidFill>
              </a:defRPr>
            </a:lvl6pPr>
            <a:lvl7pPr>
              <a:defRPr sz="2250" b="1">
                <a:solidFill>
                  <a:srgbClr val="79D9CB"/>
                </a:solidFill>
              </a:defRPr>
            </a:lvl7pPr>
            <a:lvl8pPr>
              <a:defRPr sz="2250" b="1">
                <a:solidFill>
                  <a:srgbClr val="79D9CB"/>
                </a:solidFill>
              </a:defRPr>
            </a:lvl8pPr>
            <a:lvl9pPr>
              <a:defRPr sz="2250" b="1">
                <a:solidFill>
                  <a:srgbClr val="79D9CB"/>
                </a:solidFill>
              </a:defRPr>
            </a:lvl9pPr>
          </a:lstStyle>
          <a:p xmlns:a="http://schemas.openxmlformats.org/drawingml/2006/main">
            <a:pPr>
              <a:defRPr sz="2250" b="1">
                <a:solidFill>
                  <a:srgbClr val="79D9CB"/>
                </a:solidFill>
              </a:defRPr>
            </a:pPr>
            <a:r>
              <a:rPr sz="2250" b="1">
                <a:solidFill>
                  <a:srgbClr val="79D9CB"/>
                </a:solidFill>
              </a:rPr>
              <a:t>Bildirim servisi</a:t>
            </a:r>
          </a:p>
        </p:txBody>
      </p:sp>
      <p:sp>
        <p:nvSpPr>
          <p:cNvPr id="9" name="">
            <a:extLst xmlns:a="http://schemas.openxmlformats.org/drawingml/2006/main">
              <a:ext uri="{FF2B5EF4-FFF2-40B4-BE49-F238E27FC236}">
                <a16:creationId xmlns:a16="http://schemas.microsoft.com/office/drawing/2014/main" id="{7D8292E4-DAB9-4470-86B8-7F22755A61DF}"/>
              </a:ext>
            </a:extLst>
          </p:cNvPr>
          <p:cNvSpPr>
            <a:spLocks xmlns:a="http://schemas.openxmlformats.org/drawingml/2006/main" noGrp="1"/>
          </p:cNvSpPr>
          <p:nvPr/>
        </p:nvSpPr>
        <p:spPr>
          <a:xfrm xmlns:a="http://schemas.openxmlformats.org/drawingml/2006/main">
            <a:off x="8810625" y="2190750"/>
            <a:ext cx="27146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defRPr sz="1950" b="0">
                <a:solidFill>
                  <a:srgbClr val="EAF0F7"/>
                </a:solidFill>
              </a:defRPr>
            </a:lvl1pPr>
            <a:lvl2pPr>
              <a:defRPr sz="1950" b="0">
                <a:solidFill>
                  <a:srgbClr val="EAF0F7"/>
                </a:solidFill>
              </a:defRPr>
            </a:lvl2pPr>
            <a:lvl3pPr>
              <a:defRPr sz="1950" b="0">
                <a:solidFill>
                  <a:srgbClr val="EAF0F7"/>
                </a:solidFill>
              </a:defRPr>
            </a:lvl3pPr>
            <a:lvl4pPr>
              <a:defRPr sz="1950" b="0">
                <a:solidFill>
                  <a:srgbClr val="EAF0F7"/>
                </a:solidFill>
              </a:defRPr>
            </a:lvl4pPr>
            <a:lvl5pPr>
              <a:defRPr sz="1950" b="0">
                <a:solidFill>
                  <a:srgbClr val="EAF0F7"/>
                </a:solidFill>
              </a:defRPr>
            </a:lvl5pPr>
            <a:lvl6pPr>
              <a:defRPr sz="1950" b="0">
                <a:solidFill>
                  <a:srgbClr val="EAF0F7"/>
                </a:solidFill>
              </a:defRPr>
            </a:lvl6pPr>
            <a:lvl7pPr>
              <a:defRPr sz="1950" b="0">
                <a:solidFill>
                  <a:srgbClr val="EAF0F7"/>
                </a:solidFill>
              </a:defRPr>
            </a:lvl7pPr>
            <a:lvl8pPr>
              <a:defRPr sz="1950" b="0">
                <a:solidFill>
                  <a:srgbClr val="EAF0F7"/>
                </a:solidFill>
              </a:defRPr>
            </a:lvl8pPr>
            <a:lvl9pPr>
              <a:defRPr sz="1950" b="0">
                <a:solidFill>
                  <a:srgbClr val="EAF0F7"/>
                </a:solidFill>
              </a:defRPr>
            </a:lvl9pPr>
          </a:lstStyle>
          <a:p xmlns:a="http://schemas.openxmlformats.org/drawingml/2006/main">
            <a:pPr>
              <a:defRPr sz="1950" b="0">
                <a:solidFill>
                  <a:srgbClr val="EAF0F7"/>
                </a:solidFill>
              </a:defRPr>
            </a:pPr>
            <a:r>
              <a:rPr sz="1950" b="0">
                <a:solidFill>
                  <a:srgbClr val="EAF0F7"/>
                </a:solidFill>
              </a:rPr>
              <a:t>Inbox event_id unique</a:t>
            </a:r>
          </a:p>
          <a:p xmlns:a="http://schemas.openxmlformats.org/drawingml/2006/main">
            <a:pPr>
              <a:defRPr sz="1950" b="0">
                <a:solidFill>
                  <a:srgbClr val="EAF0F7"/>
                </a:solidFill>
              </a:defRPr>
            </a:pPr>
            <a:r>
              <a:rPr sz="1950" b="0">
                <a:solidFill>
                  <a:srgbClr val="EAF0F7"/>
                </a:solidFill>
              </a:rPr>
              <a:t>aynı olay tek bildirim</a:t>
            </a:r>
          </a:p>
        </p:txBody>
      </p:sp>
      <p:sp>
        <p:nvSpPr>
          <p:cNvPr id="10" name="">
            <a:extLst xmlns:a="http://schemas.openxmlformats.org/drawingml/2006/main">
              <a:ext uri="{FF2B5EF4-FFF2-40B4-BE49-F238E27FC236}">
                <a16:creationId xmlns:a16="http://schemas.microsoft.com/office/drawing/2014/main" id="{E9BD1FD2-542C-4A43-B97E-8EB1732D48AC}"/>
              </a:ext>
            </a:extLst>
          </p:cNvPr>
          <p:cNvSpPr>
            <a:spLocks xmlns:a="http://schemas.openxmlformats.org/drawingml/2006/main" noGrp="1"/>
          </p:cNvSpPr>
          <p:nvPr/>
        </p:nvSpPr>
        <p:spPr>
          <a:xfrm xmlns:a="http://schemas.openxmlformats.org/drawingml/2006/main">
            <a:off x="857250" y="4657725"/>
            <a:ext cx="1028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00" b="1">
                <a:solidFill>
                  <a:srgbClr val="F3BA6C"/>
                </a:solidFill>
              </a:defRPr>
            </a:defPPr>
            <a:lvl1pPr>
              <a:defRPr sz="2400" b="1">
                <a:solidFill>
                  <a:srgbClr val="F3BA6C"/>
                </a:solidFill>
              </a:defRPr>
            </a:lvl1pPr>
            <a:lvl2pPr>
              <a:defRPr sz="2400" b="1">
                <a:solidFill>
                  <a:srgbClr val="F3BA6C"/>
                </a:solidFill>
              </a:defRPr>
            </a:lvl2pPr>
            <a:lvl3pPr>
              <a:defRPr sz="2400" b="1">
                <a:solidFill>
                  <a:srgbClr val="F3BA6C"/>
                </a:solidFill>
              </a:defRPr>
            </a:lvl3pPr>
            <a:lvl4pPr>
              <a:defRPr sz="2400" b="1">
                <a:solidFill>
                  <a:srgbClr val="F3BA6C"/>
                </a:solidFill>
              </a:defRPr>
            </a:lvl4pPr>
            <a:lvl5pPr>
              <a:defRPr sz="2400" b="1">
                <a:solidFill>
                  <a:srgbClr val="F3BA6C"/>
                </a:solidFill>
              </a:defRPr>
            </a:lvl5pPr>
            <a:lvl6pPr>
              <a:defRPr sz="2400" b="1">
                <a:solidFill>
                  <a:srgbClr val="F3BA6C"/>
                </a:solidFill>
              </a:defRPr>
            </a:lvl6pPr>
            <a:lvl7pPr>
              <a:defRPr sz="2400" b="1">
                <a:solidFill>
                  <a:srgbClr val="F3BA6C"/>
                </a:solidFill>
              </a:defRPr>
            </a:lvl7pPr>
            <a:lvl8pPr>
              <a:defRPr sz="2400" b="1">
                <a:solidFill>
                  <a:srgbClr val="F3BA6C"/>
                </a:solidFill>
              </a:defRPr>
            </a:lvl8pPr>
            <a:lvl9pPr>
              <a:defRPr sz="2400" b="1">
                <a:solidFill>
                  <a:srgbClr val="F3BA6C"/>
                </a:solidFill>
              </a:defRPr>
            </a:lvl9pPr>
          </a:lstStyle>
          <a:p xmlns:a="http://schemas.openxmlformats.org/drawingml/2006/main">
            <a:pPr>
              <a:defRPr sz="2400" b="1">
                <a:solidFill>
                  <a:srgbClr val="F3BA6C"/>
                </a:solidFill>
              </a:defRPr>
            </a:pPr>
            <a:r>
              <a:rPr sz="2400" b="1">
                <a:solidFill>
                  <a:srgbClr val="F3BA6C"/>
                </a:solidFill>
              </a:rPr>
              <a:t>Teslimat modeli: en az bir kez gönderim + idempotent tüketim</a:t>
            </a:r>
          </a:p>
        </p:txBody>
      </p:sp>
    </p:spTree>
    <p:extLst>
      <p:ext uri="{BB962C8B-B14F-4D97-AF65-F5344CB8AC3E}">
        <p14:creationId xmlns:p14="http://schemas.microsoft.com/office/powerpoint/2010/main" val="948488871"/>
      </p:ext>
    </p:extLst>
  </p:cSld>
</p:sld>
</file>

<file path=ppt/slides/slide13.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CDC2678-DF09-4F27-9145-F145867DD5AF}"/>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Hibernate veri çekme ve N+1</a:t>
            </a:r>
          </a:p>
        </p:txBody>
      </p:sp>
      <p:sp>
        <p:nvSpPr>
          <p:cNvPr id="3" name="">
            <a:extLst xmlns:a="http://schemas.openxmlformats.org/drawingml/2006/main">
              <a:ext uri="{FF2B5EF4-FFF2-40B4-BE49-F238E27FC236}">
                <a16:creationId xmlns:a16="http://schemas.microsoft.com/office/drawing/2014/main" id="{6EB95D15-AC12-429E-B73C-72840DEEACB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13</a:t>
            </a:r>
          </a:p>
        </p:txBody>
      </p:sp>
      <p:sp>
        <p:nvSpPr>
          <p:cNvPr id="4" name="">
            <a:extLst xmlns:a="http://schemas.openxmlformats.org/drawingml/2006/main">
              <a:ext uri="{FF2B5EF4-FFF2-40B4-BE49-F238E27FC236}">
                <a16:creationId xmlns:a16="http://schemas.microsoft.com/office/drawing/2014/main" id="{C79B043E-373F-4F16-B3BB-01EF5D500525}"/>
              </a:ext>
            </a:extLst>
          </p:cNvPr>
          <p:cNvSpPr>
            <a:spLocks xmlns:a="http://schemas.openxmlformats.org/drawingml/2006/main" noGrp="1"/>
          </p:cNvSpPr>
          <p:nvPr/>
        </p:nvSpPr>
        <p:spPr>
          <a:xfrm xmlns:a="http://schemas.openxmlformats.org/drawingml/2006/main">
            <a:off x="857250" y="1666875"/>
            <a:ext cx="981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325" b="1">
                <a:solidFill>
                  <a:srgbClr val="79D9CB"/>
                </a:solidFill>
              </a:defRPr>
            </a:defPPr>
            <a:lvl1pPr>
              <a:defRPr sz="2325" b="1">
                <a:solidFill>
                  <a:srgbClr val="79D9CB"/>
                </a:solidFill>
              </a:defRPr>
            </a:lvl1pPr>
            <a:lvl2pPr>
              <a:defRPr sz="2325" b="1">
                <a:solidFill>
                  <a:srgbClr val="79D9CB"/>
                </a:solidFill>
              </a:defRPr>
            </a:lvl2pPr>
            <a:lvl3pPr>
              <a:defRPr sz="2325" b="1">
                <a:solidFill>
                  <a:srgbClr val="79D9CB"/>
                </a:solidFill>
              </a:defRPr>
            </a:lvl3pPr>
            <a:lvl4pPr>
              <a:defRPr sz="2325" b="1">
                <a:solidFill>
                  <a:srgbClr val="79D9CB"/>
                </a:solidFill>
              </a:defRPr>
            </a:lvl4pPr>
            <a:lvl5pPr>
              <a:defRPr sz="2325" b="1">
                <a:solidFill>
                  <a:srgbClr val="79D9CB"/>
                </a:solidFill>
              </a:defRPr>
            </a:lvl5pPr>
            <a:lvl6pPr>
              <a:defRPr sz="2325" b="1">
                <a:solidFill>
                  <a:srgbClr val="79D9CB"/>
                </a:solidFill>
              </a:defRPr>
            </a:lvl6pPr>
            <a:lvl7pPr>
              <a:defRPr sz="2325" b="1">
                <a:solidFill>
                  <a:srgbClr val="79D9CB"/>
                </a:solidFill>
              </a:defRPr>
            </a:lvl7pPr>
            <a:lvl8pPr>
              <a:defRPr sz="2325" b="1">
                <a:solidFill>
                  <a:srgbClr val="79D9CB"/>
                </a:solidFill>
              </a:defRPr>
            </a:lvl8pPr>
            <a:lvl9pPr>
              <a:defRPr sz="2325" b="1">
                <a:solidFill>
                  <a:srgbClr val="79D9CB"/>
                </a:solidFill>
              </a:defRPr>
            </a:lvl9pPr>
          </a:lstStyle>
          <a:p xmlns:a="http://schemas.openxmlformats.org/drawingml/2006/main">
            <a:pPr>
              <a:defRPr sz="2325" b="1">
                <a:solidFill>
                  <a:srgbClr val="79D9CB"/>
                </a:solidFill>
              </a:defRPr>
            </a:pPr>
            <a:r>
              <a:rPr sz="2325" b="1">
                <a:solidFill>
                  <a:srgbClr val="79D9CB"/>
                </a:solidFill>
              </a:rPr>
              <a:t>Account.customer ilişkisi LAZY</a:t>
            </a:r>
          </a:p>
        </p:txBody>
      </p:sp>
      <p:sp>
        <p:nvSpPr>
          <p:cNvPr id="5" name="">
            <a:extLst xmlns:a="http://schemas.openxmlformats.org/drawingml/2006/main">
              <a:ext uri="{FF2B5EF4-FFF2-40B4-BE49-F238E27FC236}">
                <a16:creationId xmlns:a16="http://schemas.microsoft.com/office/drawing/2014/main" id="{6601727E-E728-413C-B6A7-0ABECA35F068}"/>
              </a:ext>
            </a:extLst>
          </p:cNvPr>
          <p:cNvSpPr>
            <a:spLocks xmlns:a="http://schemas.openxmlformats.org/drawingml/2006/main" noGrp="1"/>
          </p:cNvSpPr>
          <p:nvPr/>
        </p:nvSpPr>
        <p:spPr>
          <a:xfrm xmlns:a="http://schemas.openxmlformats.org/drawingml/2006/main">
            <a:off x="857250" y="2381250"/>
            <a:ext cx="1019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defRPr sz="2100" b="0">
                <a:solidFill>
                  <a:srgbClr val="EAF0F7"/>
                </a:solidFill>
              </a:defRPr>
            </a:lvl1pPr>
            <a:lvl2pPr>
              <a:defRPr sz="2100" b="0">
                <a:solidFill>
                  <a:srgbClr val="EAF0F7"/>
                </a:solidFill>
              </a:defRPr>
            </a:lvl2pPr>
            <a:lvl3pPr>
              <a:defRPr sz="2100" b="0">
                <a:solidFill>
                  <a:srgbClr val="EAF0F7"/>
                </a:solidFill>
              </a:defRPr>
            </a:lvl3pPr>
            <a:lvl4pPr>
              <a:defRPr sz="2100" b="0">
                <a:solidFill>
                  <a:srgbClr val="EAF0F7"/>
                </a:solidFill>
              </a:defRPr>
            </a:lvl4pPr>
            <a:lvl5pPr>
              <a:defRPr sz="2100" b="0">
                <a:solidFill>
                  <a:srgbClr val="EAF0F7"/>
                </a:solidFill>
              </a:defRPr>
            </a:lvl5pPr>
            <a:lvl6pPr>
              <a:defRPr sz="2100" b="0">
                <a:solidFill>
                  <a:srgbClr val="EAF0F7"/>
                </a:solidFill>
              </a:defRPr>
            </a:lvl6pPr>
            <a:lvl7pPr>
              <a:defRPr sz="2100" b="0">
                <a:solidFill>
                  <a:srgbClr val="EAF0F7"/>
                </a:solidFill>
              </a:defRPr>
            </a:lvl7pPr>
            <a:lvl8pPr>
              <a:defRPr sz="2100" b="0">
                <a:solidFill>
                  <a:srgbClr val="EAF0F7"/>
                </a:solidFill>
              </a:defRPr>
            </a:lvl8pPr>
            <a:lvl9pPr>
              <a:defRPr sz="2100" b="0">
                <a:solidFill>
                  <a:srgbClr val="EAF0F7"/>
                </a:solidFill>
              </a:defRPr>
            </a:lvl9pPr>
          </a:lstStyle>
          <a:p xmlns:a="http://schemas.openxmlformats.org/drawingml/2006/main">
            <a:pPr>
              <a:defRPr sz="2100" b="0">
                <a:solidFill>
                  <a:srgbClr val="EAF0F7"/>
                </a:solidFill>
              </a:defRPr>
            </a:pPr>
            <a:r>
              <a:rPr sz="2100" b="0">
                <a:solidFill>
                  <a:srgbClr val="EAF0F7"/>
                </a:solidFill>
              </a:rPr>
              <a:t>findAll() + her müşteri adına erişim: ek SQL sorguları</a:t>
            </a:r>
          </a:p>
        </p:txBody>
      </p:sp>
      <p:sp>
        <p:nvSpPr>
          <p:cNvPr id="6" name="">
            <a:extLst xmlns:a="http://schemas.openxmlformats.org/drawingml/2006/main">
              <a:ext uri="{FF2B5EF4-FFF2-40B4-BE49-F238E27FC236}">
                <a16:creationId xmlns:a16="http://schemas.microsoft.com/office/drawing/2014/main" id="{421D0B58-6D0E-486E-893A-545CED6EEC66}"/>
              </a:ext>
            </a:extLst>
          </p:cNvPr>
          <p:cNvSpPr>
            <a:spLocks xmlns:a="http://schemas.openxmlformats.org/drawingml/2006/main" noGrp="1"/>
          </p:cNvSpPr>
          <p:nvPr/>
        </p:nvSpPr>
        <p:spPr>
          <a:xfrm xmlns:a="http://schemas.openxmlformats.org/drawingml/2006/main">
            <a:off x="857250" y="3267075"/>
            <a:ext cx="1019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F3BA6C"/>
                </a:solidFill>
              </a:defRPr>
            </a:defPPr>
            <a:lvl1pPr>
              <a:defRPr sz="2100" b="1">
                <a:solidFill>
                  <a:srgbClr val="F3BA6C"/>
                </a:solidFill>
              </a:defRPr>
            </a:lvl1pPr>
            <a:lvl2pPr>
              <a:defRPr sz="2100" b="1">
                <a:solidFill>
                  <a:srgbClr val="F3BA6C"/>
                </a:solidFill>
              </a:defRPr>
            </a:lvl2pPr>
            <a:lvl3pPr>
              <a:defRPr sz="2100" b="1">
                <a:solidFill>
                  <a:srgbClr val="F3BA6C"/>
                </a:solidFill>
              </a:defRPr>
            </a:lvl3pPr>
            <a:lvl4pPr>
              <a:defRPr sz="2100" b="1">
                <a:solidFill>
                  <a:srgbClr val="F3BA6C"/>
                </a:solidFill>
              </a:defRPr>
            </a:lvl4pPr>
            <a:lvl5pPr>
              <a:defRPr sz="2100" b="1">
                <a:solidFill>
                  <a:srgbClr val="F3BA6C"/>
                </a:solidFill>
              </a:defRPr>
            </a:lvl5pPr>
            <a:lvl6pPr>
              <a:defRPr sz="2100" b="1">
                <a:solidFill>
                  <a:srgbClr val="F3BA6C"/>
                </a:solidFill>
              </a:defRPr>
            </a:lvl6pPr>
            <a:lvl7pPr>
              <a:defRPr sz="2100" b="1">
                <a:solidFill>
                  <a:srgbClr val="F3BA6C"/>
                </a:solidFill>
              </a:defRPr>
            </a:lvl7pPr>
            <a:lvl8pPr>
              <a:defRPr sz="2100" b="1">
                <a:solidFill>
                  <a:srgbClr val="F3BA6C"/>
                </a:solidFill>
              </a:defRPr>
            </a:lvl8pPr>
            <a:lvl9pPr>
              <a:defRPr sz="2100" b="1">
                <a:solidFill>
                  <a:srgbClr val="F3BA6C"/>
                </a:solidFill>
              </a:defRPr>
            </a:lvl9pPr>
          </a:lstStyle>
          <a:p xmlns:a="http://schemas.openxmlformats.org/drawingml/2006/main">
            <a:pPr>
              <a:defRPr sz="2100" b="1">
                <a:solidFill>
                  <a:srgbClr val="F3BA6C"/>
                </a:solidFill>
              </a:defRPr>
            </a:pPr>
            <a:r>
              <a:rPr sz="2100" b="1">
                <a:solidFill>
                  <a:srgbClr val="F3BA6C"/>
                </a:solidFill>
              </a:rPr>
              <a:t>@EntityGraph(customer): hesap ve müşteri tek sorguda</a:t>
            </a:r>
          </a:p>
        </p:txBody>
      </p:sp>
      <p:sp>
        <p:nvSpPr>
          <p:cNvPr id="7" name="">
            <a:extLst xmlns:a="http://schemas.openxmlformats.org/drawingml/2006/main">
              <a:ext uri="{FF2B5EF4-FFF2-40B4-BE49-F238E27FC236}">
                <a16:creationId xmlns:a16="http://schemas.microsoft.com/office/drawing/2014/main" id="{44B3A8AE-304F-4A66-9546-9012528BEAAA}"/>
              </a:ext>
            </a:extLst>
          </p:cNvPr>
          <p:cNvSpPr>
            <a:spLocks xmlns:a="http://schemas.openxmlformats.org/drawingml/2006/main" noGrp="1"/>
          </p:cNvSpPr>
          <p:nvPr/>
        </p:nvSpPr>
        <p:spPr>
          <a:xfrm xmlns:a="http://schemas.openxmlformats.org/drawingml/2006/main">
            <a:off x="857250" y="4667250"/>
            <a:ext cx="1028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BFCBDD"/>
                </a:solidFill>
              </a:defRPr>
            </a:defPPr>
            <a:lvl1pPr>
              <a:defRPr sz="2025" b="0">
                <a:solidFill>
                  <a:srgbClr val="BFCBDD"/>
                </a:solidFill>
              </a:defRPr>
            </a:lvl1pPr>
            <a:lvl2pPr>
              <a:defRPr sz="2025" b="0">
                <a:solidFill>
                  <a:srgbClr val="BFCBDD"/>
                </a:solidFill>
              </a:defRPr>
            </a:lvl2pPr>
            <a:lvl3pPr>
              <a:defRPr sz="2025" b="0">
                <a:solidFill>
                  <a:srgbClr val="BFCBDD"/>
                </a:solidFill>
              </a:defRPr>
            </a:lvl3pPr>
            <a:lvl4pPr>
              <a:defRPr sz="2025" b="0">
                <a:solidFill>
                  <a:srgbClr val="BFCBDD"/>
                </a:solidFill>
              </a:defRPr>
            </a:lvl4pPr>
            <a:lvl5pPr>
              <a:defRPr sz="2025" b="0">
                <a:solidFill>
                  <a:srgbClr val="BFCBDD"/>
                </a:solidFill>
              </a:defRPr>
            </a:lvl5pPr>
            <a:lvl6pPr>
              <a:defRPr sz="2025" b="0">
                <a:solidFill>
                  <a:srgbClr val="BFCBDD"/>
                </a:solidFill>
              </a:defRPr>
            </a:lvl6pPr>
            <a:lvl7pPr>
              <a:defRPr sz="2025" b="0">
                <a:solidFill>
                  <a:srgbClr val="BFCBDD"/>
                </a:solidFill>
              </a:defRPr>
            </a:lvl7pPr>
            <a:lvl8pPr>
              <a:defRPr sz="2025" b="0">
                <a:solidFill>
                  <a:srgbClr val="BFCBDD"/>
                </a:solidFill>
              </a:defRPr>
            </a:lvl8pPr>
            <a:lvl9pPr>
              <a:defRPr sz="2025" b="0">
                <a:solidFill>
                  <a:srgbClr val="BFCBDD"/>
                </a:solidFill>
              </a:defRPr>
            </a:lvl9pPr>
          </a:lstStyle>
          <a:p xmlns:a="http://schemas.openxmlformats.org/drawingml/2006/main">
            <a:pPr>
              <a:defRPr sz="2025" b="0">
                <a:solidFill>
                  <a:srgbClr val="BFCBDD"/>
                </a:solidFill>
              </a:defRPr>
            </a:pPr>
            <a:r>
              <a:rPr sz="2025" b="0">
                <a:solidFill>
                  <a:srgbClr val="BFCBDD"/>
                </a:solidFill>
              </a:rPr>
              <a:t>Test, Hibernate statement sayısını karşılaştırır; sayfalı hesap API’si de EntityGraph kullanır.</a:t>
            </a:r>
          </a:p>
        </p:txBody>
      </p:sp>
    </p:spTree>
    <p:extLst>
      <p:ext uri="{BB962C8B-B14F-4D97-AF65-F5344CB8AC3E}">
        <p14:creationId xmlns:p14="http://schemas.microsoft.com/office/powerpoint/2010/main" val="457325880"/>
      </p:ext>
    </p:extLst>
  </p:cSld>
</p:sld>
</file>

<file path=ppt/slides/slide14.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3C5B73A-02C6-47A0-8A58-00D017B2149C}"/>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HTTP akışı ve kesen sorumluluklar</a:t>
            </a:r>
          </a:p>
        </p:txBody>
      </p:sp>
      <p:sp>
        <p:nvSpPr>
          <p:cNvPr id="3" name="">
            <a:extLst xmlns:a="http://schemas.openxmlformats.org/drawingml/2006/main">
              <a:ext uri="{FF2B5EF4-FFF2-40B4-BE49-F238E27FC236}">
                <a16:creationId xmlns:a16="http://schemas.microsoft.com/office/drawing/2014/main" id="{5B7A94B5-72CA-40DF-B073-E05E9903544C}"/>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14</a:t>
            </a:r>
          </a:p>
        </p:txBody>
      </p:sp>
      <p:sp>
        <p:nvSpPr>
          <p:cNvPr id="4" name="">
            <a:extLst xmlns:a="http://schemas.openxmlformats.org/drawingml/2006/main">
              <a:ext uri="{FF2B5EF4-FFF2-40B4-BE49-F238E27FC236}">
                <a16:creationId xmlns:a16="http://schemas.microsoft.com/office/drawing/2014/main" id="{F7B4E5D8-68C3-423D-9C59-3C05D375438C}"/>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Web katmanı</a:t>
            </a:r>
          </a:p>
        </p:txBody>
      </p:sp>
      <p:sp>
        <p:nvSpPr>
          <p:cNvPr id="5" name="">
            <a:extLst xmlns:a="http://schemas.openxmlformats.org/drawingml/2006/main">
              <a:ext uri="{FF2B5EF4-FFF2-40B4-BE49-F238E27FC236}">
                <a16:creationId xmlns:a16="http://schemas.microsoft.com/office/drawing/2014/main" id="{DF75768A-EAF2-4994-BAC3-E935B717E855}"/>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@PathVariable: hesap kimliği</a:t>
            </a:r>
          </a:p>
          <a:p xmlns:a="http://schemas.openxmlformats.org/drawingml/2006/main">
            <a:r>
              <a:t/>
            </a:r>
          </a:p>
          <a:p xmlns:a="http://schemas.openxmlformats.org/drawingml/2006/main">
            <a:pPr>
              <a:defRPr sz="1725" b="0">
                <a:solidFill>
                  <a:srgbClr val="EAF0F7"/>
                </a:solidFill>
              </a:defRPr>
            </a:pPr>
            <a:r>
              <a:rPr sz="1725" b="0">
                <a:solidFill>
                  <a:srgbClr val="EAF0F7"/>
                </a:solidFill>
              </a:rPr>
              <a:t>@RequestParam: page / size</a:t>
            </a:r>
          </a:p>
          <a:p xmlns:a="http://schemas.openxmlformats.org/drawingml/2006/main">
            <a:r>
              <a:t/>
            </a:r>
          </a:p>
          <a:p xmlns:a="http://schemas.openxmlformats.org/drawingml/2006/main">
            <a:pPr>
              <a:defRPr sz="1725" b="0">
                <a:solidFill>
                  <a:srgbClr val="EAF0F7"/>
                </a:solidFill>
              </a:defRPr>
            </a:pPr>
            <a:r>
              <a:rPr sz="1725" b="0">
                <a:solidFill>
                  <a:srgbClr val="EAF0F7"/>
                </a:solidFill>
              </a:rPr>
              <a:t>@Valid: istek doğrulama</a:t>
            </a:r>
          </a:p>
        </p:txBody>
      </p:sp>
      <p:sp>
        <p:nvSpPr>
          <p:cNvPr id="6" name="">
            <a:extLst xmlns:a="http://schemas.openxmlformats.org/drawingml/2006/main">
              <a:ext uri="{FF2B5EF4-FFF2-40B4-BE49-F238E27FC236}">
                <a16:creationId xmlns:a16="http://schemas.microsoft.com/office/drawing/2014/main" id="{E43FC31E-C8B8-4359-BE41-2DB435457E95}"/>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İzleme</a:t>
            </a:r>
          </a:p>
        </p:txBody>
      </p:sp>
      <p:sp>
        <p:nvSpPr>
          <p:cNvPr id="7" name="">
            <a:extLst xmlns:a="http://schemas.openxmlformats.org/drawingml/2006/main">
              <a:ext uri="{FF2B5EF4-FFF2-40B4-BE49-F238E27FC236}">
                <a16:creationId xmlns:a16="http://schemas.microsoft.com/office/drawing/2014/main" id="{7ABC2602-349F-4F17-B1A5-D7C32B7314E2}"/>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RequestIdInterceptor</a:t>
            </a:r>
          </a:p>
          <a:p xmlns:a="http://schemas.openxmlformats.org/drawingml/2006/main">
            <a:r>
              <a:t/>
            </a:r>
          </a:p>
          <a:p xmlns:a="http://schemas.openxmlformats.org/drawingml/2006/main">
            <a:pPr>
              <a:defRPr sz="1725" b="0">
                <a:solidFill>
                  <a:srgbClr val="EAF0F7"/>
                </a:solidFill>
              </a:defRPr>
            </a:pPr>
            <a:r>
              <a:rPr sz="1725" b="0">
                <a:solidFill>
                  <a:srgbClr val="EAF0F7"/>
                </a:solidFill>
              </a:rPr>
              <a:t>ServiceTimingAspect</a:t>
            </a:r>
          </a:p>
          <a:p xmlns:a="http://schemas.openxmlformats.org/drawingml/2006/main">
            <a:r>
              <a:t/>
            </a:r>
          </a:p>
          <a:p xmlns:a="http://schemas.openxmlformats.org/drawingml/2006/main">
            <a:pPr>
              <a:defRPr sz="1725" b="0">
                <a:solidFill>
                  <a:srgbClr val="EAF0F7"/>
                </a:solidFill>
              </a:defRPr>
            </a:pPr>
            <a:r>
              <a:rPr sz="1725" b="0">
                <a:solidFill>
                  <a:srgbClr val="EAF0F7"/>
                </a:solidFill>
              </a:rPr>
              <a:t>Actuator endpointleri</a:t>
            </a:r>
          </a:p>
        </p:txBody>
      </p:sp>
      <p:sp>
        <p:nvSpPr>
          <p:cNvPr id="8" name="">
            <a:extLst xmlns:a="http://schemas.openxmlformats.org/drawingml/2006/main">
              <a:ext uri="{FF2B5EF4-FFF2-40B4-BE49-F238E27FC236}">
                <a16:creationId xmlns:a16="http://schemas.microsoft.com/office/drawing/2014/main" id="{EF4122DD-041B-4AEE-94A1-DC070A0B0119}"/>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Hata biçimi</a:t>
            </a:r>
          </a:p>
        </p:txBody>
      </p:sp>
      <p:sp>
        <p:nvSpPr>
          <p:cNvPr id="9" name="">
            <a:extLst xmlns:a="http://schemas.openxmlformats.org/drawingml/2006/main">
              <a:ext uri="{FF2B5EF4-FFF2-40B4-BE49-F238E27FC236}">
                <a16:creationId xmlns:a16="http://schemas.microsoft.com/office/drawing/2014/main" id="{2948FAD0-E4CE-46FF-A2CF-8B62A6CFA84B}"/>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ApiExceptionHandler</a:t>
            </a:r>
          </a:p>
          <a:p xmlns:a="http://schemas.openxmlformats.org/drawingml/2006/main">
            <a:r>
              <a:t/>
            </a:r>
          </a:p>
          <a:p xmlns:a="http://schemas.openxmlformats.org/drawingml/2006/main">
            <a:pPr>
              <a:defRPr sz="1725" b="0">
                <a:solidFill>
                  <a:srgbClr val="EAF0F7"/>
                </a:solidFill>
              </a:defRPr>
            </a:pPr>
            <a:r>
              <a:rPr sz="1725" b="0">
                <a:solidFill>
                  <a:srgbClr val="EAF0F7"/>
                </a:solidFill>
              </a:rPr>
              <a:t>DomainException kodları</a:t>
            </a:r>
          </a:p>
          <a:p xmlns:a="http://schemas.openxmlformats.org/drawingml/2006/main">
            <a:r>
              <a:t/>
            </a:r>
          </a:p>
          <a:p xmlns:a="http://schemas.openxmlformats.org/drawingml/2006/main">
            <a:pPr>
              <a:defRPr sz="1725" b="0">
                <a:solidFill>
                  <a:srgbClr val="EAF0F7"/>
                </a:solidFill>
              </a:defRPr>
            </a:pPr>
            <a:r>
              <a:rPr sz="1725" b="0">
                <a:solidFill>
                  <a:srgbClr val="EAF0F7"/>
                </a:solidFill>
              </a:rPr>
              <a:t>409 idempotency çatışması</a:t>
            </a:r>
          </a:p>
        </p:txBody>
      </p:sp>
      <p:sp>
        <p:nvSpPr>
          <p:cNvPr id="10" name="">
            <a:extLst xmlns:a="http://schemas.openxmlformats.org/drawingml/2006/main">
              <a:ext uri="{FF2B5EF4-FFF2-40B4-BE49-F238E27FC236}">
                <a16:creationId xmlns:a16="http://schemas.microsoft.com/office/drawing/2014/main" id="{B05FDE34-6E53-4EE9-8E19-8BDFF9011230}"/>
              </a:ext>
            </a:extLst>
          </p:cNvPr>
          <p:cNvSpPr>
            <a:spLocks xmlns:a="http://schemas.openxmlformats.org/drawingml/2006/main" noGrp="1"/>
          </p:cNvSpPr>
          <p:nvPr/>
        </p:nvSpPr>
        <p:spPr>
          <a:xfrm xmlns:a="http://schemas.openxmlformats.org/drawingml/2006/main">
            <a:off x="857250" y="55245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defRPr sz="1800" b="0">
                <a:solidFill>
                  <a:srgbClr val="BFCBDD"/>
                </a:solidFill>
              </a:defRPr>
            </a:lvl1pPr>
            <a:lvl2pPr>
              <a:defRPr sz="1800" b="0">
                <a:solidFill>
                  <a:srgbClr val="BFCBDD"/>
                </a:solidFill>
              </a:defRPr>
            </a:lvl2pPr>
            <a:lvl3pPr>
              <a:defRPr sz="1800" b="0">
                <a:solidFill>
                  <a:srgbClr val="BFCBDD"/>
                </a:solidFill>
              </a:defRPr>
            </a:lvl3pPr>
            <a:lvl4pPr>
              <a:defRPr sz="1800" b="0">
                <a:solidFill>
                  <a:srgbClr val="BFCBDD"/>
                </a:solidFill>
              </a:defRPr>
            </a:lvl4pPr>
            <a:lvl5pPr>
              <a:defRPr sz="1800" b="0">
                <a:solidFill>
                  <a:srgbClr val="BFCBDD"/>
                </a:solidFill>
              </a:defRPr>
            </a:lvl5pPr>
            <a:lvl6pPr>
              <a:defRPr sz="1800" b="0">
                <a:solidFill>
                  <a:srgbClr val="BFCBDD"/>
                </a:solidFill>
              </a:defRPr>
            </a:lvl6pPr>
            <a:lvl7pPr>
              <a:defRPr sz="1800" b="0">
                <a:solidFill>
                  <a:srgbClr val="BFCBDD"/>
                </a:solidFill>
              </a:defRPr>
            </a:lvl7pPr>
            <a:lvl8pPr>
              <a:defRPr sz="1800" b="0">
                <a:solidFill>
                  <a:srgbClr val="BFCBDD"/>
                </a:solidFill>
              </a:defRPr>
            </a:lvl8pPr>
            <a:lvl9pPr>
              <a:defRPr sz="1800" b="0">
                <a:solidFill>
                  <a:srgbClr val="BFCBDD"/>
                </a:solidFill>
              </a:defRPr>
            </a:lvl9pPr>
          </a:lstStyle>
          <a:p xmlns:a="http://schemas.openxmlformats.org/drawingml/2006/main">
            <a:pPr>
              <a:defRPr sz="1800" b="0">
                <a:solidFill>
                  <a:srgbClr val="BFCBDD"/>
                </a:solidFill>
              </a:defRPr>
            </a:pPr>
            <a:r>
              <a:rPr sz="1800" b="0">
                <a:solidFill>
                  <a:srgbClr val="BFCBDD"/>
                </a:solidFill>
              </a:rPr>
              <a:t>Controller HTTP sözleşmesini kurar; servis iş kuralını yürütür; repository veriye erişir.</a:t>
            </a:r>
          </a:p>
        </p:txBody>
      </p:sp>
    </p:spTree>
    <p:extLst>
      <p:ext uri="{BB962C8B-B14F-4D97-AF65-F5344CB8AC3E}">
        <p14:creationId xmlns:p14="http://schemas.microsoft.com/office/powerpoint/2010/main" val="951292726"/>
      </p:ext>
    </p:extLst>
  </p:cSld>
</p:sld>
</file>

<file path=ppt/slides/slide15.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12B4E1-601C-4659-BC5B-7CC9CB260F7A}"/>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Önbellek ve arayüz durumu</a:t>
            </a:r>
          </a:p>
        </p:txBody>
      </p:sp>
      <p:sp>
        <p:nvSpPr>
          <p:cNvPr id="3" name="">
            <a:extLst xmlns:a="http://schemas.openxmlformats.org/drawingml/2006/main">
              <a:ext uri="{FF2B5EF4-FFF2-40B4-BE49-F238E27FC236}">
                <a16:creationId xmlns:a16="http://schemas.microsoft.com/office/drawing/2014/main" id="{4D4C4C4E-580F-4315-933B-15F9326251D8}"/>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15</a:t>
            </a:r>
          </a:p>
        </p:txBody>
      </p:sp>
      <p:sp>
        <p:nvSpPr>
          <p:cNvPr id="4" name="">
            <a:extLst xmlns:a="http://schemas.openxmlformats.org/drawingml/2006/main">
              <a:ext uri="{FF2B5EF4-FFF2-40B4-BE49-F238E27FC236}">
                <a16:creationId xmlns:a16="http://schemas.microsoft.com/office/drawing/2014/main" id="{AF642412-479B-4D7D-86F9-C28C90327D58}"/>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PostgreSQL</a:t>
            </a:r>
          </a:p>
        </p:txBody>
      </p:sp>
      <p:sp>
        <p:nvSpPr>
          <p:cNvPr id="5" name="">
            <a:extLst xmlns:a="http://schemas.openxmlformats.org/drawingml/2006/main">
              <a:ext uri="{FF2B5EF4-FFF2-40B4-BE49-F238E27FC236}">
                <a16:creationId xmlns:a16="http://schemas.microsoft.com/office/drawing/2014/main" id="{6C11FBAB-E145-46A7-82C2-4672F0D09929}"/>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Bakiye ve rezervasyonun otoritesi</a:t>
            </a:r>
          </a:p>
          <a:p xmlns:a="http://schemas.openxmlformats.org/drawingml/2006/main">
            <a:r>
              <a:t/>
            </a:r>
          </a:p>
          <a:p xmlns:a="http://schemas.openxmlformats.org/drawingml/2006/main">
            <a:pPr>
              <a:defRPr sz="1725" b="0">
                <a:solidFill>
                  <a:srgbClr val="EAF0F7"/>
                </a:solidFill>
              </a:defRPr>
            </a:pPr>
            <a:r>
              <a:rPr sz="1725" b="0">
                <a:solidFill>
                  <a:srgbClr val="EAF0F7"/>
                </a:solidFill>
              </a:rPr>
              <a:t>Para hareketi burada commit olur.</a:t>
            </a:r>
          </a:p>
        </p:txBody>
      </p:sp>
      <p:sp>
        <p:nvSpPr>
          <p:cNvPr id="6" name="">
            <a:extLst xmlns:a="http://schemas.openxmlformats.org/drawingml/2006/main">
              <a:ext uri="{FF2B5EF4-FFF2-40B4-BE49-F238E27FC236}">
                <a16:creationId xmlns:a16="http://schemas.microsoft.com/office/drawing/2014/main" id="{E3682088-D4E3-436E-A633-615FCEC2CB30}"/>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Redis</a:t>
            </a:r>
          </a:p>
        </p:txBody>
      </p:sp>
      <p:sp>
        <p:nvSpPr>
          <p:cNvPr id="7" name="">
            <a:extLst xmlns:a="http://schemas.openxmlformats.org/drawingml/2006/main">
              <a:ext uri="{FF2B5EF4-FFF2-40B4-BE49-F238E27FC236}">
                <a16:creationId xmlns:a16="http://schemas.microsoft.com/office/drawing/2014/main" id="{1F4C5E92-CB3F-495B-8199-9BC3B1385A7E}"/>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Yalnızca transfer sayısı raporu</a:t>
            </a:r>
          </a:p>
          <a:p xmlns:a="http://schemas.openxmlformats.org/drawingml/2006/main">
            <a:r>
              <a:t/>
            </a:r>
          </a:p>
          <a:p xmlns:a="http://schemas.openxmlformats.org/drawingml/2006/main">
            <a:pPr>
              <a:defRPr sz="1725" b="0">
                <a:solidFill>
                  <a:srgbClr val="EAF0F7"/>
                </a:solidFill>
              </a:defRPr>
            </a:pPr>
            <a:r>
              <a:rPr sz="1725" b="0">
                <a:solidFill>
                  <a:srgbClr val="EAF0F7"/>
                </a:solidFill>
              </a:rPr>
              <a:t>30 saniye TTL</a:t>
            </a:r>
          </a:p>
          <a:p xmlns:a="http://schemas.openxmlformats.org/drawingml/2006/main">
            <a:r>
              <a:t/>
            </a:r>
          </a:p>
          <a:p xmlns:a="http://schemas.openxmlformats.org/drawingml/2006/main">
            <a:pPr>
              <a:defRPr sz="1725" b="0">
                <a:solidFill>
                  <a:srgbClr val="EAF0F7"/>
                </a:solidFill>
              </a:defRPr>
            </a:pPr>
            <a:r>
              <a:rPr sz="1725" b="0">
                <a:solidFill>
                  <a:srgbClr val="EAF0F7"/>
                </a:solidFill>
              </a:rPr>
              <a:t>Bakiye cache’i yok.</a:t>
            </a:r>
          </a:p>
        </p:txBody>
      </p:sp>
      <p:sp>
        <p:nvSpPr>
          <p:cNvPr id="8" name="">
            <a:extLst xmlns:a="http://schemas.openxmlformats.org/drawingml/2006/main">
              <a:ext uri="{FF2B5EF4-FFF2-40B4-BE49-F238E27FC236}">
                <a16:creationId xmlns:a16="http://schemas.microsoft.com/office/drawing/2014/main" id="{3FD34D6C-48F3-4DAE-9D45-CCF0C7ACF356}"/>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React + Redux</a:t>
            </a:r>
          </a:p>
        </p:txBody>
      </p:sp>
      <p:sp>
        <p:nvSpPr>
          <p:cNvPr id="9" name="">
            <a:extLst xmlns:a="http://schemas.openxmlformats.org/drawingml/2006/main">
              <a:ext uri="{FF2B5EF4-FFF2-40B4-BE49-F238E27FC236}">
                <a16:creationId xmlns:a16="http://schemas.microsoft.com/office/drawing/2014/main" id="{353BCF2F-C12E-4E77-92B4-FD01CCE25AC7}"/>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Hesap, transfer ve ödeme durumu</a:t>
            </a:r>
          </a:p>
          <a:p xmlns:a="http://schemas.openxmlformats.org/drawingml/2006/main">
            <a:r>
              <a:t/>
            </a:r>
          </a:p>
          <a:p xmlns:a="http://schemas.openxmlformats.org/drawingml/2006/main">
            <a:pPr>
              <a:defRPr sz="1725" b="0">
                <a:solidFill>
                  <a:srgbClr val="EAF0F7"/>
                </a:solidFill>
              </a:defRPr>
            </a:pPr>
            <a:r>
              <a:rPr sz="1725" b="0">
                <a:solidFill>
                  <a:srgbClr val="EAF0F7"/>
                </a:solidFill>
              </a:rPr>
              <a:t>async thunk ile API çağrıları</a:t>
            </a:r>
          </a:p>
          <a:p xmlns:a="http://schemas.openxmlformats.org/drawingml/2006/main">
            <a:r>
              <a:t/>
            </a:r>
          </a:p>
          <a:p xmlns:a="http://schemas.openxmlformats.org/drawingml/2006/main">
            <a:pPr>
              <a:defRPr sz="1725" b="0">
                <a:solidFill>
                  <a:srgbClr val="EAF0F7"/>
                </a:solidFill>
              </a:defRPr>
            </a:pPr>
            <a:r>
              <a:rPr sz="1725" b="0">
                <a:solidFill>
                  <a:srgbClr val="EAF0F7"/>
                </a:solidFill>
              </a:rPr>
              <a:t>Hooks ile form ve polling</a:t>
            </a:r>
          </a:p>
        </p:txBody>
      </p:sp>
      <p:sp>
        <p:nvSpPr>
          <p:cNvPr id="10" name="">
            <a:extLst xmlns:a="http://schemas.openxmlformats.org/drawingml/2006/main">
              <a:ext uri="{FF2B5EF4-FFF2-40B4-BE49-F238E27FC236}">
                <a16:creationId xmlns:a16="http://schemas.microsoft.com/office/drawing/2014/main" id="{1ECACB13-0E43-46FE-94FE-CF4BFB3DB995}"/>
              </a:ext>
            </a:extLst>
          </p:cNvPr>
          <p:cNvSpPr>
            <a:spLocks xmlns:a="http://schemas.openxmlformats.org/drawingml/2006/main" noGrp="1"/>
          </p:cNvSpPr>
          <p:nvPr/>
        </p:nvSpPr>
        <p:spPr>
          <a:xfrm xmlns:a="http://schemas.openxmlformats.org/drawingml/2006/main">
            <a:off x="857250" y="547687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defRPr sz="1875" b="1">
                <a:solidFill>
                  <a:srgbClr val="F3BA6C"/>
                </a:solidFill>
              </a:defRPr>
            </a:lvl1pPr>
            <a:lvl2pPr>
              <a:defRPr sz="1875" b="1">
                <a:solidFill>
                  <a:srgbClr val="F3BA6C"/>
                </a:solidFill>
              </a:defRPr>
            </a:lvl2pPr>
            <a:lvl3pPr>
              <a:defRPr sz="1875" b="1">
                <a:solidFill>
                  <a:srgbClr val="F3BA6C"/>
                </a:solidFill>
              </a:defRPr>
            </a:lvl3pPr>
            <a:lvl4pPr>
              <a:defRPr sz="1875" b="1">
                <a:solidFill>
                  <a:srgbClr val="F3BA6C"/>
                </a:solidFill>
              </a:defRPr>
            </a:lvl4pPr>
            <a:lvl5pPr>
              <a:defRPr sz="1875" b="1">
                <a:solidFill>
                  <a:srgbClr val="F3BA6C"/>
                </a:solidFill>
              </a:defRPr>
            </a:lvl5pPr>
            <a:lvl6pPr>
              <a:defRPr sz="1875" b="1">
                <a:solidFill>
                  <a:srgbClr val="F3BA6C"/>
                </a:solidFill>
              </a:defRPr>
            </a:lvl6pPr>
            <a:lvl7pPr>
              <a:defRPr sz="1875" b="1">
                <a:solidFill>
                  <a:srgbClr val="F3BA6C"/>
                </a:solidFill>
              </a:defRPr>
            </a:lvl7pPr>
            <a:lvl8pPr>
              <a:defRPr sz="1875" b="1">
                <a:solidFill>
                  <a:srgbClr val="F3BA6C"/>
                </a:solidFill>
              </a:defRPr>
            </a:lvl8pPr>
            <a:lvl9pPr>
              <a:defRPr sz="1875" b="1">
                <a:solidFill>
                  <a:srgbClr val="F3BA6C"/>
                </a:solidFill>
              </a:defRPr>
            </a:lvl9pPr>
          </a:lstStyle>
          <a:p xmlns:a="http://schemas.openxmlformats.org/drawingml/2006/main">
            <a:pPr>
              <a:defRPr sz="1875" b="1">
                <a:solidFill>
                  <a:srgbClr val="F3BA6C"/>
                </a:solidFill>
              </a:defRPr>
            </a:pPr>
            <a:r>
              <a:rPr sz="1875" b="1">
                <a:solidFill>
                  <a:srgbClr val="F3BA6C"/>
                </a:solidFill>
              </a:rPr>
              <a:t>Kritik finansal okuma, kısa süreli rapor cache’ine bağımlı değildir.</a:t>
            </a:r>
          </a:p>
        </p:txBody>
      </p:sp>
    </p:spTree>
    <p:extLst>
      <p:ext uri="{BB962C8B-B14F-4D97-AF65-F5344CB8AC3E}">
        <p14:creationId xmlns:p14="http://schemas.microsoft.com/office/powerpoint/2010/main" val="39140163"/>
      </p:ext>
    </p:extLst>
  </p:cSld>
</p:sld>
</file>

<file path=ppt/slides/slide16.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918E012-F222-4E04-B618-E1875547A18F}"/>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Teknoloji seçimi</a:t>
            </a:r>
          </a:p>
        </p:txBody>
      </p:sp>
      <p:sp>
        <p:nvSpPr>
          <p:cNvPr id="3" name="">
            <a:extLst xmlns:a="http://schemas.openxmlformats.org/drawingml/2006/main">
              <a:ext uri="{FF2B5EF4-FFF2-40B4-BE49-F238E27FC236}">
                <a16:creationId xmlns:a16="http://schemas.microsoft.com/office/drawing/2014/main" id="{D123BA35-2416-414D-851A-39AD34F5F18D}"/>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16</a:t>
            </a:r>
          </a:p>
        </p:txBody>
      </p:sp>
      <p:sp>
        <p:nvSpPr>
          <p:cNvPr id="4" name="">
            <a:extLst xmlns:a="http://schemas.openxmlformats.org/drawingml/2006/main">
              <a:ext uri="{FF2B5EF4-FFF2-40B4-BE49-F238E27FC236}">
                <a16:creationId xmlns:a16="http://schemas.microsoft.com/office/drawing/2014/main" id="{539CF7E0-2AF7-4A00-B9CF-EB3D5F103394}"/>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Backend</a:t>
            </a:r>
          </a:p>
        </p:txBody>
      </p:sp>
      <p:sp>
        <p:nvSpPr>
          <p:cNvPr id="5" name="">
            <a:extLst xmlns:a="http://schemas.openxmlformats.org/drawingml/2006/main">
              <a:ext uri="{FF2B5EF4-FFF2-40B4-BE49-F238E27FC236}">
                <a16:creationId xmlns:a16="http://schemas.microsoft.com/office/drawing/2014/main" id="{5599B8E6-E3E4-4F54-809D-809BC1FA199C}"/>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Java 21 hedefi</a:t>
            </a:r>
          </a:p>
          <a:p xmlns:a="http://schemas.openxmlformats.org/drawingml/2006/main">
            <a:pPr>
              <a:defRPr sz="1725" b="0">
                <a:solidFill>
                  <a:srgbClr val="EAF0F7"/>
                </a:solidFill>
              </a:defRPr>
            </a:pPr>
            <a:r>
              <a:rPr sz="1725" b="0">
                <a:solidFill>
                  <a:srgbClr val="EAF0F7"/>
                </a:solidFill>
              </a:rPr>
              <a:t>Spring Boot 4.1.2</a:t>
            </a:r>
          </a:p>
          <a:p xmlns:a="http://schemas.openxmlformats.org/drawingml/2006/main">
            <a:pPr>
              <a:defRPr sz="1725" b="0">
                <a:solidFill>
                  <a:srgbClr val="EAF0F7"/>
                </a:solidFill>
              </a:defRPr>
            </a:pPr>
            <a:r>
              <a:rPr sz="1725" b="0">
                <a:solidFill>
                  <a:srgbClr val="EAF0F7"/>
                </a:solidFill>
              </a:rPr>
              <a:t>Spring Data JPA / Hibernate</a:t>
            </a:r>
          </a:p>
          <a:p xmlns:a="http://schemas.openxmlformats.org/drawingml/2006/main">
            <a:pPr>
              <a:defRPr sz="1725" b="0">
                <a:solidFill>
                  <a:srgbClr val="EAF0F7"/>
                </a:solidFill>
              </a:defRPr>
            </a:pPr>
            <a:r>
              <a:rPr sz="1725" b="0">
                <a:solidFill>
                  <a:srgbClr val="EAF0F7"/>
                </a:solidFill>
              </a:rPr>
              <a:t>Flyway / PostgreSQL</a:t>
            </a:r>
          </a:p>
        </p:txBody>
      </p:sp>
      <p:sp>
        <p:nvSpPr>
          <p:cNvPr id="6" name="">
            <a:extLst xmlns:a="http://schemas.openxmlformats.org/drawingml/2006/main">
              <a:ext uri="{FF2B5EF4-FFF2-40B4-BE49-F238E27FC236}">
                <a16:creationId xmlns:a16="http://schemas.microsoft.com/office/drawing/2014/main" id="{CFF0CAE6-EA79-44FB-AAC7-C2F0A5EFA1EE}"/>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Dağıtık bileşenler</a:t>
            </a:r>
          </a:p>
        </p:txBody>
      </p:sp>
      <p:sp>
        <p:nvSpPr>
          <p:cNvPr id="7" name="">
            <a:extLst xmlns:a="http://schemas.openxmlformats.org/drawingml/2006/main">
              <a:ext uri="{FF2B5EF4-FFF2-40B4-BE49-F238E27FC236}">
                <a16:creationId xmlns:a16="http://schemas.microsoft.com/office/drawing/2014/main" id="{153B570A-E4FC-4DF7-B9CA-BF02D2F91BB0}"/>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Spring Cloud Gateway</a:t>
            </a:r>
          </a:p>
          <a:p xmlns:a="http://schemas.openxmlformats.org/drawingml/2006/main">
            <a:pPr>
              <a:defRPr sz="1725" b="0">
                <a:solidFill>
                  <a:srgbClr val="EAF0F7"/>
                </a:solidFill>
              </a:defRPr>
            </a:pPr>
            <a:r>
              <a:rPr sz="1725" b="0">
                <a:solidFill>
                  <a:srgbClr val="EAF0F7"/>
                </a:solidFill>
              </a:rPr>
              <a:t>Circuit Breaker</a:t>
            </a:r>
          </a:p>
          <a:p xmlns:a="http://schemas.openxmlformats.org/drawingml/2006/main">
            <a:pPr>
              <a:defRPr sz="1725" b="0">
                <a:solidFill>
                  <a:srgbClr val="EAF0F7"/>
                </a:solidFill>
              </a:defRPr>
            </a:pPr>
            <a:r>
              <a:rPr sz="1725" b="0">
                <a:solidFill>
                  <a:srgbClr val="EAF0F7"/>
                </a:solidFill>
              </a:rPr>
              <a:t>Kafka + Outbox / Inbox</a:t>
            </a:r>
          </a:p>
          <a:p xmlns:a="http://schemas.openxmlformats.org/drawingml/2006/main">
            <a:pPr>
              <a:defRPr sz="1725" b="0">
                <a:solidFill>
                  <a:srgbClr val="EAF0F7"/>
                </a:solidFill>
              </a:defRPr>
            </a:pPr>
            <a:r>
              <a:rPr sz="1725" b="0">
                <a:solidFill>
                  <a:srgbClr val="EAF0F7"/>
                </a:solidFill>
              </a:rPr>
              <a:t>Redis</a:t>
            </a:r>
          </a:p>
        </p:txBody>
      </p:sp>
      <p:sp>
        <p:nvSpPr>
          <p:cNvPr id="8" name="">
            <a:extLst xmlns:a="http://schemas.openxmlformats.org/drawingml/2006/main">
              <a:ext uri="{FF2B5EF4-FFF2-40B4-BE49-F238E27FC236}">
                <a16:creationId xmlns:a16="http://schemas.microsoft.com/office/drawing/2014/main" id="{DE3F272B-F517-430F-BC58-F0E62811EF05}"/>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Arayüz ve kalite</a:t>
            </a:r>
          </a:p>
        </p:txBody>
      </p:sp>
      <p:sp>
        <p:nvSpPr>
          <p:cNvPr id="9" name="">
            <a:extLst xmlns:a="http://schemas.openxmlformats.org/drawingml/2006/main">
              <a:ext uri="{FF2B5EF4-FFF2-40B4-BE49-F238E27FC236}">
                <a16:creationId xmlns:a16="http://schemas.microsoft.com/office/drawing/2014/main" id="{7DC8A6C2-6052-47F4-B4F3-5517B2092C6E}"/>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React + TypeScript</a:t>
            </a:r>
          </a:p>
          <a:p xmlns:a="http://schemas.openxmlformats.org/drawingml/2006/main">
            <a:pPr>
              <a:defRPr sz="1725" b="0">
                <a:solidFill>
                  <a:srgbClr val="EAF0F7"/>
                </a:solidFill>
              </a:defRPr>
            </a:pPr>
            <a:r>
              <a:rPr sz="1725" b="0">
                <a:solidFill>
                  <a:srgbClr val="EAF0F7"/>
                </a:solidFill>
              </a:rPr>
              <a:t>Redux Toolkit</a:t>
            </a:r>
          </a:p>
          <a:p xmlns:a="http://schemas.openxmlformats.org/drawingml/2006/main">
            <a:pPr>
              <a:defRPr sz="1725" b="0">
                <a:solidFill>
                  <a:srgbClr val="EAF0F7"/>
                </a:solidFill>
              </a:defRPr>
            </a:pPr>
            <a:r>
              <a:rPr sz="1725" b="0">
                <a:solidFill>
                  <a:srgbClr val="EAF0F7"/>
                </a:solidFill>
              </a:rPr>
              <a:t>JUnit + H2</a:t>
            </a:r>
          </a:p>
          <a:p xmlns:a="http://schemas.openxmlformats.org/drawingml/2006/main">
            <a:pPr>
              <a:defRPr sz="1725" b="0">
                <a:solidFill>
                  <a:srgbClr val="EAF0F7"/>
                </a:solidFill>
              </a:defRPr>
            </a:pPr>
            <a:r>
              <a:rPr sz="1725" b="0">
                <a:solidFill>
                  <a:srgbClr val="EAF0F7"/>
                </a:solidFill>
              </a:rPr>
              <a:t>SonarQube yapılandırması</a:t>
            </a:r>
          </a:p>
        </p:txBody>
      </p:sp>
      <p:sp>
        <p:nvSpPr>
          <p:cNvPr id="10" name="">
            <a:extLst xmlns:a="http://schemas.openxmlformats.org/drawingml/2006/main">
              <a:ext uri="{FF2B5EF4-FFF2-40B4-BE49-F238E27FC236}">
                <a16:creationId xmlns:a16="http://schemas.microsoft.com/office/drawing/2014/main" id="{52705006-419A-4347-A4A2-E4E7FF7DEF9B}"/>
              </a:ext>
            </a:extLst>
          </p:cNvPr>
          <p:cNvSpPr>
            <a:spLocks xmlns:a="http://schemas.openxmlformats.org/drawingml/2006/main" noGrp="1"/>
          </p:cNvSpPr>
          <p:nvPr/>
        </p:nvSpPr>
        <p:spPr>
          <a:xfrm xmlns:a="http://schemas.openxmlformats.org/drawingml/2006/main">
            <a:off x="857250" y="55721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1">
                <a:solidFill>
                  <a:srgbClr val="F3BA6C"/>
                </a:solidFill>
              </a:defRPr>
            </a:defPPr>
            <a:lvl1pPr>
              <a:defRPr sz="1800" b="1">
                <a:solidFill>
                  <a:srgbClr val="F3BA6C"/>
                </a:solidFill>
              </a:defRPr>
            </a:lvl1pPr>
            <a:lvl2pPr>
              <a:defRPr sz="1800" b="1">
                <a:solidFill>
                  <a:srgbClr val="F3BA6C"/>
                </a:solidFill>
              </a:defRPr>
            </a:lvl2pPr>
            <a:lvl3pPr>
              <a:defRPr sz="1800" b="1">
                <a:solidFill>
                  <a:srgbClr val="F3BA6C"/>
                </a:solidFill>
              </a:defRPr>
            </a:lvl3pPr>
            <a:lvl4pPr>
              <a:defRPr sz="1800" b="1">
                <a:solidFill>
                  <a:srgbClr val="F3BA6C"/>
                </a:solidFill>
              </a:defRPr>
            </a:lvl4pPr>
            <a:lvl5pPr>
              <a:defRPr sz="1800" b="1">
                <a:solidFill>
                  <a:srgbClr val="F3BA6C"/>
                </a:solidFill>
              </a:defRPr>
            </a:lvl5pPr>
            <a:lvl6pPr>
              <a:defRPr sz="1800" b="1">
                <a:solidFill>
                  <a:srgbClr val="F3BA6C"/>
                </a:solidFill>
              </a:defRPr>
            </a:lvl6pPr>
            <a:lvl7pPr>
              <a:defRPr sz="1800" b="1">
                <a:solidFill>
                  <a:srgbClr val="F3BA6C"/>
                </a:solidFill>
              </a:defRPr>
            </a:lvl7pPr>
            <a:lvl8pPr>
              <a:defRPr sz="1800" b="1">
                <a:solidFill>
                  <a:srgbClr val="F3BA6C"/>
                </a:solidFill>
              </a:defRPr>
            </a:lvl8pPr>
            <a:lvl9pPr>
              <a:defRPr sz="1800" b="1">
                <a:solidFill>
                  <a:srgbClr val="F3BA6C"/>
                </a:solidFill>
              </a:defRPr>
            </a:lvl9pPr>
          </a:lstStyle>
          <a:p xmlns:a="http://schemas.openxmlformats.org/drawingml/2006/main">
            <a:pPr>
              <a:defRPr sz="1800" b="1">
                <a:solidFill>
                  <a:srgbClr val="F3BA6C"/>
                </a:solidFill>
              </a:defRPr>
            </a:pPr>
            <a:r>
              <a:rPr sz="1800" b="1">
                <a:solidFill>
                  <a:srgbClr val="F3BA6C"/>
                </a:solidFill>
              </a:rPr>
              <a:t>Seçim ilkesi: banka içi tutarlılık için ACID, servis sınırında idempotent yerel adımlar.</a:t>
            </a:r>
          </a:p>
        </p:txBody>
      </p:sp>
    </p:spTree>
    <p:extLst>
      <p:ext uri="{BB962C8B-B14F-4D97-AF65-F5344CB8AC3E}">
        <p14:creationId xmlns:p14="http://schemas.microsoft.com/office/powerpoint/2010/main" val="1001611778"/>
      </p:ext>
    </p:extLst>
  </p:cSld>
</p:sld>
</file>

<file path=ppt/slides/slide17.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00F6598-0C3C-4303-A045-B19AB7E17DE4}"/>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Testlerden gelen kanıt</a:t>
            </a:r>
          </a:p>
        </p:txBody>
      </p:sp>
      <p:sp>
        <p:nvSpPr>
          <p:cNvPr id="3" name="">
            <a:extLst xmlns:a="http://schemas.openxmlformats.org/drawingml/2006/main">
              <a:ext uri="{FF2B5EF4-FFF2-40B4-BE49-F238E27FC236}">
                <a16:creationId xmlns:a16="http://schemas.microsoft.com/office/drawing/2014/main" id="{1F7AA12F-5421-464C-A57F-AAABDE732B19}"/>
              </a:ext>
            </a:extLst>
          </p:cNvPr>
          <p:cNvSpPr>
            <a:spLocks xmlns:a="http://schemas.openxmlformats.org/drawingml/2006/main" noGrp="1"/>
          </p:cNvSpPr>
          <p:nvPr/>
        </p:nvSpPr>
        <p:spPr>
          <a:xfrm xmlns:a="http://schemas.openxmlformats.org/drawingml/2006/main">
            <a:off x="857250" y="1571625"/>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00" b="1">
                <a:solidFill>
                  <a:srgbClr val="79D9CB"/>
                </a:solidFill>
              </a:defRPr>
            </a:defPPr>
            <a:lvl1pPr>
              <a:defRPr sz="2400" b="1">
                <a:solidFill>
                  <a:srgbClr val="79D9CB"/>
                </a:solidFill>
              </a:defRPr>
            </a:lvl1pPr>
            <a:lvl2pPr>
              <a:defRPr sz="2400" b="1">
                <a:solidFill>
                  <a:srgbClr val="79D9CB"/>
                </a:solidFill>
              </a:defRPr>
            </a:lvl2pPr>
            <a:lvl3pPr>
              <a:defRPr sz="2400" b="1">
                <a:solidFill>
                  <a:srgbClr val="79D9CB"/>
                </a:solidFill>
              </a:defRPr>
            </a:lvl3pPr>
            <a:lvl4pPr>
              <a:defRPr sz="2400" b="1">
                <a:solidFill>
                  <a:srgbClr val="79D9CB"/>
                </a:solidFill>
              </a:defRPr>
            </a:lvl4pPr>
            <a:lvl5pPr>
              <a:defRPr sz="2400" b="1">
                <a:solidFill>
                  <a:srgbClr val="79D9CB"/>
                </a:solidFill>
              </a:defRPr>
            </a:lvl5pPr>
            <a:lvl6pPr>
              <a:defRPr sz="2400" b="1">
                <a:solidFill>
                  <a:srgbClr val="79D9CB"/>
                </a:solidFill>
              </a:defRPr>
            </a:lvl6pPr>
            <a:lvl7pPr>
              <a:defRPr sz="2400" b="1">
                <a:solidFill>
                  <a:srgbClr val="79D9CB"/>
                </a:solidFill>
              </a:defRPr>
            </a:lvl7pPr>
            <a:lvl8pPr>
              <a:defRPr sz="2400" b="1">
                <a:solidFill>
                  <a:srgbClr val="79D9CB"/>
                </a:solidFill>
              </a:defRPr>
            </a:lvl8pPr>
            <a:lvl9pPr>
              <a:defRPr sz="2400" b="1">
                <a:solidFill>
                  <a:srgbClr val="79D9CB"/>
                </a:solidFill>
              </a:defRPr>
            </a:lvl9pPr>
          </a:lstStyle>
          <a:p xmlns:a="http://schemas.openxmlformats.org/drawingml/2006/main">
            <a:pPr>
              <a:defRPr sz="2400" b="1">
                <a:solidFill>
                  <a:srgbClr val="79D9CB"/>
                </a:solidFill>
              </a:defRPr>
            </a:pPr>
            <a:r>
              <a:rPr sz="2400" b="1">
                <a:solidFill>
                  <a:srgbClr val="79D9CB"/>
                </a:solidFill>
              </a:rPr>
              <a:t>14 test · 4 Java paketi · frontend build</a:t>
            </a:r>
          </a:p>
        </p:txBody>
      </p:sp>
      <p:sp>
        <p:nvSpPr>
          <p:cNvPr id="4" name="">
            <a:extLst xmlns:a="http://schemas.openxmlformats.org/drawingml/2006/main">
              <a:ext uri="{FF2B5EF4-FFF2-40B4-BE49-F238E27FC236}">
                <a16:creationId xmlns:a16="http://schemas.microsoft.com/office/drawing/2014/main" id="{B1997852-9FD3-48FE-BAF2-2EAEDE662C75}"/>
              </a:ext>
            </a:extLst>
          </p:cNvPr>
          <p:cNvSpPr>
            <a:spLocks xmlns:a="http://schemas.openxmlformats.org/drawingml/2006/main" noGrp="1"/>
          </p:cNvSpPr>
          <p:nvPr/>
        </p:nvSpPr>
        <p:spPr>
          <a:xfrm xmlns:a="http://schemas.openxmlformats.org/drawingml/2006/main">
            <a:off x="857250" y="27527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Transfer</a:t>
            </a:r>
          </a:p>
        </p:txBody>
      </p:sp>
      <p:sp>
        <p:nvSpPr>
          <p:cNvPr id="5" name="">
            <a:extLst xmlns:a="http://schemas.openxmlformats.org/drawingml/2006/main">
              <a:ext uri="{FF2B5EF4-FFF2-40B4-BE49-F238E27FC236}">
                <a16:creationId xmlns:a16="http://schemas.microsoft.com/office/drawing/2014/main" id="{9E007251-2A42-4C37-8246-A3BE57755FA5}"/>
              </a:ext>
            </a:extLst>
          </p:cNvPr>
          <p:cNvSpPr>
            <a:spLocks xmlns:a="http://schemas.openxmlformats.org/drawingml/2006/main" noGrp="1"/>
          </p:cNvSpPr>
          <p:nvPr/>
        </p:nvSpPr>
        <p:spPr>
          <a:xfrm xmlns:a="http://schemas.openxmlformats.org/drawingml/2006/main">
            <a:off x="857250" y="3257550"/>
            <a:ext cx="3143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Bakiye ve iki ledger</a:t>
            </a:r>
          </a:p>
          <a:p xmlns:a="http://schemas.openxmlformats.org/drawingml/2006/main">
            <a:pPr>
              <a:defRPr sz="1725" b="0">
                <a:solidFill>
                  <a:srgbClr val="EAF0F7"/>
                </a:solidFill>
              </a:defRPr>
            </a:pPr>
            <a:r>
              <a:rPr sz="1725" b="0">
                <a:solidFill>
                  <a:srgbClr val="EAF0F7"/>
                </a:solidFill>
              </a:rPr>
              <a:t>Idempotency</a:t>
            </a:r>
          </a:p>
          <a:p xmlns:a="http://schemas.openxmlformats.org/drawingml/2006/main">
            <a:pPr>
              <a:defRPr sz="1725" b="0">
                <a:solidFill>
                  <a:srgbClr val="EAF0F7"/>
                </a:solidFill>
              </a:defRPr>
            </a:pPr>
            <a:r>
              <a:rPr sz="1725" b="0">
                <a:solidFill>
                  <a:srgbClr val="EAF0F7"/>
                </a:solidFill>
              </a:rPr>
              <a:t>Rollback</a:t>
            </a:r>
          </a:p>
          <a:p xmlns:a="http://schemas.openxmlformats.org/drawingml/2006/main">
            <a:pPr>
              <a:defRPr sz="1725" b="0">
                <a:solidFill>
                  <a:srgbClr val="EAF0F7"/>
                </a:solidFill>
              </a:defRPr>
            </a:pPr>
            <a:r>
              <a:rPr sz="1725" b="0">
                <a:solidFill>
                  <a:srgbClr val="EAF0F7"/>
                </a:solidFill>
              </a:rPr>
              <a:t>İki thread yarış testi</a:t>
            </a:r>
          </a:p>
        </p:txBody>
      </p:sp>
      <p:sp>
        <p:nvSpPr>
          <p:cNvPr id="6" name="">
            <a:extLst xmlns:a="http://schemas.openxmlformats.org/drawingml/2006/main">
              <a:ext uri="{FF2B5EF4-FFF2-40B4-BE49-F238E27FC236}">
                <a16:creationId xmlns:a16="http://schemas.microsoft.com/office/drawing/2014/main" id="{C27FE1B9-EE14-4B25-A965-BEC509367068}"/>
              </a:ext>
            </a:extLst>
          </p:cNvPr>
          <p:cNvSpPr>
            <a:spLocks xmlns:a="http://schemas.openxmlformats.org/drawingml/2006/main" noGrp="1"/>
          </p:cNvSpPr>
          <p:nvPr/>
        </p:nvSpPr>
        <p:spPr>
          <a:xfrm xmlns:a="http://schemas.openxmlformats.org/drawingml/2006/main">
            <a:off x="4476750" y="27527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SAGA</a:t>
            </a:r>
          </a:p>
        </p:txBody>
      </p:sp>
      <p:sp>
        <p:nvSpPr>
          <p:cNvPr id="7" name="">
            <a:extLst xmlns:a="http://schemas.openxmlformats.org/drawingml/2006/main">
              <a:ext uri="{FF2B5EF4-FFF2-40B4-BE49-F238E27FC236}">
                <a16:creationId xmlns:a16="http://schemas.microsoft.com/office/drawing/2014/main" id="{B3EDCBF1-2204-471E-8C38-7DCADD7F0667}"/>
              </a:ext>
            </a:extLst>
          </p:cNvPr>
          <p:cNvSpPr>
            <a:spLocks xmlns:a="http://schemas.openxmlformats.org/drawingml/2006/main" noGrp="1"/>
          </p:cNvSpPr>
          <p:nvPr/>
        </p:nvSpPr>
        <p:spPr>
          <a:xfrm xmlns:a="http://schemas.openxmlformats.org/drawingml/2006/main">
            <a:off x="4476750" y="3257550"/>
            <a:ext cx="3143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ACCEPTED</a:t>
            </a:r>
          </a:p>
          <a:p xmlns:a="http://schemas.openxmlformats.org/drawingml/2006/main">
            <a:pPr>
              <a:defRPr sz="1725" b="0">
                <a:solidFill>
                  <a:srgbClr val="EAF0F7"/>
                </a:solidFill>
              </a:defRPr>
            </a:pPr>
            <a:r>
              <a:rPr sz="1725" b="0">
                <a:solidFill>
                  <a:srgbClr val="EAF0F7"/>
                </a:solidFill>
              </a:rPr>
              <a:t>REJECTED telafisi</a:t>
            </a:r>
          </a:p>
          <a:p xmlns:a="http://schemas.openxmlformats.org/drawingml/2006/main">
            <a:pPr>
              <a:defRPr sz="1725" b="0">
                <a:solidFill>
                  <a:srgbClr val="EAF0F7"/>
                </a:solidFill>
              </a:defRPr>
            </a:pPr>
            <a:r>
              <a:rPr sz="1725" b="0">
                <a:solidFill>
                  <a:srgbClr val="EAF0F7"/>
                </a:solidFill>
              </a:rPr>
              <a:t>UNKNOWN ve mutabakat</a:t>
            </a:r>
          </a:p>
        </p:txBody>
      </p:sp>
      <p:sp>
        <p:nvSpPr>
          <p:cNvPr id="8" name="">
            <a:extLst xmlns:a="http://schemas.openxmlformats.org/drawingml/2006/main">
              <a:ext uri="{FF2B5EF4-FFF2-40B4-BE49-F238E27FC236}">
                <a16:creationId xmlns:a16="http://schemas.microsoft.com/office/drawing/2014/main" id="{1E1B25BA-60DC-488F-8CD1-DE2900DDCA38}"/>
              </a:ext>
            </a:extLst>
          </p:cNvPr>
          <p:cNvSpPr>
            <a:spLocks xmlns:a="http://schemas.openxmlformats.org/drawingml/2006/main" noGrp="1"/>
          </p:cNvSpPr>
          <p:nvPr/>
        </p:nvSpPr>
        <p:spPr>
          <a:xfrm xmlns:a="http://schemas.openxmlformats.org/drawingml/2006/main">
            <a:off x="8096250" y="27527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Veri erişimi ve servisler</a:t>
            </a:r>
          </a:p>
        </p:txBody>
      </p:sp>
      <p:sp>
        <p:nvSpPr>
          <p:cNvPr id="9" name="">
            <a:extLst xmlns:a="http://schemas.openxmlformats.org/drawingml/2006/main">
              <a:ext uri="{FF2B5EF4-FFF2-40B4-BE49-F238E27FC236}">
                <a16:creationId xmlns:a16="http://schemas.microsoft.com/office/drawing/2014/main" id="{CC0C272C-7929-4C48-B23D-B7D1EE7CA069}"/>
              </a:ext>
            </a:extLst>
          </p:cNvPr>
          <p:cNvSpPr>
            <a:spLocks xmlns:a="http://schemas.openxmlformats.org/drawingml/2006/main" noGrp="1"/>
          </p:cNvSpPr>
          <p:nvPr/>
        </p:nvSpPr>
        <p:spPr>
          <a:xfrm xmlns:a="http://schemas.openxmlformats.org/drawingml/2006/main">
            <a:off x="8096250" y="3257550"/>
            <a:ext cx="3143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N+1 karşılaştırması</a:t>
            </a:r>
          </a:p>
          <a:p xmlns:a="http://schemas.openxmlformats.org/drawingml/2006/main">
            <a:pPr>
              <a:defRPr sz="1725" b="0">
                <a:solidFill>
                  <a:srgbClr val="EAF0F7"/>
                </a:solidFill>
              </a:defRPr>
            </a:pPr>
            <a:r>
              <a:rPr sz="1725" b="0">
                <a:solidFill>
                  <a:srgbClr val="EAF0F7"/>
                </a:solidFill>
              </a:rPr>
              <a:t>Java labı</a:t>
            </a:r>
          </a:p>
          <a:p xmlns:a="http://schemas.openxmlformats.org/drawingml/2006/main">
            <a:pPr>
              <a:defRPr sz="1725" b="0">
                <a:solidFill>
                  <a:srgbClr val="EAF0F7"/>
                </a:solidFill>
              </a:defRPr>
            </a:pPr>
            <a:r>
              <a:rPr sz="1725" b="0">
                <a:solidFill>
                  <a:srgbClr val="EAF0F7"/>
                </a:solidFill>
              </a:rPr>
              <a:t>Provider, notification, gateway</a:t>
            </a:r>
          </a:p>
        </p:txBody>
      </p:sp>
      <p:sp>
        <p:nvSpPr>
          <p:cNvPr id="10" name="">
            <a:extLst xmlns:a="http://schemas.openxmlformats.org/drawingml/2006/main">
              <a:ext uri="{FF2B5EF4-FFF2-40B4-BE49-F238E27FC236}">
                <a16:creationId xmlns:a16="http://schemas.microsoft.com/office/drawing/2014/main" id="{824355C1-0409-41AA-83BD-B3A298EAB05D}"/>
              </a:ext>
            </a:extLst>
          </p:cNvPr>
          <p:cNvSpPr>
            <a:spLocks xmlns:a="http://schemas.openxmlformats.org/drawingml/2006/main" noGrp="1"/>
          </p:cNvSpPr>
          <p:nvPr/>
        </p:nvSpPr>
        <p:spPr>
          <a:xfrm xmlns:a="http://schemas.openxmlformats.org/drawingml/2006/main">
            <a:off x="857250" y="5715000"/>
            <a:ext cx="1019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650" b="0">
                <a:solidFill>
                  <a:srgbClr val="F3BA6C"/>
                </a:solidFill>
              </a:defRPr>
            </a:defPPr>
            <a:lvl1pPr>
              <a:defRPr sz="1650" b="0">
                <a:solidFill>
                  <a:srgbClr val="F3BA6C"/>
                </a:solidFill>
              </a:defRPr>
            </a:lvl1pPr>
            <a:lvl2pPr>
              <a:defRPr sz="1650" b="0">
                <a:solidFill>
                  <a:srgbClr val="F3BA6C"/>
                </a:solidFill>
              </a:defRPr>
            </a:lvl2pPr>
            <a:lvl3pPr>
              <a:defRPr sz="1650" b="0">
                <a:solidFill>
                  <a:srgbClr val="F3BA6C"/>
                </a:solidFill>
              </a:defRPr>
            </a:lvl3pPr>
            <a:lvl4pPr>
              <a:defRPr sz="1650" b="0">
                <a:solidFill>
                  <a:srgbClr val="F3BA6C"/>
                </a:solidFill>
              </a:defRPr>
            </a:lvl4pPr>
            <a:lvl5pPr>
              <a:defRPr sz="1650" b="0">
                <a:solidFill>
                  <a:srgbClr val="F3BA6C"/>
                </a:solidFill>
              </a:defRPr>
            </a:lvl5pPr>
            <a:lvl6pPr>
              <a:defRPr sz="1650" b="0">
                <a:solidFill>
                  <a:srgbClr val="F3BA6C"/>
                </a:solidFill>
              </a:defRPr>
            </a:lvl6pPr>
            <a:lvl7pPr>
              <a:defRPr sz="1650" b="0">
                <a:solidFill>
                  <a:srgbClr val="F3BA6C"/>
                </a:solidFill>
              </a:defRPr>
            </a:lvl7pPr>
            <a:lvl8pPr>
              <a:defRPr sz="1650" b="0">
                <a:solidFill>
                  <a:srgbClr val="F3BA6C"/>
                </a:solidFill>
              </a:defRPr>
            </a:lvl8pPr>
            <a:lvl9pPr>
              <a:defRPr sz="1650" b="0">
                <a:solidFill>
                  <a:srgbClr val="F3BA6C"/>
                </a:solidFill>
              </a:defRPr>
            </a:lvl9pPr>
          </a:lstStyle>
          <a:p xmlns:a="http://schemas.openxmlformats.org/drawingml/2006/main">
            <a:pPr>
              <a:defRPr sz="1650" b="0">
                <a:solidFill>
                  <a:srgbClr val="F3BA6C"/>
                </a:solidFill>
              </a:defRPr>
            </a:pPr>
            <a:r>
              <a:rPr sz="1650" b="0">
                <a:solidFill>
                  <a:srgbClr val="F3BA6C"/>
                </a:solidFill>
              </a:rPr>
              <a:t>H2 testleri geçti. Docker tam yığını bu ortamda çalıştırılamadı.</a:t>
            </a:r>
          </a:p>
        </p:txBody>
      </p:sp>
      <p:sp>
        <p:nvSpPr>
          <p:cNvPr id="11" name="">
            <a:extLst xmlns:a="http://schemas.openxmlformats.org/drawingml/2006/main">
              <a:ext uri="{FF2B5EF4-FFF2-40B4-BE49-F238E27FC236}">
                <a16:creationId xmlns:a16="http://schemas.microsoft.com/office/drawing/2014/main" id="{799E1FCA-2F5B-4D12-AB46-E49F28BF48D5}"/>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17</a:t>
            </a:r>
          </a:p>
        </p:txBody>
      </p:sp>
    </p:spTree>
    <p:extLst>
      <p:ext uri="{BB962C8B-B14F-4D97-AF65-F5344CB8AC3E}">
        <p14:creationId xmlns:p14="http://schemas.microsoft.com/office/powerpoint/2010/main" val="501175624"/>
      </p:ext>
    </p:extLst>
  </p:cSld>
</p:sld>
</file>

<file path=ppt/slides/slide18.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731C21A-6300-4011-8A92-96542C66B1A6}"/>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Tasarım tercihleri ve bedeller</a:t>
            </a:r>
          </a:p>
        </p:txBody>
      </p:sp>
      <p:sp>
        <p:nvSpPr>
          <p:cNvPr id="3" name="">
            <a:extLst xmlns:a="http://schemas.openxmlformats.org/drawingml/2006/main">
              <a:ext uri="{FF2B5EF4-FFF2-40B4-BE49-F238E27FC236}">
                <a16:creationId xmlns:a16="http://schemas.microsoft.com/office/drawing/2014/main" id="{DF4BCAC6-DEEB-4FF7-97E9-2031AE6084D4}"/>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18</a:t>
            </a:r>
          </a:p>
        </p:txBody>
      </p:sp>
      <p:sp>
        <p:nvSpPr>
          <p:cNvPr id="4" name="">
            <a:extLst xmlns:a="http://schemas.openxmlformats.org/drawingml/2006/main">
              <a:ext uri="{FF2B5EF4-FFF2-40B4-BE49-F238E27FC236}">
                <a16:creationId xmlns:a16="http://schemas.microsoft.com/office/drawing/2014/main" id="{6B7010AC-195B-4B82-B352-1F0967287045}"/>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Tek transaction</a:t>
            </a:r>
          </a:p>
        </p:txBody>
      </p:sp>
      <p:sp>
        <p:nvSpPr>
          <p:cNvPr id="5" name="">
            <a:extLst xmlns:a="http://schemas.openxmlformats.org/drawingml/2006/main">
              <a:ext uri="{FF2B5EF4-FFF2-40B4-BE49-F238E27FC236}">
                <a16:creationId xmlns:a16="http://schemas.microsoft.com/office/drawing/2014/main" id="{C0346CF4-7B6E-4A92-ADF5-909FCC36F0CD}"/>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Banka içi transfer için basit ve güçlü tutarlılık</a:t>
            </a:r>
          </a:p>
          <a:p xmlns:a="http://schemas.openxmlformats.org/drawingml/2006/main">
            <a:r>
              <a:t/>
            </a:r>
          </a:p>
          <a:p xmlns:a="http://schemas.openxmlformats.org/drawingml/2006/main">
            <a:pPr>
              <a:defRPr sz="1725" b="0">
                <a:solidFill>
                  <a:srgbClr val="EAF0F7"/>
                </a:solidFill>
              </a:defRPr>
            </a:pPr>
            <a:r>
              <a:rPr sz="1725" b="0">
                <a:solidFill>
                  <a:srgbClr val="EAF0F7"/>
                </a:solidFill>
              </a:rPr>
              <a:t>Bedel: çekirdek aynı DB’ye bağlı</a:t>
            </a:r>
          </a:p>
        </p:txBody>
      </p:sp>
      <p:sp>
        <p:nvSpPr>
          <p:cNvPr id="6" name="">
            <a:extLst xmlns:a="http://schemas.openxmlformats.org/drawingml/2006/main">
              <a:ext uri="{FF2B5EF4-FFF2-40B4-BE49-F238E27FC236}">
                <a16:creationId xmlns:a16="http://schemas.microsoft.com/office/drawing/2014/main" id="{FC80189B-A1A3-4DEB-B964-2D86AE2726B0}"/>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SAGA</a:t>
            </a:r>
          </a:p>
        </p:txBody>
      </p:sp>
      <p:sp>
        <p:nvSpPr>
          <p:cNvPr id="7" name="">
            <a:extLst xmlns:a="http://schemas.openxmlformats.org/drawingml/2006/main">
              <a:ext uri="{FF2B5EF4-FFF2-40B4-BE49-F238E27FC236}">
                <a16:creationId xmlns:a16="http://schemas.microsoft.com/office/drawing/2014/main" id="{3D195046-F814-4B3D-8D55-91A8E9FAB549}"/>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Harici servisle kısmi hatayı yönetir</a:t>
            </a:r>
          </a:p>
          <a:p xmlns:a="http://schemas.openxmlformats.org/drawingml/2006/main">
            <a:r>
              <a:t/>
            </a:r>
          </a:p>
          <a:p xmlns:a="http://schemas.openxmlformats.org/drawingml/2006/main">
            <a:pPr>
              <a:defRPr sz="1725" b="0">
                <a:solidFill>
                  <a:srgbClr val="EAF0F7"/>
                </a:solidFill>
              </a:defRPr>
            </a:pPr>
            <a:r>
              <a:rPr sz="1725" b="0">
                <a:solidFill>
                  <a:srgbClr val="EAF0F7"/>
                </a:solidFill>
              </a:rPr>
              <a:t>Bedel: UNKNOWN ve mutabakat</a:t>
            </a:r>
          </a:p>
        </p:txBody>
      </p:sp>
      <p:sp>
        <p:nvSpPr>
          <p:cNvPr id="8" name="">
            <a:extLst xmlns:a="http://schemas.openxmlformats.org/drawingml/2006/main">
              <a:ext uri="{FF2B5EF4-FFF2-40B4-BE49-F238E27FC236}">
                <a16:creationId xmlns:a16="http://schemas.microsoft.com/office/drawing/2014/main" id="{032FABAC-CCA4-455A-936C-C4AAE9ED7143}"/>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Outbox</a:t>
            </a:r>
          </a:p>
        </p:txBody>
      </p:sp>
      <p:sp>
        <p:nvSpPr>
          <p:cNvPr id="9" name="">
            <a:extLst xmlns:a="http://schemas.openxmlformats.org/drawingml/2006/main">
              <a:ext uri="{FF2B5EF4-FFF2-40B4-BE49-F238E27FC236}">
                <a16:creationId xmlns:a16="http://schemas.microsoft.com/office/drawing/2014/main" id="{4940BDB3-2B29-4C51-ADC8-60F679AACC15}"/>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defRPr sz="1725" b="0">
                <a:solidFill>
                  <a:srgbClr val="EAF0F7"/>
                </a:solidFill>
              </a:defRPr>
            </a:lvl1pPr>
            <a:lvl2pPr>
              <a:defRPr sz="1725" b="0">
                <a:solidFill>
                  <a:srgbClr val="EAF0F7"/>
                </a:solidFill>
              </a:defRPr>
            </a:lvl2pPr>
            <a:lvl3pPr>
              <a:defRPr sz="1725" b="0">
                <a:solidFill>
                  <a:srgbClr val="EAF0F7"/>
                </a:solidFill>
              </a:defRPr>
            </a:lvl3pPr>
            <a:lvl4pPr>
              <a:defRPr sz="1725" b="0">
                <a:solidFill>
                  <a:srgbClr val="EAF0F7"/>
                </a:solidFill>
              </a:defRPr>
            </a:lvl4pPr>
            <a:lvl5pPr>
              <a:defRPr sz="1725" b="0">
                <a:solidFill>
                  <a:srgbClr val="EAF0F7"/>
                </a:solidFill>
              </a:defRPr>
            </a:lvl5pPr>
            <a:lvl6pPr>
              <a:defRPr sz="1725" b="0">
                <a:solidFill>
                  <a:srgbClr val="EAF0F7"/>
                </a:solidFill>
              </a:defRPr>
            </a:lvl6pPr>
            <a:lvl7pPr>
              <a:defRPr sz="1725" b="0">
                <a:solidFill>
                  <a:srgbClr val="EAF0F7"/>
                </a:solidFill>
              </a:defRPr>
            </a:lvl7pPr>
            <a:lvl8pPr>
              <a:defRPr sz="1725" b="0">
                <a:solidFill>
                  <a:srgbClr val="EAF0F7"/>
                </a:solidFill>
              </a:defRPr>
            </a:lvl8pPr>
            <a:lvl9pPr>
              <a:defRPr sz="1725" b="0">
                <a:solidFill>
                  <a:srgbClr val="EAF0F7"/>
                </a:solidFill>
              </a:defRPr>
            </a:lvl9pPr>
          </a:lstStyle>
          <a:p xmlns:a="http://schemas.openxmlformats.org/drawingml/2006/main">
            <a:pPr>
              <a:defRPr sz="1725" b="0">
                <a:solidFill>
                  <a:srgbClr val="EAF0F7"/>
                </a:solidFill>
              </a:defRPr>
            </a:pPr>
            <a:r>
              <a:rPr sz="1725" b="0">
                <a:solidFill>
                  <a:srgbClr val="EAF0F7"/>
                </a:solidFill>
              </a:rPr>
              <a:t>DB commit ile olay kaydı birlikte</a:t>
            </a:r>
          </a:p>
          <a:p xmlns:a="http://schemas.openxmlformats.org/drawingml/2006/main">
            <a:r>
              <a:t/>
            </a:r>
          </a:p>
          <a:p xmlns:a="http://schemas.openxmlformats.org/drawingml/2006/main">
            <a:pPr>
              <a:defRPr sz="1725" b="0">
                <a:solidFill>
                  <a:srgbClr val="EAF0F7"/>
                </a:solidFill>
              </a:defRPr>
            </a:pPr>
            <a:r>
              <a:rPr sz="1725" b="0">
                <a:solidFill>
                  <a:srgbClr val="EAF0F7"/>
                </a:solidFill>
              </a:rPr>
              <a:t>Bedel: gecikme, tekrar ve yayıncı işletimi</a:t>
            </a:r>
          </a:p>
        </p:txBody>
      </p:sp>
      <p:sp>
        <p:nvSpPr>
          <p:cNvPr id="10" name="">
            <a:extLst xmlns:a="http://schemas.openxmlformats.org/drawingml/2006/main">
              <a:ext uri="{FF2B5EF4-FFF2-40B4-BE49-F238E27FC236}">
                <a16:creationId xmlns:a16="http://schemas.microsoft.com/office/drawing/2014/main" id="{28A987EF-6446-48FA-A6AC-0D1B32F02B5D}"/>
              </a:ext>
            </a:extLst>
          </p:cNvPr>
          <p:cNvSpPr>
            <a:spLocks xmlns:a="http://schemas.openxmlformats.org/drawingml/2006/main" noGrp="1"/>
          </p:cNvSpPr>
          <p:nvPr/>
        </p:nvSpPr>
        <p:spPr>
          <a:xfrm xmlns:a="http://schemas.openxmlformats.org/drawingml/2006/main">
            <a:off x="857250" y="55245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defRPr sz="1875" b="1">
                <a:solidFill>
                  <a:srgbClr val="F3BA6C"/>
                </a:solidFill>
              </a:defRPr>
            </a:lvl1pPr>
            <a:lvl2pPr>
              <a:defRPr sz="1875" b="1">
                <a:solidFill>
                  <a:srgbClr val="F3BA6C"/>
                </a:solidFill>
              </a:defRPr>
            </a:lvl2pPr>
            <a:lvl3pPr>
              <a:defRPr sz="1875" b="1">
                <a:solidFill>
                  <a:srgbClr val="F3BA6C"/>
                </a:solidFill>
              </a:defRPr>
            </a:lvl3pPr>
            <a:lvl4pPr>
              <a:defRPr sz="1875" b="1">
                <a:solidFill>
                  <a:srgbClr val="F3BA6C"/>
                </a:solidFill>
              </a:defRPr>
            </a:lvl4pPr>
            <a:lvl5pPr>
              <a:defRPr sz="1875" b="1">
                <a:solidFill>
                  <a:srgbClr val="F3BA6C"/>
                </a:solidFill>
              </a:defRPr>
            </a:lvl5pPr>
            <a:lvl6pPr>
              <a:defRPr sz="1875" b="1">
                <a:solidFill>
                  <a:srgbClr val="F3BA6C"/>
                </a:solidFill>
              </a:defRPr>
            </a:lvl6pPr>
            <a:lvl7pPr>
              <a:defRPr sz="1875" b="1">
                <a:solidFill>
                  <a:srgbClr val="F3BA6C"/>
                </a:solidFill>
              </a:defRPr>
            </a:lvl7pPr>
            <a:lvl8pPr>
              <a:defRPr sz="1875" b="1">
                <a:solidFill>
                  <a:srgbClr val="F3BA6C"/>
                </a:solidFill>
              </a:defRPr>
            </a:lvl8pPr>
            <a:lvl9pPr>
              <a:defRPr sz="1875" b="1">
                <a:solidFill>
                  <a:srgbClr val="F3BA6C"/>
                </a:solidFill>
              </a:defRPr>
            </a:lvl9pPr>
          </a:lstStyle>
          <a:p xmlns:a="http://schemas.openxmlformats.org/drawingml/2006/main">
            <a:pPr>
              <a:defRPr sz="1875" b="1">
                <a:solidFill>
                  <a:srgbClr val="F3BA6C"/>
                </a:solidFill>
              </a:defRPr>
            </a:pPr>
            <a:r>
              <a:rPr sz="1875" b="1">
                <a:solidFill>
                  <a:srgbClr val="F3BA6C"/>
                </a:solidFill>
              </a:rPr>
              <a:t>Her desen, gerçek bir arıza veya tutarlılık ihtiyacına bağlandı.</a:t>
            </a:r>
          </a:p>
        </p:txBody>
      </p:sp>
    </p:spTree>
    <p:extLst>
      <p:ext uri="{BB962C8B-B14F-4D97-AF65-F5344CB8AC3E}">
        <p14:creationId xmlns:p14="http://schemas.microsoft.com/office/powerpoint/2010/main" val="1090082764"/>
      </p:ext>
    </p:extLst>
  </p:cSld>
</p:sld>
</file>

<file path=ppt/slides/slide19.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9009519-7743-4ABA-AF5C-C1912BBA9DA9}"/>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Bilinen sınırlar ve sonraki adım</a:t>
            </a:r>
          </a:p>
        </p:txBody>
      </p:sp>
      <p:sp>
        <p:nvSpPr>
          <p:cNvPr id="3" name="">
            <a:extLst xmlns:a="http://schemas.openxmlformats.org/drawingml/2006/main">
              <a:ext uri="{FF2B5EF4-FFF2-40B4-BE49-F238E27FC236}">
                <a16:creationId xmlns:a16="http://schemas.microsoft.com/office/drawing/2014/main" id="{59D30C91-B372-42ED-B202-6791EB29C2B3}"/>
              </a:ext>
            </a:extLst>
          </p:cNvPr>
          <p:cNvSpPr>
            <a:spLocks xmlns:a="http://schemas.openxmlformats.org/drawingml/2006/main" noGrp="1"/>
          </p:cNvSpPr>
          <p:nvPr/>
        </p:nvSpPr>
        <p:spPr>
          <a:xfrm xmlns:a="http://schemas.openxmlformats.org/drawingml/2006/main">
            <a:off x="857250" y="157162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defRPr sz="2175" b="1">
                <a:solidFill>
                  <a:srgbClr val="79D9CB"/>
                </a:solidFill>
              </a:defRPr>
            </a:lvl1pPr>
            <a:lvl2pPr>
              <a:defRPr sz="2175" b="1">
                <a:solidFill>
                  <a:srgbClr val="79D9CB"/>
                </a:solidFill>
              </a:defRPr>
            </a:lvl2pPr>
            <a:lvl3pPr>
              <a:defRPr sz="2175" b="1">
                <a:solidFill>
                  <a:srgbClr val="79D9CB"/>
                </a:solidFill>
              </a:defRPr>
            </a:lvl3pPr>
            <a:lvl4pPr>
              <a:defRPr sz="2175" b="1">
                <a:solidFill>
                  <a:srgbClr val="79D9CB"/>
                </a:solidFill>
              </a:defRPr>
            </a:lvl4pPr>
            <a:lvl5pPr>
              <a:defRPr sz="2175" b="1">
                <a:solidFill>
                  <a:srgbClr val="79D9CB"/>
                </a:solidFill>
              </a:defRPr>
            </a:lvl5pPr>
            <a:lvl6pPr>
              <a:defRPr sz="2175" b="1">
                <a:solidFill>
                  <a:srgbClr val="79D9CB"/>
                </a:solidFill>
              </a:defRPr>
            </a:lvl6pPr>
            <a:lvl7pPr>
              <a:defRPr sz="2175" b="1">
                <a:solidFill>
                  <a:srgbClr val="79D9CB"/>
                </a:solidFill>
              </a:defRPr>
            </a:lvl7pPr>
            <a:lvl8pPr>
              <a:defRPr sz="2175" b="1">
                <a:solidFill>
                  <a:srgbClr val="79D9CB"/>
                </a:solidFill>
              </a:defRPr>
            </a:lvl8pPr>
            <a:lvl9pPr>
              <a:defRPr sz="2175" b="1">
                <a:solidFill>
                  <a:srgbClr val="79D9CB"/>
                </a:solidFill>
              </a:defRPr>
            </a:lvl9pPr>
          </a:lstStyle>
          <a:p xmlns:a="http://schemas.openxmlformats.org/drawingml/2006/main">
            <a:pPr>
              <a:defRPr sz="2175" b="1">
                <a:solidFill>
                  <a:srgbClr val="79D9CB"/>
                </a:solidFill>
              </a:defRPr>
            </a:pPr>
            <a:r>
              <a:rPr sz="2175" b="1">
                <a:solidFill>
                  <a:srgbClr val="79D9CB"/>
                </a:solidFill>
              </a:rPr>
              <a:t>Bugünkü kapsam</a:t>
            </a:r>
          </a:p>
        </p:txBody>
      </p:sp>
      <p:sp>
        <p:nvSpPr>
          <p:cNvPr id="4" name="">
            <a:extLst xmlns:a="http://schemas.openxmlformats.org/drawingml/2006/main">
              <a:ext uri="{FF2B5EF4-FFF2-40B4-BE49-F238E27FC236}">
                <a16:creationId xmlns:a16="http://schemas.microsoft.com/office/drawing/2014/main" id="{03580B40-3395-439B-B84F-5FC2891C033E}"/>
              </a:ext>
            </a:extLst>
          </p:cNvPr>
          <p:cNvSpPr>
            <a:spLocks xmlns:a="http://schemas.openxmlformats.org/drawingml/2006/main" noGrp="1"/>
          </p:cNvSpPr>
          <p:nvPr/>
        </p:nvSpPr>
        <p:spPr>
          <a:xfrm xmlns:a="http://schemas.openxmlformats.org/drawingml/2006/main">
            <a:off x="857250" y="2143125"/>
            <a:ext cx="4572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defRPr sz="1950" b="0">
                <a:solidFill>
                  <a:srgbClr val="EAF0F7"/>
                </a:solidFill>
              </a:defRPr>
            </a:lvl1pPr>
            <a:lvl2pPr>
              <a:defRPr sz="1950" b="0">
                <a:solidFill>
                  <a:srgbClr val="EAF0F7"/>
                </a:solidFill>
              </a:defRPr>
            </a:lvl2pPr>
            <a:lvl3pPr>
              <a:defRPr sz="1950" b="0">
                <a:solidFill>
                  <a:srgbClr val="EAF0F7"/>
                </a:solidFill>
              </a:defRPr>
            </a:lvl3pPr>
            <a:lvl4pPr>
              <a:defRPr sz="1950" b="0">
                <a:solidFill>
                  <a:srgbClr val="EAF0F7"/>
                </a:solidFill>
              </a:defRPr>
            </a:lvl4pPr>
            <a:lvl5pPr>
              <a:defRPr sz="1950" b="0">
                <a:solidFill>
                  <a:srgbClr val="EAF0F7"/>
                </a:solidFill>
              </a:defRPr>
            </a:lvl5pPr>
            <a:lvl6pPr>
              <a:defRPr sz="1950" b="0">
                <a:solidFill>
                  <a:srgbClr val="EAF0F7"/>
                </a:solidFill>
              </a:defRPr>
            </a:lvl6pPr>
            <a:lvl7pPr>
              <a:defRPr sz="1950" b="0">
                <a:solidFill>
                  <a:srgbClr val="EAF0F7"/>
                </a:solidFill>
              </a:defRPr>
            </a:lvl7pPr>
            <a:lvl8pPr>
              <a:defRPr sz="1950" b="0">
                <a:solidFill>
                  <a:srgbClr val="EAF0F7"/>
                </a:solidFill>
              </a:defRPr>
            </a:lvl8pPr>
            <a:lvl9pPr>
              <a:defRPr sz="1950" b="0">
                <a:solidFill>
                  <a:srgbClr val="EAF0F7"/>
                </a:solidFill>
              </a:defRPr>
            </a:lvl9pPr>
          </a:lstStyle>
          <a:p xmlns:a="http://schemas.openxmlformats.org/drawingml/2006/main">
            <a:pPr>
              <a:defRPr sz="1950" b="0">
                <a:solidFill>
                  <a:srgbClr val="EAF0F7"/>
                </a:solidFill>
              </a:defRPr>
            </a:pPr>
            <a:r>
              <a:rPr sz="1950" b="0">
                <a:solidFill>
                  <a:srgbClr val="EAF0F7"/>
                </a:solidFill>
              </a:rPr>
              <a:t>Eğitim ve yerel demo</a:t>
            </a:r>
          </a:p>
          <a:p xmlns:a="http://schemas.openxmlformats.org/drawingml/2006/main">
            <a:pPr>
              <a:defRPr sz="1950" b="0">
                <a:solidFill>
                  <a:srgbClr val="EAF0F7"/>
                </a:solidFill>
              </a:defRPr>
            </a:pPr>
            <a:r>
              <a:rPr sz="1950" b="0">
                <a:solidFill>
                  <a:srgbClr val="EAF0F7"/>
                </a:solidFill>
              </a:rPr>
              <a:t>H2 entegrasyon testleri</a:t>
            </a:r>
          </a:p>
          <a:p xmlns:a="http://schemas.openxmlformats.org/drawingml/2006/main">
            <a:pPr>
              <a:defRPr sz="1950" b="0">
                <a:solidFill>
                  <a:srgbClr val="EAF0F7"/>
                </a:solidFill>
              </a:defRPr>
            </a:pPr>
            <a:r>
              <a:rPr sz="1950" b="0">
                <a:solidFill>
                  <a:srgbClr val="EAF0F7"/>
                </a:solidFill>
              </a:rPr>
              <a:t>Tek replica Compose</a:t>
            </a:r>
          </a:p>
          <a:p xmlns:a="http://schemas.openxmlformats.org/drawingml/2006/main">
            <a:pPr>
              <a:defRPr sz="1950" b="0">
                <a:solidFill>
                  <a:srgbClr val="EAF0F7"/>
                </a:solidFill>
              </a:defRPr>
            </a:pPr>
            <a:r>
              <a:rPr sz="1950" b="0">
                <a:solidFill>
                  <a:srgbClr val="EAF0F7"/>
                </a:solidFill>
              </a:rPr>
              <a:t>Kısıtlı ledger kapsamı</a:t>
            </a:r>
          </a:p>
        </p:txBody>
      </p:sp>
      <p:sp>
        <p:nvSpPr>
          <p:cNvPr id="5" name="">
            <a:extLst xmlns:a="http://schemas.openxmlformats.org/drawingml/2006/main">
              <a:ext uri="{FF2B5EF4-FFF2-40B4-BE49-F238E27FC236}">
                <a16:creationId xmlns:a16="http://schemas.microsoft.com/office/drawing/2014/main" id="{11AD26AB-8D23-452F-953F-81D1394A4818}"/>
              </a:ext>
            </a:extLst>
          </p:cNvPr>
          <p:cNvSpPr>
            <a:spLocks xmlns:a="http://schemas.openxmlformats.org/drawingml/2006/main" noGrp="1"/>
          </p:cNvSpPr>
          <p:nvPr/>
        </p:nvSpPr>
        <p:spPr>
          <a:xfrm xmlns:a="http://schemas.openxmlformats.org/drawingml/2006/main">
            <a:off x="6381750" y="1571625"/>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F3BA6C"/>
                </a:solidFill>
              </a:defRPr>
            </a:defPPr>
            <a:lvl1pPr>
              <a:defRPr sz="2175" b="1">
                <a:solidFill>
                  <a:srgbClr val="F3BA6C"/>
                </a:solidFill>
              </a:defRPr>
            </a:lvl1pPr>
            <a:lvl2pPr>
              <a:defRPr sz="2175" b="1">
                <a:solidFill>
                  <a:srgbClr val="F3BA6C"/>
                </a:solidFill>
              </a:defRPr>
            </a:lvl2pPr>
            <a:lvl3pPr>
              <a:defRPr sz="2175" b="1">
                <a:solidFill>
                  <a:srgbClr val="F3BA6C"/>
                </a:solidFill>
              </a:defRPr>
            </a:lvl3pPr>
            <a:lvl4pPr>
              <a:defRPr sz="2175" b="1">
                <a:solidFill>
                  <a:srgbClr val="F3BA6C"/>
                </a:solidFill>
              </a:defRPr>
            </a:lvl4pPr>
            <a:lvl5pPr>
              <a:defRPr sz="2175" b="1">
                <a:solidFill>
                  <a:srgbClr val="F3BA6C"/>
                </a:solidFill>
              </a:defRPr>
            </a:lvl5pPr>
            <a:lvl6pPr>
              <a:defRPr sz="2175" b="1">
                <a:solidFill>
                  <a:srgbClr val="F3BA6C"/>
                </a:solidFill>
              </a:defRPr>
            </a:lvl6pPr>
            <a:lvl7pPr>
              <a:defRPr sz="2175" b="1">
                <a:solidFill>
                  <a:srgbClr val="F3BA6C"/>
                </a:solidFill>
              </a:defRPr>
            </a:lvl7pPr>
            <a:lvl8pPr>
              <a:defRPr sz="2175" b="1">
                <a:solidFill>
                  <a:srgbClr val="F3BA6C"/>
                </a:solidFill>
              </a:defRPr>
            </a:lvl8pPr>
            <a:lvl9pPr>
              <a:defRPr sz="2175" b="1">
                <a:solidFill>
                  <a:srgbClr val="F3BA6C"/>
                </a:solidFill>
              </a:defRPr>
            </a:lvl9pPr>
          </a:lstStyle>
          <a:p xmlns:a="http://schemas.openxmlformats.org/drawingml/2006/main">
            <a:pPr>
              <a:defRPr sz="2175" b="1">
                <a:solidFill>
                  <a:srgbClr val="F3BA6C"/>
                </a:solidFill>
              </a:defRPr>
            </a:pPr>
            <a:r>
              <a:rPr sz="2175" b="1">
                <a:solidFill>
                  <a:srgbClr val="F3BA6C"/>
                </a:solidFill>
              </a:rPr>
              <a:t>Üretime yaklaşmak için</a:t>
            </a:r>
          </a:p>
        </p:txBody>
      </p:sp>
      <p:sp>
        <p:nvSpPr>
          <p:cNvPr id="6" name="">
            <a:extLst xmlns:a="http://schemas.openxmlformats.org/drawingml/2006/main">
              <a:ext uri="{FF2B5EF4-FFF2-40B4-BE49-F238E27FC236}">
                <a16:creationId xmlns:a16="http://schemas.microsoft.com/office/drawing/2014/main" id="{3ACE84EB-2868-4A0A-91B2-B23B526203CF}"/>
              </a:ext>
            </a:extLst>
          </p:cNvPr>
          <p:cNvSpPr>
            <a:spLocks xmlns:a="http://schemas.openxmlformats.org/drawingml/2006/main" noGrp="1"/>
          </p:cNvSpPr>
          <p:nvPr/>
        </p:nvSpPr>
        <p:spPr>
          <a:xfrm xmlns:a="http://schemas.openxmlformats.org/drawingml/2006/main">
            <a:off x="6381750" y="2143125"/>
            <a:ext cx="48577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defRPr sz="1950" b="0">
                <a:solidFill>
                  <a:srgbClr val="EAF0F7"/>
                </a:solidFill>
              </a:defRPr>
            </a:lvl1pPr>
            <a:lvl2pPr>
              <a:defRPr sz="1950" b="0">
                <a:solidFill>
                  <a:srgbClr val="EAF0F7"/>
                </a:solidFill>
              </a:defRPr>
            </a:lvl2pPr>
            <a:lvl3pPr>
              <a:defRPr sz="1950" b="0">
                <a:solidFill>
                  <a:srgbClr val="EAF0F7"/>
                </a:solidFill>
              </a:defRPr>
            </a:lvl3pPr>
            <a:lvl4pPr>
              <a:defRPr sz="1950" b="0">
                <a:solidFill>
                  <a:srgbClr val="EAF0F7"/>
                </a:solidFill>
              </a:defRPr>
            </a:lvl4pPr>
            <a:lvl5pPr>
              <a:defRPr sz="1950" b="0">
                <a:solidFill>
                  <a:srgbClr val="EAF0F7"/>
                </a:solidFill>
              </a:defRPr>
            </a:lvl5pPr>
            <a:lvl6pPr>
              <a:defRPr sz="1950" b="0">
                <a:solidFill>
                  <a:srgbClr val="EAF0F7"/>
                </a:solidFill>
              </a:defRPr>
            </a:lvl6pPr>
            <a:lvl7pPr>
              <a:defRPr sz="1950" b="0">
                <a:solidFill>
                  <a:srgbClr val="EAF0F7"/>
                </a:solidFill>
              </a:defRPr>
            </a:lvl7pPr>
            <a:lvl8pPr>
              <a:defRPr sz="1950" b="0">
                <a:solidFill>
                  <a:srgbClr val="EAF0F7"/>
                </a:solidFill>
              </a:defRPr>
            </a:lvl8pPr>
            <a:lvl9pPr>
              <a:defRPr sz="1950" b="0">
                <a:solidFill>
                  <a:srgbClr val="EAF0F7"/>
                </a:solidFill>
              </a:defRPr>
            </a:lvl9pPr>
          </a:lstStyle>
          <a:p xmlns:a="http://schemas.openxmlformats.org/drawingml/2006/main">
            <a:pPr>
              <a:defRPr sz="1950" b="0">
                <a:solidFill>
                  <a:srgbClr val="EAF0F7"/>
                </a:solidFill>
              </a:defRPr>
            </a:pPr>
            <a:r>
              <a:rPr sz="1950" b="0">
                <a:solidFill>
                  <a:srgbClr val="EAF0F7"/>
                </a:solidFill>
              </a:rPr>
              <a:t>Kimlik doğrulama ve müşteri yetkisi</a:t>
            </a:r>
          </a:p>
          <a:p xmlns:a="http://schemas.openxmlformats.org/drawingml/2006/main">
            <a:pPr>
              <a:defRPr sz="1950" b="0">
                <a:solidFill>
                  <a:srgbClr val="EAF0F7"/>
                </a:solidFill>
              </a:defRPr>
            </a:pPr>
            <a:r>
              <a:rPr sz="1950" b="0">
                <a:solidFill>
                  <a:srgbClr val="EAF0F7"/>
                </a:solidFill>
              </a:rPr>
              <a:t>Gerçek PostgreSQL/Testcontainers</a:t>
            </a:r>
          </a:p>
          <a:p xmlns:a="http://schemas.openxmlformats.org/drawingml/2006/main">
            <a:pPr>
              <a:defRPr sz="1950" b="0">
                <a:solidFill>
                  <a:srgbClr val="EAF0F7"/>
                </a:solidFill>
              </a:defRPr>
            </a:pPr>
            <a:r>
              <a:rPr sz="1950" b="0">
                <a:solidFill>
                  <a:srgbClr val="EAF0F7"/>
                </a:solidFill>
              </a:rPr>
              <a:t>Outbox claim ve operasyonel izleme</a:t>
            </a:r>
          </a:p>
          <a:p xmlns:a="http://schemas.openxmlformats.org/drawingml/2006/main">
            <a:pPr>
              <a:defRPr sz="1950" b="0">
                <a:solidFill>
                  <a:srgbClr val="EAF0F7"/>
                </a:solidFill>
              </a:defRPr>
            </a:pPr>
            <a:r>
              <a:rPr sz="1950" b="0">
                <a:solidFill>
                  <a:srgbClr val="EAF0F7"/>
                </a:solidFill>
              </a:rPr>
              <a:t>Fonlama ve tam muhasebe</a:t>
            </a:r>
          </a:p>
        </p:txBody>
      </p:sp>
      <p:sp>
        <p:nvSpPr>
          <p:cNvPr id="7" name="">
            <a:extLst xmlns:a="http://schemas.openxmlformats.org/drawingml/2006/main">
              <a:ext uri="{FF2B5EF4-FFF2-40B4-BE49-F238E27FC236}">
                <a16:creationId xmlns:a16="http://schemas.microsoft.com/office/drawing/2014/main" id="{F77E6F47-B51E-43E7-AE0B-7064AF2D9F7A}"/>
              </a:ext>
            </a:extLst>
          </p:cNvPr>
          <p:cNvSpPr>
            <a:spLocks xmlns:a="http://schemas.openxmlformats.org/drawingml/2006/main" noGrp="1"/>
          </p:cNvSpPr>
          <p:nvPr/>
        </p:nvSpPr>
        <p:spPr>
          <a:xfrm xmlns:a="http://schemas.openxmlformats.org/drawingml/2006/main">
            <a:off x="857250" y="55054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defRPr sz="1800" b="0">
                <a:solidFill>
                  <a:srgbClr val="BFCBDD"/>
                </a:solidFill>
              </a:defRPr>
            </a:lvl1pPr>
            <a:lvl2pPr>
              <a:defRPr sz="1800" b="0">
                <a:solidFill>
                  <a:srgbClr val="BFCBDD"/>
                </a:solidFill>
              </a:defRPr>
            </a:lvl2pPr>
            <a:lvl3pPr>
              <a:defRPr sz="1800" b="0">
                <a:solidFill>
                  <a:srgbClr val="BFCBDD"/>
                </a:solidFill>
              </a:defRPr>
            </a:lvl3pPr>
            <a:lvl4pPr>
              <a:defRPr sz="1800" b="0">
                <a:solidFill>
                  <a:srgbClr val="BFCBDD"/>
                </a:solidFill>
              </a:defRPr>
            </a:lvl4pPr>
            <a:lvl5pPr>
              <a:defRPr sz="1800" b="0">
                <a:solidFill>
                  <a:srgbClr val="BFCBDD"/>
                </a:solidFill>
              </a:defRPr>
            </a:lvl5pPr>
            <a:lvl6pPr>
              <a:defRPr sz="1800" b="0">
                <a:solidFill>
                  <a:srgbClr val="BFCBDD"/>
                </a:solidFill>
              </a:defRPr>
            </a:lvl6pPr>
            <a:lvl7pPr>
              <a:defRPr sz="1800" b="0">
                <a:solidFill>
                  <a:srgbClr val="BFCBDD"/>
                </a:solidFill>
              </a:defRPr>
            </a:lvl7pPr>
            <a:lvl8pPr>
              <a:defRPr sz="1800" b="0">
                <a:solidFill>
                  <a:srgbClr val="BFCBDD"/>
                </a:solidFill>
              </a:defRPr>
            </a:lvl8pPr>
            <a:lvl9pPr>
              <a:defRPr sz="1800" b="0">
                <a:solidFill>
                  <a:srgbClr val="BFCBDD"/>
                </a:solidFill>
              </a:defRPr>
            </a:lvl9pPr>
          </a:lstStyle>
          <a:p xmlns:a="http://schemas.openxmlformats.org/drawingml/2006/main">
            <a:pPr>
              <a:defRPr sz="1800" b="0">
                <a:solidFill>
                  <a:srgbClr val="BFCBDD"/>
                </a:solidFill>
              </a:defRPr>
            </a:pPr>
            <a:r>
              <a:rPr sz="1800" b="0">
                <a:solidFill>
                  <a:srgbClr val="BFCBDD"/>
                </a:solidFill>
              </a:rPr>
              <a:t>Bu sınırları açık anlatmak güvenilirliği artırır.</a:t>
            </a:r>
          </a:p>
        </p:txBody>
      </p:sp>
      <p:sp>
        <p:nvSpPr>
          <p:cNvPr id="8" name="">
            <a:extLst xmlns:a="http://schemas.openxmlformats.org/drawingml/2006/main">
              <a:ext uri="{FF2B5EF4-FFF2-40B4-BE49-F238E27FC236}">
                <a16:creationId xmlns:a16="http://schemas.microsoft.com/office/drawing/2014/main" id="{A680EBC4-A7E0-432A-B14B-EAE2FFA39593}"/>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19</a:t>
            </a:r>
          </a:p>
        </p:txBody>
      </p:sp>
    </p:spTree>
    <p:extLst>
      <p:ext uri="{BB962C8B-B14F-4D97-AF65-F5344CB8AC3E}">
        <p14:creationId xmlns:p14="http://schemas.microsoft.com/office/powerpoint/2010/main" val="1304085536"/>
      </p:ext>
    </p:extLst>
  </p:cSld>
</p:sld>
</file>

<file path=ppt/slides/slide20.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51AFDFF-19AC-4E44-9F64-37209FB586C8}"/>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Canlı demo sırası</a:t>
            </a:r>
          </a:p>
        </p:txBody>
      </p:sp>
      <p:sp>
        <p:nvSpPr>
          <p:cNvPr id="3" name="">
            <a:extLst xmlns:a="http://schemas.openxmlformats.org/drawingml/2006/main">
              <a:ext uri="{FF2B5EF4-FFF2-40B4-BE49-F238E27FC236}">
                <a16:creationId xmlns:a16="http://schemas.microsoft.com/office/drawing/2014/main" id="{B1023813-2A8B-4AD8-A27E-063B817E2FE5}"/>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20</a:t>
            </a:r>
          </a:p>
        </p:txBody>
      </p:sp>
      <p:sp>
        <p:nvSpPr>
          <p:cNvPr id="4" name="">
            <a:extLst xmlns:a="http://schemas.openxmlformats.org/drawingml/2006/main">
              <a:ext uri="{FF2B5EF4-FFF2-40B4-BE49-F238E27FC236}">
                <a16:creationId xmlns:a16="http://schemas.microsoft.com/office/drawing/2014/main" id="{C353B1EC-D4BC-4E4E-89D9-9781A55FB01A}"/>
              </a:ext>
            </a:extLst>
          </p:cNvPr>
          <p:cNvSpPr>
            <a:spLocks xmlns:a="http://schemas.openxmlformats.org/drawingml/2006/main" noGrp="1"/>
          </p:cNvSpPr>
          <p:nvPr/>
        </p:nvSpPr>
        <p:spPr>
          <a:xfrm xmlns:a="http://schemas.openxmlformats.org/drawingml/2006/main">
            <a:off x="857250" y="16859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defRPr sz="2100" b="0">
                <a:solidFill>
                  <a:srgbClr val="EAF0F7"/>
                </a:solidFill>
              </a:defRPr>
            </a:lvl1pPr>
            <a:lvl2pPr>
              <a:defRPr sz="2100" b="0">
                <a:solidFill>
                  <a:srgbClr val="EAF0F7"/>
                </a:solidFill>
              </a:defRPr>
            </a:lvl2pPr>
            <a:lvl3pPr>
              <a:defRPr sz="2100" b="0">
                <a:solidFill>
                  <a:srgbClr val="EAF0F7"/>
                </a:solidFill>
              </a:defRPr>
            </a:lvl3pPr>
            <a:lvl4pPr>
              <a:defRPr sz="2100" b="0">
                <a:solidFill>
                  <a:srgbClr val="EAF0F7"/>
                </a:solidFill>
              </a:defRPr>
            </a:lvl4pPr>
            <a:lvl5pPr>
              <a:defRPr sz="2100" b="0">
                <a:solidFill>
                  <a:srgbClr val="EAF0F7"/>
                </a:solidFill>
              </a:defRPr>
            </a:lvl5pPr>
            <a:lvl6pPr>
              <a:defRPr sz="2100" b="0">
                <a:solidFill>
                  <a:srgbClr val="EAF0F7"/>
                </a:solidFill>
              </a:defRPr>
            </a:lvl6pPr>
            <a:lvl7pPr>
              <a:defRPr sz="2100" b="0">
                <a:solidFill>
                  <a:srgbClr val="EAF0F7"/>
                </a:solidFill>
              </a:defRPr>
            </a:lvl7pPr>
            <a:lvl8pPr>
              <a:defRPr sz="2100" b="0">
                <a:solidFill>
                  <a:srgbClr val="EAF0F7"/>
                </a:solidFill>
              </a:defRPr>
            </a:lvl8pPr>
            <a:lvl9pPr>
              <a:defRPr sz="2100" b="0">
                <a:solidFill>
                  <a:srgbClr val="EAF0F7"/>
                </a:solidFill>
              </a:defRPr>
            </a:lvl9pPr>
          </a:lstStyle>
          <a:p xmlns:a="http://schemas.openxmlformats.org/drawingml/2006/main">
            <a:pPr>
              <a:defRPr sz="2100" b="0">
                <a:solidFill>
                  <a:srgbClr val="EAF0F7"/>
                </a:solidFill>
              </a:defRPr>
            </a:pPr>
            <a:r>
              <a:rPr sz="2100" b="0">
                <a:solidFill>
                  <a:srgbClr val="EAF0F7"/>
                </a:solidFill>
              </a:rPr>
              <a:t>1  İki hesabın başlangıç bakiyesini göster</a:t>
            </a:r>
          </a:p>
        </p:txBody>
      </p:sp>
      <p:sp>
        <p:nvSpPr>
          <p:cNvPr id="5" name="">
            <a:extLst xmlns:a="http://schemas.openxmlformats.org/drawingml/2006/main">
              <a:ext uri="{FF2B5EF4-FFF2-40B4-BE49-F238E27FC236}">
                <a16:creationId xmlns:a16="http://schemas.microsoft.com/office/drawing/2014/main" id="{2ACA9A1D-83EF-4958-8716-010594488787}"/>
              </a:ext>
            </a:extLst>
          </p:cNvPr>
          <p:cNvSpPr>
            <a:spLocks xmlns:a="http://schemas.openxmlformats.org/drawingml/2006/main" noGrp="1"/>
          </p:cNvSpPr>
          <p:nvPr/>
        </p:nvSpPr>
        <p:spPr>
          <a:xfrm xmlns:a="http://schemas.openxmlformats.org/drawingml/2006/main">
            <a:off x="857250" y="25241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defRPr sz="2100" b="0">
                <a:solidFill>
                  <a:srgbClr val="EAF0F7"/>
                </a:solidFill>
              </a:defRPr>
            </a:lvl1pPr>
            <a:lvl2pPr>
              <a:defRPr sz="2100" b="0">
                <a:solidFill>
                  <a:srgbClr val="EAF0F7"/>
                </a:solidFill>
              </a:defRPr>
            </a:lvl2pPr>
            <a:lvl3pPr>
              <a:defRPr sz="2100" b="0">
                <a:solidFill>
                  <a:srgbClr val="EAF0F7"/>
                </a:solidFill>
              </a:defRPr>
            </a:lvl3pPr>
            <a:lvl4pPr>
              <a:defRPr sz="2100" b="0">
                <a:solidFill>
                  <a:srgbClr val="EAF0F7"/>
                </a:solidFill>
              </a:defRPr>
            </a:lvl4pPr>
            <a:lvl5pPr>
              <a:defRPr sz="2100" b="0">
                <a:solidFill>
                  <a:srgbClr val="EAF0F7"/>
                </a:solidFill>
              </a:defRPr>
            </a:lvl5pPr>
            <a:lvl6pPr>
              <a:defRPr sz="2100" b="0">
                <a:solidFill>
                  <a:srgbClr val="EAF0F7"/>
                </a:solidFill>
              </a:defRPr>
            </a:lvl6pPr>
            <a:lvl7pPr>
              <a:defRPr sz="2100" b="0">
                <a:solidFill>
                  <a:srgbClr val="EAF0F7"/>
                </a:solidFill>
              </a:defRPr>
            </a:lvl7pPr>
            <a:lvl8pPr>
              <a:defRPr sz="2100" b="0">
                <a:solidFill>
                  <a:srgbClr val="EAF0F7"/>
                </a:solidFill>
              </a:defRPr>
            </a:lvl8pPr>
            <a:lvl9pPr>
              <a:defRPr sz="2100" b="0">
                <a:solidFill>
                  <a:srgbClr val="EAF0F7"/>
                </a:solidFill>
              </a:defRPr>
            </a:lvl9pPr>
          </a:lstStyle>
          <a:p xmlns:a="http://schemas.openxmlformats.org/drawingml/2006/main">
            <a:pPr>
              <a:defRPr sz="2100" b="0">
                <a:solidFill>
                  <a:srgbClr val="EAF0F7"/>
                </a:solidFill>
              </a:defRPr>
            </a:pPr>
            <a:r>
              <a:rPr sz="2100" b="0">
                <a:solidFill>
                  <a:srgbClr val="EAF0F7"/>
                </a:solidFill>
              </a:rPr>
              <a:t>2  200 TRY transfer et; 800 / 200 ve ledger’ı göster</a:t>
            </a:r>
          </a:p>
        </p:txBody>
      </p:sp>
      <p:sp>
        <p:nvSpPr>
          <p:cNvPr id="6" name="">
            <a:extLst xmlns:a="http://schemas.openxmlformats.org/drawingml/2006/main">
              <a:ext uri="{FF2B5EF4-FFF2-40B4-BE49-F238E27FC236}">
                <a16:creationId xmlns:a16="http://schemas.microsoft.com/office/drawing/2014/main" id="{1DEBFC33-53D6-4B32-B7B4-59AEFF5E5211}"/>
              </a:ext>
            </a:extLst>
          </p:cNvPr>
          <p:cNvSpPr>
            <a:spLocks xmlns:a="http://schemas.openxmlformats.org/drawingml/2006/main" noGrp="1"/>
          </p:cNvSpPr>
          <p:nvPr/>
        </p:nvSpPr>
        <p:spPr>
          <a:xfrm xmlns:a="http://schemas.openxmlformats.org/drawingml/2006/main">
            <a:off x="857250" y="33623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defRPr sz="2100" b="0">
                <a:solidFill>
                  <a:srgbClr val="EAF0F7"/>
                </a:solidFill>
              </a:defRPr>
            </a:lvl1pPr>
            <a:lvl2pPr>
              <a:defRPr sz="2100" b="0">
                <a:solidFill>
                  <a:srgbClr val="EAF0F7"/>
                </a:solidFill>
              </a:defRPr>
            </a:lvl2pPr>
            <a:lvl3pPr>
              <a:defRPr sz="2100" b="0">
                <a:solidFill>
                  <a:srgbClr val="EAF0F7"/>
                </a:solidFill>
              </a:defRPr>
            </a:lvl3pPr>
            <a:lvl4pPr>
              <a:defRPr sz="2100" b="0">
                <a:solidFill>
                  <a:srgbClr val="EAF0F7"/>
                </a:solidFill>
              </a:defRPr>
            </a:lvl4pPr>
            <a:lvl5pPr>
              <a:defRPr sz="2100" b="0">
                <a:solidFill>
                  <a:srgbClr val="EAF0F7"/>
                </a:solidFill>
              </a:defRPr>
            </a:lvl5pPr>
            <a:lvl6pPr>
              <a:defRPr sz="2100" b="0">
                <a:solidFill>
                  <a:srgbClr val="EAF0F7"/>
                </a:solidFill>
              </a:defRPr>
            </a:lvl6pPr>
            <a:lvl7pPr>
              <a:defRPr sz="2100" b="0">
                <a:solidFill>
                  <a:srgbClr val="EAF0F7"/>
                </a:solidFill>
              </a:defRPr>
            </a:lvl7pPr>
            <a:lvl8pPr>
              <a:defRPr sz="2100" b="0">
                <a:solidFill>
                  <a:srgbClr val="EAF0F7"/>
                </a:solidFill>
              </a:defRPr>
            </a:lvl8pPr>
            <a:lvl9pPr>
              <a:defRPr sz="2100" b="0">
                <a:solidFill>
                  <a:srgbClr val="EAF0F7"/>
                </a:solidFill>
              </a:defRPr>
            </a:lvl9pPr>
          </a:lstStyle>
          <a:p xmlns:a="http://schemas.openxmlformats.org/drawingml/2006/main">
            <a:pPr>
              <a:defRPr sz="2100" b="0">
                <a:solidFill>
                  <a:srgbClr val="EAF0F7"/>
                </a:solidFill>
              </a:defRPr>
            </a:pPr>
            <a:r>
              <a:rPr sz="2100" b="0">
                <a:solidFill>
                  <a:srgbClr val="EAF0F7"/>
                </a:solidFill>
              </a:rPr>
              <a:t>3  Aynı anahtarı tekrar gönder; ikinci para hareketi yok</a:t>
            </a:r>
          </a:p>
        </p:txBody>
      </p:sp>
      <p:sp>
        <p:nvSpPr>
          <p:cNvPr id="7" name="">
            <a:extLst xmlns:a="http://schemas.openxmlformats.org/drawingml/2006/main">
              <a:ext uri="{FF2B5EF4-FFF2-40B4-BE49-F238E27FC236}">
                <a16:creationId xmlns:a16="http://schemas.microsoft.com/office/drawing/2014/main" id="{8133CA12-7E54-4625-AE88-B05B7D53F8D0}"/>
              </a:ext>
            </a:extLst>
          </p:cNvPr>
          <p:cNvSpPr>
            <a:spLocks xmlns:a="http://schemas.openxmlformats.org/drawingml/2006/main" noGrp="1"/>
          </p:cNvSpPr>
          <p:nvPr/>
        </p:nvSpPr>
        <p:spPr>
          <a:xfrm xmlns:a="http://schemas.openxmlformats.org/drawingml/2006/main">
            <a:off x="857250" y="42005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defRPr sz="2100" b="0">
                <a:solidFill>
                  <a:srgbClr val="EAF0F7"/>
                </a:solidFill>
              </a:defRPr>
            </a:lvl1pPr>
            <a:lvl2pPr>
              <a:defRPr sz="2100" b="0">
                <a:solidFill>
                  <a:srgbClr val="EAF0F7"/>
                </a:solidFill>
              </a:defRPr>
            </a:lvl2pPr>
            <a:lvl3pPr>
              <a:defRPr sz="2100" b="0">
                <a:solidFill>
                  <a:srgbClr val="EAF0F7"/>
                </a:solidFill>
              </a:defRPr>
            </a:lvl3pPr>
            <a:lvl4pPr>
              <a:defRPr sz="2100" b="0">
                <a:solidFill>
                  <a:srgbClr val="EAF0F7"/>
                </a:solidFill>
              </a:defRPr>
            </a:lvl4pPr>
            <a:lvl5pPr>
              <a:defRPr sz="2100" b="0">
                <a:solidFill>
                  <a:srgbClr val="EAF0F7"/>
                </a:solidFill>
              </a:defRPr>
            </a:lvl5pPr>
            <a:lvl6pPr>
              <a:defRPr sz="2100" b="0">
                <a:solidFill>
                  <a:srgbClr val="EAF0F7"/>
                </a:solidFill>
              </a:defRPr>
            </a:lvl6pPr>
            <a:lvl7pPr>
              <a:defRPr sz="2100" b="0">
                <a:solidFill>
                  <a:srgbClr val="EAF0F7"/>
                </a:solidFill>
              </a:defRPr>
            </a:lvl7pPr>
            <a:lvl8pPr>
              <a:defRPr sz="2100" b="0">
                <a:solidFill>
                  <a:srgbClr val="EAF0F7"/>
                </a:solidFill>
              </a:defRPr>
            </a:lvl8pPr>
            <a:lvl9pPr>
              <a:defRPr sz="2100" b="0">
                <a:solidFill>
                  <a:srgbClr val="EAF0F7"/>
                </a:solidFill>
              </a:defRPr>
            </a:lvl9pPr>
          </a:lstStyle>
          <a:p xmlns:a="http://schemas.openxmlformats.org/drawingml/2006/main">
            <a:pPr>
              <a:defRPr sz="2100" b="0">
                <a:solidFill>
                  <a:srgbClr val="EAF0F7"/>
                </a:solidFill>
              </a:defRPr>
            </a:pPr>
            <a:r>
              <a:rPr sz="2100" b="0">
                <a:solidFill>
                  <a:srgbClr val="EAF0F7"/>
                </a:solidFill>
              </a:rPr>
              <a:t>4  Fatura ödemesinde REJECT ve TIMEOUT_ONCE seç</a:t>
            </a:r>
          </a:p>
        </p:txBody>
      </p:sp>
      <p:sp>
        <p:nvSpPr>
          <p:cNvPr id="8" name="">
            <a:extLst xmlns:a="http://schemas.openxmlformats.org/drawingml/2006/main">
              <a:ext uri="{FF2B5EF4-FFF2-40B4-BE49-F238E27FC236}">
                <a16:creationId xmlns:a16="http://schemas.microsoft.com/office/drawing/2014/main" id="{688BB539-7511-41E9-A79C-E90C1CD3829F}"/>
              </a:ext>
            </a:extLst>
          </p:cNvPr>
          <p:cNvSpPr>
            <a:spLocks xmlns:a="http://schemas.openxmlformats.org/drawingml/2006/main" noGrp="1"/>
          </p:cNvSpPr>
          <p:nvPr/>
        </p:nvSpPr>
        <p:spPr>
          <a:xfrm xmlns:a="http://schemas.openxmlformats.org/drawingml/2006/main">
            <a:off x="857250" y="5038725"/>
            <a:ext cx="1019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defRPr sz="2100" b="1">
                <a:solidFill>
                  <a:srgbClr val="79D9CB"/>
                </a:solidFill>
              </a:defRPr>
            </a:lvl1pPr>
            <a:lvl2pPr>
              <a:defRPr sz="2100" b="1">
                <a:solidFill>
                  <a:srgbClr val="79D9CB"/>
                </a:solidFill>
              </a:defRPr>
            </a:lvl2pPr>
            <a:lvl3pPr>
              <a:defRPr sz="2100" b="1">
                <a:solidFill>
                  <a:srgbClr val="79D9CB"/>
                </a:solidFill>
              </a:defRPr>
            </a:lvl3pPr>
            <a:lvl4pPr>
              <a:defRPr sz="2100" b="1">
                <a:solidFill>
                  <a:srgbClr val="79D9CB"/>
                </a:solidFill>
              </a:defRPr>
            </a:lvl4pPr>
            <a:lvl5pPr>
              <a:defRPr sz="2100" b="1">
                <a:solidFill>
                  <a:srgbClr val="79D9CB"/>
                </a:solidFill>
              </a:defRPr>
            </a:lvl5pPr>
            <a:lvl6pPr>
              <a:defRPr sz="2100" b="1">
                <a:solidFill>
                  <a:srgbClr val="79D9CB"/>
                </a:solidFill>
              </a:defRPr>
            </a:lvl6pPr>
            <a:lvl7pPr>
              <a:defRPr sz="2100" b="1">
                <a:solidFill>
                  <a:srgbClr val="79D9CB"/>
                </a:solidFill>
              </a:defRPr>
            </a:lvl7pPr>
            <a:lvl8pPr>
              <a:defRPr sz="2100" b="1">
                <a:solidFill>
                  <a:srgbClr val="79D9CB"/>
                </a:solidFill>
              </a:defRPr>
            </a:lvl8pPr>
            <a:lvl9pPr>
              <a:defRPr sz="2100" b="1">
                <a:solidFill>
                  <a:srgbClr val="79D9CB"/>
                </a:solidFill>
              </a:defRPr>
            </a:lvl9pPr>
          </a:lstStyle>
          <a:p xmlns:a="http://schemas.openxmlformats.org/drawingml/2006/main">
            <a:pPr>
              <a:defRPr sz="2100" b="1">
                <a:solidFill>
                  <a:srgbClr val="79D9CB"/>
                </a:solidFill>
              </a:defRPr>
            </a:pPr>
            <a:r>
              <a:rPr sz="2100" b="1">
                <a:solidFill>
                  <a:srgbClr val="79D9CB"/>
                </a:solidFill>
              </a:rPr>
              <a:t>5  FAILED telafisini ve UNKNOWN → SUCCEEDED mutabakatını açıkla</a:t>
            </a:r>
          </a:p>
        </p:txBody>
      </p:sp>
    </p:spTree>
    <p:extLst>
      <p:ext uri="{BB962C8B-B14F-4D97-AF65-F5344CB8AC3E}">
        <p14:creationId xmlns:p14="http://schemas.microsoft.com/office/powerpoint/2010/main" val="2114011621"/>
      </p:ext>
    </p:extLst>
  </p:cSld>
</p:sld>
</file>

<file path=ppt/slides/slide2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98F66CE-3910-4774-A5F5-B0166DADFE4A}"/>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defRPr sz="3150" b="1">
                <a:solidFill>
                  <a:srgbClr val="F4F7FB"/>
                </a:solidFill>
              </a:defRPr>
            </a:lvl1pPr>
            <a:lvl2pPr>
              <a:defRPr sz="3150" b="1">
                <a:solidFill>
                  <a:srgbClr val="F4F7FB"/>
                </a:solidFill>
              </a:defRPr>
            </a:lvl2pPr>
            <a:lvl3pPr>
              <a:defRPr sz="3150" b="1">
                <a:solidFill>
                  <a:srgbClr val="F4F7FB"/>
                </a:solidFill>
              </a:defRPr>
            </a:lvl3pPr>
            <a:lvl4pPr>
              <a:defRPr sz="3150" b="1">
                <a:solidFill>
                  <a:srgbClr val="F4F7FB"/>
                </a:solidFill>
              </a:defRPr>
            </a:lvl4pPr>
            <a:lvl5pPr>
              <a:defRPr sz="3150" b="1">
                <a:solidFill>
                  <a:srgbClr val="F4F7FB"/>
                </a:solidFill>
              </a:defRPr>
            </a:lvl5pPr>
            <a:lvl6pPr>
              <a:defRPr sz="3150" b="1">
                <a:solidFill>
                  <a:srgbClr val="F4F7FB"/>
                </a:solidFill>
              </a:defRPr>
            </a:lvl6pPr>
            <a:lvl7pPr>
              <a:defRPr sz="3150" b="1">
                <a:solidFill>
                  <a:srgbClr val="F4F7FB"/>
                </a:solidFill>
              </a:defRPr>
            </a:lvl7pPr>
            <a:lvl8pPr>
              <a:defRPr sz="3150" b="1">
                <a:solidFill>
                  <a:srgbClr val="F4F7FB"/>
                </a:solidFill>
              </a:defRPr>
            </a:lvl8pPr>
            <a:lvl9pPr>
              <a:defRPr sz="3150" b="1">
                <a:solidFill>
                  <a:srgbClr val="F4F7FB"/>
                </a:solidFill>
              </a:defRPr>
            </a:lvl9pPr>
          </a:lstStyle>
          <a:p xmlns:a="http://schemas.openxmlformats.org/drawingml/2006/main">
            <a:pPr>
              <a:defRPr sz="3150" b="1">
                <a:solidFill>
                  <a:srgbClr val="F4F7FB"/>
                </a:solidFill>
              </a:defRPr>
            </a:pPr>
            <a:r>
              <a:rPr sz="3150" b="1">
                <a:solidFill>
                  <a:srgbClr val="F4F7FB"/>
                </a:solidFill>
              </a:rPr>
              <a:t>Kapanış</a:t>
            </a:r>
          </a:p>
        </p:txBody>
      </p:sp>
      <p:sp>
        <p:nvSpPr>
          <p:cNvPr id="3" name="">
            <a:extLst xmlns:a="http://schemas.openxmlformats.org/drawingml/2006/main">
              <a:ext uri="{FF2B5EF4-FFF2-40B4-BE49-F238E27FC236}">
                <a16:creationId xmlns:a16="http://schemas.microsoft.com/office/drawing/2014/main" id="{47A11393-22BE-4553-B922-4537792875AD}"/>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defRPr sz="1275" b="1">
                <a:solidFill>
                  <a:srgbClr val="79D9CB"/>
                </a:solidFill>
              </a:defRPr>
            </a:lvl1pPr>
            <a:lvl2pPr>
              <a:defRPr sz="1275" b="1">
                <a:solidFill>
                  <a:srgbClr val="79D9CB"/>
                </a:solidFill>
              </a:defRPr>
            </a:lvl2pPr>
            <a:lvl3pPr>
              <a:defRPr sz="1275" b="1">
                <a:solidFill>
                  <a:srgbClr val="79D9CB"/>
                </a:solidFill>
              </a:defRPr>
            </a:lvl3pPr>
            <a:lvl4pPr>
              <a:defRPr sz="1275" b="1">
                <a:solidFill>
                  <a:srgbClr val="79D9CB"/>
                </a:solidFill>
              </a:defRPr>
            </a:lvl4pPr>
            <a:lvl5pPr>
              <a:defRPr sz="1275" b="1">
                <a:solidFill>
                  <a:srgbClr val="79D9CB"/>
                </a:solidFill>
              </a:defRPr>
            </a:lvl5pPr>
            <a:lvl6pPr>
              <a:defRPr sz="1275" b="1">
                <a:solidFill>
                  <a:srgbClr val="79D9CB"/>
                </a:solidFill>
              </a:defRPr>
            </a:lvl6pPr>
            <a:lvl7pPr>
              <a:defRPr sz="1275" b="1">
                <a:solidFill>
                  <a:srgbClr val="79D9CB"/>
                </a:solidFill>
              </a:defRPr>
            </a:lvl7pPr>
            <a:lvl8pPr>
              <a:defRPr sz="1275" b="1">
                <a:solidFill>
                  <a:srgbClr val="79D9CB"/>
                </a:solidFill>
              </a:defRPr>
            </a:lvl8pPr>
            <a:lvl9pPr>
              <a:defRPr sz="1275" b="1">
                <a:solidFill>
                  <a:srgbClr val="79D9CB"/>
                </a:solidFill>
              </a:defRPr>
            </a:lvl9pPr>
          </a:lstStyle>
          <a:p xmlns:a="http://schemas.openxmlformats.org/drawingml/2006/main">
            <a:pPr>
              <a:defRPr sz="1275" b="1">
                <a:solidFill>
                  <a:srgbClr val="79D9CB"/>
                </a:solidFill>
              </a:defRPr>
            </a:pPr>
            <a:r>
              <a:rPr sz="1275" b="1">
                <a:solidFill>
                  <a:srgbClr val="79D9CB"/>
                </a:solidFill>
              </a:rPr>
              <a:t>21</a:t>
            </a:r>
          </a:p>
        </p:txBody>
      </p:sp>
      <p:sp>
        <p:nvSpPr>
          <p:cNvPr id="4" name="">
            <a:extLst xmlns:a="http://schemas.openxmlformats.org/drawingml/2006/main">
              <a:ext uri="{FF2B5EF4-FFF2-40B4-BE49-F238E27FC236}">
                <a16:creationId xmlns:a16="http://schemas.microsoft.com/office/drawing/2014/main" id="{21B22ACE-608B-4E28-AEF0-CAC9F201093E}"/>
              </a:ext>
            </a:extLst>
          </p:cNvPr>
          <p:cNvSpPr>
            <a:spLocks xmlns:a="http://schemas.openxmlformats.org/drawingml/2006/main" noGrp="1"/>
          </p:cNvSpPr>
          <p:nvPr/>
        </p:nvSpPr>
        <p:spPr>
          <a:xfrm xmlns:a="http://schemas.openxmlformats.org/drawingml/2006/main">
            <a:off x="857250" y="16764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79D9CB"/>
                </a:solidFill>
              </a:defRPr>
            </a:defPPr>
            <a:lvl1pPr>
              <a:defRPr sz="2550" b="1">
                <a:solidFill>
                  <a:srgbClr val="79D9CB"/>
                </a:solidFill>
              </a:defRPr>
            </a:lvl1pPr>
            <a:lvl2pPr>
              <a:defRPr sz="2550" b="1">
                <a:solidFill>
                  <a:srgbClr val="79D9CB"/>
                </a:solidFill>
              </a:defRPr>
            </a:lvl2pPr>
            <a:lvl3pPr>
              <a:defRPr sz="2550" b="1">
                <a:solidFill>
                  <a:srgbClr val="79D9CB"/>
                </a:solidFill>
              </a:defRPr>
            </a:lvl3pPr>
            <a:lvl4pPr>
              <a:defRPr sz="2550" b="1">
                <a:solidFill>
                  <a:srgbClr val="79D9CB"/>
                </a:solidFill>
              </a:defRPr>
            </a:lvl4pPr>
            <a:lvl5pPr>
              <a:defRPr sz="2550" b="1">
                <a:solidFill>
                  <a:srgbClr val="79D9CB"/>
                </a:solidFill>
              </a:defRPr>
            </a:lvl5pPr>
            <a:lvl6pPr>
              <a:defRPr sz="2550" b="1">
                <a:solidFill>
                  <a:srgbClr val="79D9CB"/>
                </a:solidFill>
              </a:defRPr>
            </a:lvl6pPr>
            <a:lvl7pPr>
              <a:defRPr sz="2550" b="1">
                <a:solidFill>
                  <a:srgbClr val="79D9CB"/>
                </a:solidFill>
              </a:defRPr>
            </a:lvl7pPr>
            <a:lvl8pPr>
              <a:defRPr sz="2550" b="1">
                <a:solidFill>
                  <a:srgbClr val="79D9CB"/>
                </a:solidFill>
              </a:defRPr>
            </a:lvl8pPr>
            <a:lvl9pPr>
              <a:defRPr sz="2550" b="1">
                <a:solidFill>
                  <a:srgbClr val="79D9CB"/>
                </a:solidFill>
              </a:defRPr>
            </a:lvl9pPr>
          </a:lstStyle>
          <a:p xmlns:a="http://schemas.openxmlformats.org/drawingml/2006/main">
            <a:pPr>
              <a:defRPr sz="2550" b="1">
                <a:solidFill>
                  <a:srgbClr val="79D9CB"/>
                </a:solidFill>
              </a:defRPr>
            </a:pPr>
            <a:r>
              <a:rPr sz="2550" b="1">
                <a:solidFill>
                  <a:srgbClr val="79D9CB"/>
                </a:solidFill>
              </a:rPr>
              <a:t>Aynı veritabanında ACID</a:t>
            </a:r>
          </a:p>
        </p:txBody>
      </p:sp>
      <p:sp>
        <p:nvSpPr>
          <p:cNvPr id="5" name="">
            <a:extLst xmlns:a="http://schemas.openxmlformats.org/drawingml/2006/main">
              <a:ext uri="{FF2B5EF4-FFF2-40B4-BE49-F238E27FC236}">
                <a16:creationId xmlns:a16="http://schemas.microsoft.com/office/drawing/2014/main" id="{14F95395-1AD0-4F11-B83A-0D49791F0B7A}"/>
              </a:ext>
            </a:extLst>
          </p:cNvPr>
          <p:cNvSpPr>
            <a:spLocks xmlns:a="http://schemas.openxmlformats.org/drawingml/2006/main" noGrp="1"/>
          </p:cNvSpPr>
          <p:nvPr/>
        </p:nvSpPr>
        <p:spPr>
          <a:xfrm xmlns:a="http://schemas.openxmlformats.org/drawingml/2006/main">
            <a:off x="857250" y="27622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79D9CB"/>
                </a:solidFill>
              </a:defRPr>
            </a:defPPr>
            <a:lvl1pPr>
              <a:defRPr sz="2550" b="1">
                <a:solidFill>
                  <a:srgbClr val="79D9CB"/>
                </a:solidFill>
              </a:defRPr>
            </a:lvl1pPr>
            <a:lvl2pPr>
              <a:defRPr sz="2550" b="1">
                <a:solidFill>
                  <a:srgbClr val="79D9CB"/>
                </a:solidFill>
              </a:defRPr>
            </a:lvl2pPr>
            <a:lvl3pPr>
              <a:defRPr sz="2550" b="1">
                <a:solidFill>
                  <a:srgbClr val="79D9CB"/>
                </a:solidFill>
              </a:defRPr>
            </a:lvl3pPr>
            <a:lvl4pPr>
              <a:defRPr sz="2550" b="1">
                <a:solidFill>
                  <a:srgbClr val="79D9CB"/>
                </a:solidFill>
              </a:defRPr>
            </a:lvl4pPr>
            <a:lvl5pPr>
              <a:defRPr sz="2550" b="1">
                <a:solidFill>
                  <a:srgbClr val="79D9CB"/>
                </a:solidFill>
              </a:defRPr>
            </a:lvl5pPr>
            <a:lvl6pPr>
              <a:defRPr sz="2550" b="1">
                <a:solidFill>
                  <a:srgbClr val="79D9CB"/>
                </a:solidFill>
              </a:defRPr>
            </a:lvl6pPr>
            <a:lvl7pPr>
              <a:defRPr sz="2550" b="1">
                <a:solidFill>
                  <a:srgbClr val="79D9CB"/>
                </a:solidFill>
              </a:defRPr>
            </a:lvl7pPr>
            <a:lvl8pPr>
              <a:defRPr sz="2550" b="1">
                <a:solidFill>
                  <a:srgbClr val="79D9CB"/>
                </a:solidFill>
              </a:defRPr>
            </a:lvl8pPr>
            <a:lvl9pPr>
              <a:defRPr sz="2550" b="1">
                <a:solidFill>
                  <a:srgbClr val="79D9CB"/>
                </a:solidFill>
              </a:defRPr>
            </a:lvl9pPr>
          </a:lstStyle>
          <a:p xmlns:a="http://schemas.openxmlformats.org/drawingml/2006/main">
            <a:pPr>
              <a:defRPr sz="2550" b="1">
                <a:solidFill>
                  <a:srgbClr val="79D9CB"/>
                </a:solidFill>
              </a:defRPr>
            </a:pPr>
            <a:r>
              <a:rPr sz="2550" b="1">
                <a:solidFill>
                  <a:srgbClr val="79D9CB"/>
                </a:solidFill>
              </a:rPr>
              <a:t>Ayrı veritabanında SAGA ve mutabakat</a:t>
            </a:r>
          </a:p>
        </p:txBody>
      </p:sp>
      <p:sp>
        <p:nvSpPr>
          <p:cNvPr id="6" name="">
            <a:extLst xmlns:a="http://schemas.openxmlformats.org/drawingml/2006/main">
              <a:ext uri="{FF2B5EF4-FFF2-40B4-BE49-F238E27FC236}">
                <a16:creationId xmlns:a16="http://schemas.microsoft.com/office/drawing/2014/main" id="{F2321D1B-88A6-4B4F-BD8F-86B29E2B2CC2}"/>
              </a:ext>
            </a:extLst>
          </p:cNvPr>
          <p:cNvSpPr>
            <a:spLocks xmlns:a="http://schemas.openxmlformats.org/drawingml/2006/main" noGrp="1"/>
          </p:cNvSpPr>
          <p:nvPr/>
        </p:nvSpPr>
        <p:spPr>
          <a:xfrm xmlns:a="http://schemas.openxmlformats.org/drawingml/2006/main">
            <a:off x="857250" y="38481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79D9CB"/>
                </a:solidFill>
              </a:defRPr>
            </a:defPPr>
            <a:lvl1pPr>
              <a:defRPr sz="2550" b="1">
                <a:solidFill>
                  <a:srgbClr val="79D9CB"/>
                </a:solidFill>
              </a:defRPr>
            </a:lvl1pPr>
            <a:lvl2pPr>
              <a:defRPr sz="2550" b="1">
                <a:solidFill>
                  <a:srgbClr val="79D9CB"/>
                </a:solidFill>
              </a:defRPr>
            </a:lvl2pPr>
            <a:lvl3pPr>
              <a:defRPr sz="2550" b="1">
                <a:solidFill>
                  <a:srgbClr val="79D9CB"/>
                </a:solidFill>
              </a:defRPr>
            </a:lvl3pPr>
            <a:lvl4pPr>
              <a:defRPr sz="2550" b="1">
                <a:solidFill>
                  <a:srgbClr val="79D9CB"/>
                </a:solidFill>
              </a:defRPr>
            </a:lvl4pPr>
            <a:lvl5pPr>
              <a:defRPr sz="2550" b="1">
                <a:solidFill>
                  <a:srgbClr val="79D9CB"/>
                </a:solidFill>
              </a:defRPr>
            </a:lvl5pPr>
            <a:lvl6pPr>
              <a:defRPr sz="2550" b="1">
                <a:solidFill>
                  <a:srgbClr val="79D9CB"/>
                </a:solidFill>
              </a:defRPr>
            </a:lvl6pPr>
            <a:lvl7pPr>
              <a:defRPr sz="2550" b="1">
                <a:solidFill>
                  <a:srgbClr val="79D9CB"/>
                </a:solidFill>
              </a:defRPr>
            </a:lvl7pPr>
            <a:lvl8pPr>
              <a:defRPr sz="2550" b="1">
                <a:solidFill>
                  <a:srgbClr val="79D9CB"/>
                </a:solidFill>
              </a:defRPr>
            </a:lvl8pPr>
            <a:lvl9pPr>
              <a:defRPr sz="2550" b="1">
                <a:solidFill>
                  <a:srgbClr val="79D9CB"/>
                </a:solidFill>
              </a:defRPr>
            </a:lvl9pPr>
          </a:lstStyle>
          <a:p xmlns:a="http://schemas.openxmlformats.org/drawingml/2006/main">
            <a:pPr>
              <a:defRPr sz="2550" b="1">
                <a:solidFill>
                  <a:srgbClr val="79D9CB"/>
                </a:solidFill>
              </a:defRPr>
            </a:pPr>
            <a:r>
              <a:rPr sz="2550" b="1">
                <a:solidFill>
                  <a:srgbClr val="79D9CB"/>
                </a:solidFill>
              </a:rPr>
              <a:t>Asenkron bildirimde Outbox ve Inbox</a:t>
            </a:r>
          </a:p>
        </p:txBody>
      </p:sp>
      <p:sp>
        <p:nvSpPr>
          <p:cNvPr id="7" name="">
            <a:extLst xmlns:a="http://schemas.openxmlformats.org/drawingml/2006/main">
              <a:ext uri="{FF2B5EF4-FFF2-40B4-BE49-F238E27FC236}">
                <a16:creationId xmlns:a16="http://schemas.microsoft.com/office/drawing/2014/main" id="{1CC5A96A-4DD4-48FA-99AD-A4108BC8D40C}"/>
              </a:ext>
            </a:extLst>
          </p:cNvPr>
          <p:cNvSpPr>
            <a:spLocks xmlns:a="http://schemas.openxmlformats.org/drawingml/2006/main" noGrp="1"/>
          </p:cNvSpPr>
          <p:nvPr/>
        </p:nvSpPr>
        <p:spPr>
          <a:xfrm xmlns:a="http://schemas.openxmlformats.org/drawingml/2006/main">
            <a:off x="857250" y="53340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F3BA6C"/>
                </a:solidFill>
              </a:defRPr>
            </a:defPPr>
            <a:lvl1pPr>
              <a:defRPr sz="2100" b="0">
                <a:solidFill>
                  <a:srgbClr val="F3BA6C"/>
                </a:solidFill>
              </a:defRPr>
            </a:lvl1pPr>
            <a:lvl2pPr>
              <a:defRPr sz="2100" b="0">
                <a:solidFill>
                  <a:srgbClr val="F3BA6C"/>
                </a:solidFill>
              </a:defRPr>
            </a:lvl2pPr>
            <a:lvl3pPr>
              <a:defRPr sz="2100" b="0">
                <a:solidFill>
                  <a:srgbClr val="F3BA6C"/>
                </a:solidFill>
              </a:defRPr>
            </a:lvl3pPr>
            <a:lvl4pPr>
              <a:defRPr sz="2100" b="0">
                <a:solidFill>
                  <a:srgbClr val="F3BA6C"/>
                </a:solidFill>
              </a:defRPr>
            </a:lvl4pPr>
            <a:lvl5pPr>
              <a:defRPr sz="2100" b="0">
                <a:solidFill>
                  <a:srgbClr val="F3BA6C"/>
                </a:solidFill>
              </a:defRPr>
            </a:lvl5pPr>
            <a:lvl6pPr>
              <a:defRPr sz="2100" b="0">
                <a:solidFill>
                  <a:srgbClr val="F3BA6C"/>
                </a:solidFill>
              </a:defRPr>
            </a:lvl6pPr>
            <a:lvl7pPr>
              <a:defRPr sz="2100" b="0">
                <a:solidFill>
                  <a:srgbClr val="F3BA6C"/>
                </a:solidFill>
              </a:defRPr>
            </a:lvl7pPr>
            <a:lvl8pPr>
              <a:defRPr sz="2100" b="0">
                <a:solidFill>
                  <a:srgbClr val="F3BA6C"/>
                </a:solidFill>
              </a:defRPr>
            </a:lvl8pPr>
            <a:lvl9pPr>
              <a:defRPr sz="2100" b="0">
                <a:solidFill>
                  <a:srgbClr val="F3BA6C"/>
                </a:solidFill>
              </a:defRPr>
            </a:lvl9pPr>
          </a:lstStyle>
          <a:p xmlns:a="http://schemas.openxmlformats.org/drawingml/2006/main">
            <a:pPr>
              <a:defRPr sz="2100" b="0">
                <a:solidFill>
                  <a:srgbClr val="F3BA6C"/>
                </a:solidFill>
              </a:defRPr>
            </a:pPr>
            <a:r>
              <a:rPr sz="2100" b="0">
                <a:solidFill>
                  <a:srgbClr val="F3BA6C"/>
                </a:solidFill>
              </a:rPr>
              <a:t>Kararları testlerle gösterdim; üretim sınırlarını açık bıraktım.</a:t>
            </a:r>
          </a:p>
        </p:txBody>
      </p:sp>
    </p:spTree>
    <p:extLst>
      <p:ext uri="{BB962C8B-B14F-4D97-AF65-F5344CB8AC3E}">
        <p14:creationId xmlns:p14="http://schemas.microsoft.com/office/powerpoint/2010/main" val="15908397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2026-10-25T15:20:46.9830000Z</dcterms:created>
  <dcterms:modified xsi:type="dcterms:W3CDTF">2026-10-25T15:20:46.9830000Z</dcterms:modified>
</coreProperties>
</file>